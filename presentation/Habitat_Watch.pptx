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story" id="{4f984303-d807-3077-b10a-8eb246b49f87}">
          <p14:sldIdLst>
            <p14:sldId id="256"/>
            <p14:sldId id="257"/>
            <p14:sldId id="258"/>
            <p14:sldId id="259"/>
            <p14:sldId id="260"/>
            <p14:sldId id="261"/>
            <p14:sldId id="262"/>
            <p14:sldId id="263"/>
          </p14:sldIdLst>
        </p14:section>
        <p14:section name="Appendix" id="{787a4565-7f4d-4ea1-d54b-c240f60d2e45}">
          <p14:sldIdLst>
            <p14:sldId id="264"/>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question, not the product. In spring, snow melts and vegetation greens from low to high elevation. Many mule deer in western Wyoming move between winter and summer ranges at the same time. A researcher who wants to compare that movement with greenness needs at least two kinds of evidence: GPS tracking records for individual animals, and satellite measurements of vegetation. These come from different providers, in different formats, at different scales and on different schedules. Habitat Watch is the workspace that connects those forms of evidence into one research workflow. The map shows Wyoming and the bounding box that our example query uses around Sublette County. Pinedale marks the county seat. It is a reference map only. It shows no animal locations.
Timing: about 45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 this one question needs several datasets, and each arrives with its own preparation problem. Tracking records identify animals by study-specific tags, so identifiers must be scoped to the study before they can be trusted. MODIS vegetation values describe 16-day composite windows at 250 metres, while movement is something we summarise per day. Rainfall from CHIRPS arrives as a daily grid at 0.05 degrees, a different spatial scale again. Field records add their own formats and quality conventions. The two solid lines are the sources in the mule-deer case. Rainfall and field records are dashed because they are broader platform context. They are not part of this case study. Before any comparison is meaningful, someone has to resolve all of these differences. Today that work is usually rebuilt for each new question. We make no claim here about hours or money saved.
Timing: about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Habitat Watch connects these steps into one workflow that starts from the research question: a species, a region and a period. Fetch finds and retrieves permitted records. It keeps the original files and the source metadata, so we can always go back to what the provider published. Normalize converts each supported source into consistent observation tables. It keeps time semantics, units, identifiers, quality fields and the reference to the source record. Recipe is a saved preparation plan. It selects suitable datasets and states every spatial match, temporal match, aggregation and measurement window. It is saved with the versions of its inputs. Analysis calculates historical summaries and returns findings, maps, timelines and evidence references. One important design rule: agents can propose sources and preparation plans, but validated application code performs the calculations. A language model never invents a number. If a technical analogy helps this audience: it is a little like Databricks for ecology, but the important part is the ecological workflow, not the analogy.
Timing: about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preparation logic for the mule-deer case. On the left: a published Movebank tracking package of GPS fixes. Fixes arrive at irregular times, and animal identifiers only make sense within their study. On the right: MODIS vegetation observations. NDVI, the normalised difference vegetation index, is a satellite indicator of vegetation greenness. MODIS reports it at 250 metres for 16-day composite windows. The prepared output has one row per tracked animal and UTC day. For each animal-day we keep the last good GPS fix as the representative location. Daily displacement is the distance between consecutive daily representative locations. It is not the complete path the animal travelled. Both sources are matched to a common 1 kilometre grid cell. A common grid does not increase the resolution of the original measurements. Each row then takes the latest MODIS composite in that cell that started within 32 days before the day. The match rule is explicit and saved in the recipe. Intervals and tracking gaps matter: a missing day breaks the displacement calculation, and a composite value describes a window, not a single day. This slide shows preparation logic. The column structure matches the example code; no rows are shown because a complete run is not yet verified.
Timing: about 1 minute 10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experience we are building toward, and I want to be precise about its status. It is a conceptual result layout. It shows no measured findings. The repository contains a real-source run script for this case. The recorded attempts stopped at the Recipe stage, so there are no verified results to show yet. A researcher inspects three connected regions. The map gives location context: where the tracked animals were, inside the study region, on each day. The study box and Pinedale are real geography; no tracks are drawn. The timeline places observations across March to June 2019. The tick marks are the real start dates of the 16-day MODIS composites in that period, which shows how coarse the vegetation record is next to daily movement. The evidence panel keeps the source versions and preparation references with every result: the Movebank package, the MODIS product version, the common grid and the saved recipe. When results exist, we will be careful with language. An observation is what the records show. An association is a pattern between two measured series. Neither establishes that greening caused movement. Any finding will state the number of tracked animals and the period it covers.
Timing: about 1 minute 15 seconds. This is the centrepiece; slow down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Reproducibility is the second value. In the first analysis, the recipe pins the exact source versions it uses, records every preparation step, and produces a prepared dataset stored as a Parquet artifact with a checksum. The result references all of them. Later, new observations arrive, for example another spring of tracking records or newer satellite composites. If the request is compatible, Habitat Watch reuses the saved recipe and any prepared artifacts that are still valid. When inputs change, the cache is invalidated and the affected steps run again. If the preparation itself must change, that creates a new recipe version. The first result and its inputs remain identifiable. We describe provenance at three levels: the dataset version, the recipe, and the artifact. We do not claim lineage back to every individual source record inside an aggregated value. Repeated seasonal analysis is a platform use case. We do not yet claim automatic scheduling or alerts.
Timing: about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mule-deer case is one example of a general pattern: a question that needs several kinds of evidence matched by place and time. The first scenario, wildlife movement and environmental conditions, is the current focus. The historical pipeline for it exists in code and integration tests. The second, habitat change across seasons or years, uses sources we already connect: MODIS and Sentinel-2 vegetation, water and moisture indicators, and CHIRPS rainfall. The connectors exist; we have not shown a complete habitat-change analysis. The third, restoration monitoring with field plots and management records, is the expansion path. Field collection, camera traps, sensors, population counts and water-quality sources are future source families. The intended users are conservation groups, researchers and land managers who want answers without assembling geospatial datasets themselves. Habitat Watch does not replace repositories like Movebank or providers like NASA and the Climate Hazards Center. It builds a connected workflow on top of the repositories and tools researchers already use. The glyphs are schematic illustrations, not data.
Timing: about 50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three values. Habitat Watch connects relevant evidence from different sources. It preserves reproducible preparation and analysis. And it supports comparisons across locations and time periods, so a study can grow into a continuous record instead of a one-off result. The next practical step is specific. We want to validate a complete historical workflow, starting with this mule-deer and vegetation question, together with researchers who know the system. That means a full run from fetch to analysis, checked results, and honest limitations. After that, the direction is to extend from public datasets to field observations and recurring monitoring. Leave this slide up for discussion. Useful questions to invite: which datasets would you want connected first, and what would you need to see before trusting a prepared dataset?
Timing: about 40 seconds, then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details come from SOURCES.md and the connector code in the habitat package.
Full links:
Movebank Data Repository: https://datarepository.movebank.org/
Movebank package handle: https://datarepository.movebank.org/handle/10255/move.3619
Movebank API documentation: https://github.com/movebank/movebank-api-doc/blob/master/movebank-api.md
MODIS MOD13Q1 v061 STAC collection: https://planetarycomputer.microsoft.com/api/stac/v1/collections/modis-13Q1-061
Sentinel-2 L2A STAC collection: https://planetarycomputer.microsoft.com/api/stac/v1/collections/sentinel-2-l2a
CHIRPS product documentation: https://chc.ucsb.edu/data/chirps
CHIRPS citation: Funk, C. et al. (2015). The climate hazards infrared precipitation with stations — a new environmental record for monitoring extremes. Scientific Data 2, 150066.
Cite the Movebank package with the DOI and citation that its repository page lists. The connector keeps that metadata in the raw manifest.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in the repository: README.md, RECIPE_INTEGRATION.md, ANALYSIS_INTEGRATION.md, src/recipe/README.md, web/src/App.tsx and examples/sublette_mule_deer_ndvi.py.
Storage: original files stay in a raw archive (local files in development, object storage later). PostgreSQL with PostGIS holds the catalog and canonical observations. Recipe writes feature datasets as checksummed Parquet artifacts.
Forecast limits: src/recipe/README.md states that strict forecast preparation returns insufficient_data until Stage 2 and Analysis agree on historical availability and per-row feature-time contracts. ANALYSIS_INTEGRATION.md confirms that forecast queries stop at Recipe. The CHIRPS available_at value is the file's Last-Modified time, so it cannot serve as a historical availability time.
Case-study status: data/runs/sublette-mule-deer-ndvi holds two failure records and no feature artifact. One failure is INVALID_RECIPE after bounded planner attempts; the other is DATABASE_EXECUTION_FAILED. No case-study metrics are reported anywhere in this deck.
Provenance is recorded at dataset, recipe and artifact level. Complete source-record lineage for every aggregated output is not claimed.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 references only. They do not support any claim about Habitat Watch.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rtlCol="0"/>
          <a:lstStyle>
            <a:lvl1pPr algn="l" indent="0" marL="0">
              <a:buNone/>
              <a:defRPr lang="en-US" sz="3600" b="1" dirty="0">
                <a:solidFill>
                  <a:srgbClr val="202723"/>
                </a:solidFill>
                <a:latin typeface="Arial" pitchFamily="34" charset="0"/>
                <a:ea typeface="Arial" pitchFamily="34" charset="-122"/>
                <a:cs typeface="Arial"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8736D"/>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pen">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ppendix">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2743200" cy="274320"/>
          </a:xfrm>
          <a:prstGeom prst="rect">
            <a:avLst/>
          </a:prstGeom>
          <a:noFill/>
          <a:ln/>
        </p:spPr>
        <p:txBody>
          <a:bodyPr wrap="square" lIns="0" tIns="0" rIns="0" bIns="0" rtlCol="0" anchor="ctr"/>
          <a:lstStyle/>
          <a:p>
            <a:pPr indent="0" marL="0">
              <a:buNone/>
            </a:pPr>
            <a:r>
              <a:rPr lang="en-US" sz="1200" b="1" spc="200" kern="0" dirty="0">
                <a:solidFill>
                  <a:srgbClr val="68736D"/>
                </a:solidFill>
                <a:latin typeface="Arial" pitchFamily="34" charset="0"/>
                <a:ea typeface="Arial" pitchFamily="34" charset="-122"/>
                <a:cs typeface="Arial" pitchFamily="34" charset="-120"/>
              </a:rPr>
              <a:t>APPENDIX</a:t>
            </a:r>
            <a:endParaRPr lang="en-US" sz="1200" dirty="0"/>
          </a:p>
        </p:txBody>
      </p:sp>
      <p:sp>
        <p:nvSpPr>
          <p:cNvPr id="3" name="Text 1"/>
          <p:cNvSpPr/>
          <p:nvPr>
            <p:ph idx="101" type="title" hasCustomPrompt="1"/>
          </p:nvPr>
        </p:nvSpPr>
        <p:spPr>
          <a:xfrm>
            <a:off x="548640" y="566928"/>
            <a:ext cx="11094415" cy="548640"/>
          </a:xfrm>
          <a:prstGeom prst="rect">
            <a:avLst/>
          </a:prstGeom>
          <a:noFill/>
          <a:ln/>
        </p:spPr>
        <p:txBody>
          <a:bodyPr wrap="square" rtlCol="0"/>
          <a:lstStyle>
            <a:lvl1pPr algn="l" indent="0" marL="0">
              <a:buNone/>
              <a:defRPr lang="en-US" sz="2800" b="1" dirty="0">
                <a:solidFill>
                  <a:srgbClr val="202723"/>
                </a:solidFill>
                <a:latin typeface="Arial" pitchFamily="34" charset="0"/>
                <a:ea typeface="Arial" pitchFamily="34" charset="-122"/>
                <a:cs typeface="Arial"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8736D"/>
                </a:solidFill>
                <a:latin typeface="Arial"/>
                <a:ea typeface="Arial"/>
                <a:cs typeface="Aria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8736D"/>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960120"/>
            <a:ext cx="5303520" cy="320040"/>
          </a:xfrm>
          <a:prstGeom prst="rect">
            <a:avLst/>
          </a:prstGeom>
          <a:noFill/>
          <a:ln/>
        </p:spPr>
        <p:txBody>
          <a:bodyPr wrap="square" lIns="0" tIns="0" rIns="0" bIns="0" rtlCol="0" anchor="t"/>
          <a:lstStyle/>
          <a:p>
            <a:pPr indent="0" marL="0">
              <a:buNone/>
            </a:pPr>
            <a:r>
              <a:rPr lang="en-US" sz="1600" b="1" spc="100" kern="0" dirty="0">
                <a:solidFill>
                  <a:srgbClr val="294D3C"/>
                </a:solidFill>
                <a:latin typeface="Arial" pitchFamily="34" charset="0"/>
                <a:ea typeface="Arial" pitchFamily="34" charset="-122"/>
                <a:cs typeface="Arial" pitchFamily="34" charset="-120"/>
              </a:rPr>
              <a:t>Sublette, Wyoming · Spring 2019</a:t>
            </a:r>
            <a:endParaRPr lang="en-US" sz="1600" dirty="0"/>
          </a:p>
        </p:txBody>
      </p:sp>
      <p:sp>
        <p:nvSpPr>
          <p:cNvPr id="3" name="Text 1"/>
          <p:cNvSpPr txBox="1"/>
          <p:nvPr/>
        </p:nvSpPr>
        <p:spPr>
          <a:xfrm>
            <a:off x="548640" y="1417320"/>
            <a:ext cx="5669280" cy="2743200"/>
          </a:xfrm>
          <a:prstGeom prst="rect">
            <a:avLst/>
          </a:prstGeom>
          <a:noFill/>
          <a:ln/>
        </p:spPr>
        <p:txBody>
          <a:bodyPr wrap="square" lIns="0" tIns="0" rIns="0" bIns="0" rtlCol="0" anchor="t"/>
          <a:lstStyle/>
          <a:p>
            <a:pPr indent="0" marL="0">
              <a:lnSpc>
                <a:spcPct val="95000"/>
              </a:lnSpc>
              <a:buNone/>
            </a:pPr>
            <a:r>
              <a:rPr lang="en-US" sz="4600" dirty="0">
                <a:solidFill>
                  <a:srgbClr val="202723"/>
                </a:solidFill>
                <a:latin typeface="Cambria" pitchFamily="34" charset="0"/>
                <a:ea typeface="Cambria" pitchFamily="34" charset="-122"/>
                <a:cs typeface="Cambria" pitchFamily="34" charset="-120"/>
              </a:rPr>
              <a:t>How does movement change as a landscape greens?</a:t>
            </a:r>
            <a:endParaRPr lang="en-US" sz="4600" dirty="0"/>
          </a:p>
        </p:txBody>
      </p:sp>
      <p:sp>
        <p:nvSpPr>
          <p:cNvPr id="4" name="Text 2"/>
          <p:cNvSpPr txBox="1"/>
          <p:nvPr/>
        </p:nvSpPr>
        <p:spPr>
          <a:xfrm>
            <a:off x="548640" y="4206240"/>
            <a:ext cx="5303520" cy="411480"/>
          </a:xfrm>
          <a:prstGeom prst="rect">
            <a:avLst/>
          </a:prstGeom>
          <a:noFill/>
          <a:ln/>
        </p:spPr>
        <p:txBody>
          <a:bodyPr wrap="square" lIns="0" tIns="0" rIns="0" bIns="0" rtlCol="0" anchor="t"/>
          <a:lstStyle/>
          <a:p>
            <a:pPr indent="0" marL="0">
              <a:buNone/>
            </a:pPr>
            <a:r>
              <a:rPr lang="en-US" sz="2600" b="1" dirty="0">
                <a:solidFill>
                  <a:srgbClr val="294D3C"/>
                </a:solidFill>
                <a:latin typeface="Arial" pitchFamily="34" charset="0"/>
                <a:ea typeface="Arial" pitchFamily="34" charset="-122"/>
                <a:cs typeface="Arial" pitchFamily="34" charset="-120"/>
              </a:rPr>
              <a:t>Habitat Watch</a:t>
            </a:r>
            <a:endParaRPr lang="en-US" sz="2600" dirty="0"/>
          </a:p>
        </p:txBody>
      </p:sp>
      <p:sp>
        <p:nvSpPr>
          <p:cNvPr id="5" name="Text 3"/>
          <p:cNvSpPr txBox="1"/>
          <p:nvPr/>
        </p:nvSpPr>
        <p:spPr>
          <a:xfrm>
            <a:off x="548640" y="4663440"/>
            <a:ext cx="5669280" cy="731520"/>
          </a:xfrm>
          <a:prstGeom prst="rect">
            <a:avLst/>
          </a:prstGeom>
          <a:noFill/>
          <a:ln/>
        </p:spPr>
        <p:txBody>
          <a:bodyPr wrap="square" lIns="0" tIns="0" rIns="0" bIns="0" rtlCol="0" anchor="t"/>
          <a:lstStyle/>
          <a:p>
            <a:pPr indent="0" marL="0">
              <a:buNone/>
            </a:pPr>
            <a:r>
              <a:rPr lang="en-US" sz="2000" dirty="0">
                <a:solidFill>
                  <a:srgbClr val="68736D"/>
                </a:solidFill>
                <a:latin typeface="Arial" pitchFamily="34" charset="0"/>
                <a:ea typeface="Arial" pitchFamily="34" charset="-122"/>
                <a:cs typeface="Arial" pitchFamily="34" charset="-120"/>
              </a:rPr>
              <a:t>A connected workflow for ecological research</a:t>
            </a:r>
            <a:endParaRPr lang="en-US" sz="2000" dirty="0"/>
          </a:p>
        </p:txBody>
      </p:sp>
      <p:sp>
        <p:nvSpPr>
          <p:cNvPr id="6" name="Shape 4"/>
          <p:cNvSpPr/>
          <p:nvPr/>
        </p:nvSpPr>
        <p:spPr>
          <a:xfrm>
            <a:off x="6720840" y="4009723"/>
            <a:ext cx="4892040" cy="0"/>
          </a:xfrm>
          <a:prstGeom prst="line">
            <a:avLst/>
          </a:prstGeom>
          <a:noFill/>
          <a:ln w="9525">
            <a:solidFill>
              <a:srgbClr val="E8ECE9"/>
            </a:solidFill>
            <a:prstDash val="solid"/>
          </a:ln>
        </p:spPr>
      </p:sp>
      <p:sp>
        <p:nvSpPr>
          <p:cNvPr id="7" name="Shape 5"/>
          <p:cNvSpPr/>
          <p:nvPr/>
        </p:nvSpPr>
        <p:spPr>
          <a:xfrm>
            <a:off x="6720840" y="3054149"/>
            <a:ext cx="4892040" cy="0"/>
          </a:xfrm>
          <a:prstGeom prst="line">
            <a:avLst/>
          </a:prstGeom>
          <a:noFill/>
          <a:ln w="9525">
            <a:solidFill>
              <a:srgbClr val="E8ECE9"/>
            </a:solidFill>
            <a:prstDash val="solid"/>
          </a:ln>
        </p:spPr>
      </p:sp>
      <p:sp>
        <p:nvSpPr>
          <p:cNvPr id="8" name="Shape 6"/>
          <p:cNvSpPr/>
          <p:nvPr/>
        </p:nvSpPr>
        <p:spPr>
          <a:xfrm>
            <a:off x="6720840" y="2098574"/>
            <a:ext cx="4892040" cy="0"/>
          </a:xfrm>
          <a:prstGeom prst="line">
            <a:avLst/>
          </a:prstGeom>
          <a:noFill/>
          <a:ln w="9525">
            <a:solidFill>
              <a:srgbClr val="E8ECE9"/>
            </a:solidFill>
            <a:prstDash val="solid"/>
          </a:ln>
        </p:spPr>
      </p:sp>
      <p:sp>
        <p:nvSpPr>
          <p:cNvPr id="9" name="Shape 7"/>
          <p:cNvSpPr/>
          <p:nvPr/>
        </p:nvSpPr>
        <p:spPr>
          <a:xfrm>
            <a:off x="7454646" y="1143000"/>
            <a:ext cx="0" cy="3822298"/>
          </a:xfrm>
          <a:prstGeom prst="line">
            <a:avLst/>
          </a:prstGeom>
          <a:noFill/>
          <a:ln w="9525">
            <a:solidFill>
              <a:srgbClr val="E8ECE9"/>
            </a:solidFill>
            <a:prstDash val="solid"/>
          </a:ln>
        </p:spPr>
      </p:sp>
      <p:sp>
        <p:nvSpPr>
          <p:cNvPr id="10" name="Shape 8"/>
          <p:cNvSpPr/>
          <p:nvPr/>
        </p:nvSpPr>
        <p:spPr>
          <a:xfrm>
            <a:off x="8153509" y="1143000"/>
            <a:ext cx="0" cy="3822298"/>
          </a:xfrm>
          <a:prstGeom prst="line">
            <a:avLst/>
          </a:prstGeom>
          <a:noFill/>
          <a:ln w="9525">
            <a:solidFill>
              <a:srgbClr val="E8ECE9"/>
            </a:solidFill>
            <a:prstDash val="solid"/>
          </a:ln>
        </p:spPr>
      </p:sp>
      <p:sp>
        <p:nvSpPr>
          <p:cNvPr id="11" name="Shape 9"/>
          <p:cNvSpPr/>
          <p:nvPr/>
        </p:nvSpPr>
        <p:spPr>
          <a:xfrm>
            <a:off x="8852372" y="1143000"/>
            <a:ext cx="0" cy="3822298"/>
          </a:xfrm>
          <a:prstGeom prst="line">
            <a:avLst/>
          </a:prstGeom>
          <a:noFill/>
          <a:ln w="9525">
            <a:solidFill>
              <a:srgbClr val="E8ECE9"/>
            </a:solidFill>
            <a:prstDash val="solid"/>
          </a:ln>
        </p:spPr>
      </p:sp>
      <p:sp>
        <p:nvSpPr>
          <p:cNvPr id="12" name="Shape 10"/>
          <p:cNvSpPr/>
          <p:nvPr/>
        </p:nvSpPr>
        <p:spPr>
          <a:xfrm>
            <a:off x="9551235" y="1143000"/>
            <a:ext cx="0" cy="3822298"/>
          </a:xfrm>
          <a:prstGeom prst="line">
            <a:avLst/>
          </a:prstGeom>
          <a:noFill/>
          <a:ln w="9525">
            <a:solidFill>
              <a:srgbClr val="E8ECE9"/>
            </a:solidFill>
            <a:prstDash val="solid"/>
          </a:ln>
        </p:spPr>
      </p:sp>
      <p:sp>
        <p:nvSpPr>
          <p:cNvPr id="13" name="Shape 11"/>
          <p:cNvSpPr/>
          <p:nvPr/>
        </p:nvSpPr>
        <p:spPr>
          <a:xfrm>
            <a:off x="10250097" y="1143000"/>
            <a:ext cx="0" cy="3822298"/>
          </a:xfrm>
          <a:prstGeom prst="line">
            <a:avLst/>
          </a:prstGeom>
          <a:noFill/>
          <a:ln w="9525">
            <a:solidFill>
              <a:srgbClr val="E8ECE9"/>
            </a:solidFill>
            <a:prstDash val="solid"/>
          </a:ln>
        </p:spPr>
      </p:sp>
      <p:sp>
        <p:nvSpPr>
          <p:cNvPr id="14" name="Shape 12"/>
          <p:cNvSpPr/>
          <p:nvPr/>
        </p:nvSpPr>
        <p:spPr>
          <a:xfrm>
            <a:off x="10948960" y="1143000"/>
            <a:ext cx="0" cy="3822298"/>
          </a:xfrm>
          <a:prstGeom prst="line">
            <a:avLst/>
          </a:prstGeom>
          <a:noFill/>
          <a:ln w="9525">
            <a:solidFill>
              <a:srgbClr val="E8ECE9"/>
            </a:solidFill>
            <a:prstDash val="solid"/>
          </a:ln>
        </p:spPr>
      </p:sp>
      <p:sp>
        <p:nvSpPr>
          <p:cNvPr id="15" name="Shape 13"/>
          <p:cNvSpPr/>
          <p:nvPr/>
        </p:nvSpPr>
        <p:spPr>
          <a:xfrm>
            <a:off x="6720840" y="1143000"/>
            <a:ext cx="4892040" cy="3822298"/>
          </a:xfrm>
          <a:prstGeom prst="rect">
            <a:avLst/>
          </a:prstGeom>
          <a:ln w="15875">
            <a:solidFill>
              <a:srgbClr val="202723"/>
            </a:solidFill>
            <a:prstDash val="solid"/>
          </a:ln>
        </p:spPr>
      </p:sp>
      <p:sp>
        <p:nvSpPr>
          <p:cNvPr id="16" name="Shape 14"/>
          <p:cNvSpPr/>
          <p:nvPr/>
        </p:nvSpPr>
        <p:spPr>
          <a:xfrm>
            <a:off x="6930499" y="2289689"/>
            <a:ext cx="1432669" cy="2150042"/>
          </a:xfrm>
          <a:prstGeom prst="rect">
            <a:avLst/>
          </a:prstGeom>
          <a:solidFill>
            <a:srgbClr val="294D3C">
              <a:alpha val="18000"/>
            </a:srgbClr>
          </a:solidFill>
          <a:ln w="22225">
            <a:solidFill>
              <a:srgbClr val="294D3C"/>
            </a:solidFill>
            <a:prstDash val="solid"/>
          </a:ln>
        </p:spPr>
      </p:sp>
      <p:sp>
        <p:nvSpPr>
          <p:cNvPr id="17" name="Shape 15"/>
          <p:cNvSpPr/>
          <p:nvPr/>
        </p:nvSpPr>
        <p:spPr>
          <a:xfrm>
            <a:off x="7493051" y="3118937"/>
            <a:ext cx="118872" cy="118872"/>
          </a:xfrm>
          <a:prstGeom prst="ellipse">
            <a:avLst/>
          </a:prstGeom>
          <a:solidFill>
            <a:srgbClr val="B68638"/>
          </a:solidFill>
          <a:ln w="19050">
            <a:solidFill>
              <a:srgbClr val="B68638"/>
            </a:solidFill>
            <a:prstDash val="solid"/>
          </a:ln>
        </p:spPr>
      </p:sp>
      <p:sp>
        <p:nvSpPr>
          <p:cNvPr id="18" name="Text 16"/>
          <p:cNvSpPr txBox="1"/>
          <p:nvPr/>
        </p:nvSpPr>
        <p:spPr>
          <a:xfrm>
            <a:off x="6153912" y="3918283"/>
            <a:ext cx="457200" cy="201168"/>
          </a:xfrm>
          <a:prstGeom prst="rect">
            <a:avLst/>
          </a:prstGeom>
          <a:noFill/>
          <a:ln/>
        </p:spPr>
        <p:txBody>
          <a:bodyPr wrap="square" lIns="0" tIns="0" rIns="0" bIns="0" rtlCol="0" anchor="t"/>
          <a:lstStyle/>
          <a:p>
            <a:pPr algn="r" indent="0" marL="0">
              <a:buNone/>
            </a:pPr>
            <a:r>
              <a:rPr lang="en-US" sz="1200" dirty="0">
                <a:solidFill>
                  <a:srgbClr val="68736D"/>
                </a:solidFill>
                <a:latin typeface="Arial" pitchFamily="34" charset="0"/>
                <a:ea typeface="Arial" pitchFamily="34" charset="-122"/>
                <a:cs typeface="Arial" pitchFamily="34" charset="-120"/>
              </a:rPr>
              <a:t>42°N</a:t>
            </a:r>
            <a:endParaRPr lang="en-US" sz="1200" dirty="0"/>
          </a:p>
        </p:txBody>
      </p:sp>
      <p:sp>
        <p:nvSpPr>
          <p:cNvPr id="19" name="Text 17"/>
          <p:cNvSpPr txBox="1"/>
          <p:nvPr/>
        </p:nvSpPr>
        <p:spPr>
          <a:xfrm>
            <a:off x="6153912" y="2962709"/>
            <a:ext cx="457200" cy="201168"/>
          </a:xfrm>
          <a:prstGeom prst="rect">
            <a:avLst/>
          </a:prstGeom>
          <a:noFill/>
          <a:ln/>
        </p:spPr>
        <p:txBody>
          <a:bodyPr wrap="square" lIns="0" tIns="0" rIns="0" bIns="0" rtlCol="0" anchor="t"/>
          <a:lstStyle/>
          <a:p>
            <a:pPr algn="r" indent="0" marL="0">
              <a:buNone/>
            </a:pPr>
            <a:r>
              <a:rPr lang="en-US" sz="1200" dirty="0">
                <a:solidFill>
                  <a:srgbClr val="68736D"/>
                </a:solidFill>
                <a:latin typeface="Arial" pitchFamily="34" charset="0"/>
                <a:ea typeface="Arial" pitchFamily="34" charset="-122"/>
                <a:cs typeface="Arial" pitchFamily="34" charset="-120"/>
              </a:rPr>
              <a:t>43°N</a:t>
            </a:r>
            <a:endParaRPr lang="en-US" sz="1200" dirty="0"/>
          </a:p>
        </p:txBody>
      </p:sp>
      <p:sp>
        <p:nvSpPr>
          <p:cNvPr id="20" name="Text 18"/>
          <p:cNvSpPr txBox="1"/>
          <p:nvPr/>
        </p:nvSpPr>
        <p:spPr>
          <a:xfrm>
            <a:off x="6153912" y="2007134"/>
            <a:ext cx="457200" cy="201168"/>
          </a:xfrm>
          <a:prstGeom prst="rect">
            <a:avLst/>
          </a:prstGeom>
          <a:noFill/>
          <a:ln/>
        </p:spPr>
        <p:txBody>
          <a:bodyPr wrap="square" lIns="0" tIns="0" rIns="0" bIns="0" rtlCol="0" anchor="t"/>
          <a:lstStyle/>
          <a:p>
            <a:pPr algn="r" indent="0" marL="0">
              <a:buNone/>
            </a:pPr>
            <a:r>
              <a:rPr lang="en-US" sz="1200" dirty="0">
                <a:solidFill>
                  <a:srgbClr val="68736D"/>
                </a:solidFill>
                <a:latin typeface="Arial" pitchFamily="34" charset="0"/>
                <a:ea typeface="Arial" pitchFamily="34" charset="-122"/>
                <a:cs typeface="Arial" pitchFamily="34" charset="-120"/>
              </a:rPr>
              <a:t>44°N</a:t>
            </a:r>
            <a:endParaRPr lang="en-US" sz="1200" dirty="0"/>
          </a:p>
        </p:txBody>
      </p:sp>
      <p:sp>
        <p:nvSpPr>
          <p:cNvPr id="21" name="Text 19"/>
          <p:cNvSpPr txBox="1"/>
          <p:nvPr/>
        </p:nvSpPr>
        <p:spPr>
          <a:xfrm>
            <a:off x="7088886" y="5056738"/>
            <a:ext cx="731520" cy="201168"/>
          </a:xfrm>
          <a:prstGeom prst="rect">
            <a:avLst/>
          </a:prstGeom>
          <a:noFill/>
          <a:ln/>
        </p:spPr>
        <p:txBody>
          <a:bodyPr wrap="square" lIns="0" tIns="0" rIns="0" bIns="0" rtlCol="0" anchor="t"/>
          <a:lstStyle/>
          <a:p>
            <a:pPr algn="ctr" indent="0" marL="0">
              <a:buNone/>
            </a:pPr>
            <a:r>
              <a:rPr lang="en-US" sz="1200" dirty="0">
                <a:solidFill>
                  <a:srgbClr val="68736D"/>
                </a:solidFill>
                <a:latin typeface="Arial" pitchFamily="34" charset="0"/>
                <a:ea typeface="Arial" pitchFamily="34" charset="-122"/>
                <a:cs typeface="Arial" pitchFamily="34" charset="-120"/>
              </a:rPr>
              <a:t>110°W</a:t>
            </a:r>
            <a:endParaRPr lang="en-US" sz="1200" dirty="0"/>
          </a:p>
        </p:txBody>
      </p:sp>
      <p:sp>
        <p:nvSpPr>
          <p:cNvPr id="22" name="Text 20"/>
          <p:cNvSpPr txBox="1"/>
          <p:nvPr/>
        </p:nvSpPr>
        <p:spPr>
          <a:xfrm>
            <a:off x="8486612" y="5056738"/>
            <a:ext cx="731520" cy="201168"/>
          </a:xfrm>
          <a:prstGeom prst="rect">
            <a:avLst/>
          </a:prstGeom>
          <a:noFill/>
          <a:ln/>
        </p:spPr>
        <p:txBody>
          <a:bodyPr wrap="square" lIns="0" tIns="0" rIns="0" bIns="0" rtlCol="0" anchor="t"/>
          <a:lstStyle/>
          <a:p>
            <a:pPr algn="ctr" indent="0" marL="0">
              <a:buNone/>
            </a:pPr>
            <a:r>
              <a:rPr lang="en-US" sz="1200" dirty="0">
                <a:solidFill>
                  <a:srgbClr val="68736D"/>
                </a:solidFill>
                <a:latin typeface="Arial" pitchFamily="34" charset="0"/>
                <a:ea typeface="Arial" pitchFamily="34" charset="-122"/>
                <a:cs typeface="Arial" pitchFamily="34" charset="-120"/>
              </a:rPr>
              <a:t>108°W</a:t>
            </a:r>
            <a:endParaRPr lang="en-US" sz="1200" dirty="0"/>
          </a:p>
        </p:txBody>
      </p:sp>
      <p:sp>
        <p:nvSpPr>
          <p:cNvPr id="23" name="Text 21"/>
          <p:cNvSpPr txBox="1"/>
          <p:nvPr/>
        </p:nvSpPr>
        <p:spPr>
          <a:xfrm>
            <a:off x="9884337" y="5056738"/>
            <a:ext cx="731520" cy="201168"/>
          </a:xfrm>
          <a:prstGeom prst="rect">
            <a:avLst/>
          </a:prstGeom>
          <a:noFill/>
          <a:ln/>
        </p:spPr>
        <p:txBody>
          <a:bodyPr wrap="square" lIns="0" tIns="0" rIns="0" bIns="0" rtlCol="0" anchor="t"/>
          <a:lstStyle/>
          <a:p>
            <a:pPr algn="ctr" indent="0" marL="0">
              <a:buNone/>
            </a:pPr>
            <a:r>
              <a:rPr lang="en-US" sz="1200" dirty="0">
                <a:solidFill>
                  <a:srgbClr val="68736D"/>
                </a:solidFill>
                <a:latin typeface="Arial" pitchFamily="34" charset="0"/>
                <a:ea typeface="Arial" pitchFamily="34" charset="-122"/>
                <a:cs typeface="Arial" pitchFamily="34" charset="-120"/>
              </a:rPr>
              <a:t>106°W</a:t>
            </a:r>
            <a:endParaRPr lang="en-US" sz="1200" dirty="0"/>
          </a:p>
        </p:txBody>
      </p:sp>
      <p:sp>
        <p:nvSpPr>
          <p:cNvPr id="24" name="Text 22"/>
          <p:cNvSpPr txBox="1"/>
          <p:nvPr/>
        </p:nvSpPr>
        <p:spPr>
          <a:xfrm>
            <a:off x="9341576" y="1573008"/>
            <a:ext cx="2011680" cy="274320"/>
          </a:xfrm>
          <a:prstGeom prst="rect">
            <a:avLst/>
          </a:prstGeom>
          <a:noFill/>
          <a:ln/>
        </p:spPr>
        <p:txBody>
          <a:bodyPr wrap="square" lIns="0" tIns="0" rIns="0" bIns="0" rtlCol="0" anchor="t"/>
          <a:lstStyle/>
          <a:p>
            <a:pPr indent="0" marL="0">
              <a:buNone/>
            </a:pPr>
            <a:r>
              <a:rPr lang="en-US" sz="1400" b="1" spc="400" kern="0" dirty="0">
                <a:solidFill>
                  <a:srgbClr val="68736D"/>
                </a:solidFill>
                <a:latin typeface="Arial" pitchFamily="34" charset="0"/>
                <a:ea typeface="Arial" pitchFamily="34" charset="-122"/>
                <a:cs typeface="Arial" pitchFamily="34" charset="-120"/>
              </a:rPr>
              <a:t>WYOMING</a:t>
            </a:r>
            <a:endParaRPr lang="en-US" sz="1400" dirty="0"/>
          </a:p>
        </p:txBody>
      </p:sp>
      <p:sp>
        <p:nvSpPr>
          <p:cNvPr id="25" name="Text 23"/>
          <p:cNvSpPr txBox="1"/>
          <p:nvPr/>
        </p:nvSpPr>
        <p:spPr>
          <a:xfrm>
            <a:off x="7003847" y="3269813"/>
            <a:ext cx="1097280" cy="256032"/>
          </a:xfrm>
          <a:prstGeom prst="rect">
            <a:avLst/>
          </a:prstGeom>
          <a:noFill/>
          <a:ln/>
        </p:spPr>
        <p:txBody>
          <a:bodyPr wrap="square" lIns="0" tIns="0" rIns="0" bIns="0" rtlCol="0" anchor="t"/>
          <a:lstStyle/>
          <a:p>
            <a:pPr algn="ctr" indent="0" marL="0">
              <a:buNone/>
            </a:pPr>
            <a:r>
              <a:rPr lang="en-US" sz="1400" dirty="0">
                <a:solidFill>
                  <a:srgbClr val="202723"/>
                </a:solidFill>
                <a:latin typeface="Arial" pitchFamily="34" charset="0"/>
                <a:ea typeface="Arial" pitchFamily="34" charset="-122"/>
                <a:cs typeface="Arial" pitchFamily="34" charset="-120"/>
              </a:rPr>
              <a:t>Pinedale</a:t>
            </a:r>
            <a:endParaRPr lang="en-US" sz="1400" dirty="0"/>
          </a:p>
        </p:txBody>
      </p:sp>
      <p:sp>
        <p:nvSpPr>
          <p:cNvPr id="26" name="Text 24"/>
          <p:cNvSpPr txBox="1"/>
          <p:nvPr/>
        </p:nvSpPr>
        <p:spPr>
          <a:xfrm>
            <a:off x="8472896" y="4147124"/>
            <a:ext cx="1463040" cy="256032"/>
          </a:xfrm>
          <a:prstGeom prst="rect">
            <a:avLst/>
          </a:prstGeom>
          <a:noFill/>
          <a:ln/>
        </p:spPr>
        <p:txBody>
          <a:bodyPr wrap="square" lIns="0" tIns="0" rIns="0" bIns="0" rtlCol="0" anchor="t"/>
          <a:lstStyle/>
          <a:p>
            <a:pPr indent="0" marL="0">
              <a:buNone/>
            </a:pPr>
            <a:r>
              <a:rPr lang="en-US" sz="1400" b="1" dirty="0">
                <a:solidFill>
                  <a:srgbClr val="294D3C"/>
                </a:solidFill>
                <a:latin typeface="Arial" pitchFamily="34" charset="0"/>
                <a:ea typeface="Arial" pitchFamily="34" charset="-122"/>
                <a:cs typeface="Arial" pitchFamily="34" charset="-120"/>
              </a:rPr>
              <a:t>Study region</a:t>
            </a:r>
            <a:endParaRPr lang="en-US" sz="1400" dirty="0"/>
          </a:p>
        </p:txBody>
      </p:sp>
      <p:sp>
        <p:nvSpPr>
          <p:cNvPr id="27" name="Text 25"/>
          <p:cNvSpPr txBox="1"/>
          <p:nvPr/>
        </p:nvSpPr>
        <p:spPr>
          <a:xfrm>
            <a:off x="6720840" y="5440680"/>
            <a:ext cx="4892040" cy="457200"/>
          </a:xfrm>
          <a:prstGeom prst="rect">
            <a:avLst/>
          </a:prstGeom>
          <a:noFill/>
          <a:ln/>
        </p:spPr>
        <p:txBody>
          <a:bodyPr wrap="square" lIns="0" tIns="0" rIns="0" bIns="0" rtlCol="0" anchor="t"/>
          <a:lstStyle/>
          <a:p>
            <a:pPr indent="0" marL="0">
              <a:buNone/>
            </a:pPr>
            <a:r>
              <a:rPr lang="en-US" sz="1200" dirty="0">
                <a:solidFill>
                  <a:srgbClr val="68736D"/>
                </a:solidFill>
                <a:latin typeface="Arial" pitchFamily="34" charset="0"/>
                <a:ea typeface="Arial" pitchFamily="34" charset="-122"/>
                <a:cs typeface="Arial" pitchFamily="34" charset="-120"/>
              </a:rPr>
              <a:t>Reference map, drawn to scale (WGS84). Wyoming boundary and the study bounding box of the example query. No animal locations shown.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t"/>
          <a:lstStyle/>
          <a:p>
            <a:pPr algn="l" indent="0" marL="0">
              <a:buNone/>
            </a:pPr>
            <a:r>
              <a:rPr lang="en-US" sz="3600" b="1" dirty="0">
                <a:solidFill>
                  <a:srgbClr val="202723"/>
                </a:solidFill>
                <a:latin typeface="Arial" pitchFamily="34" charset="0"/>
                <a:ea typeface="Arial" pitchFamily="34" charset="-122"/>
                <a:cs typeface="Arial" pitchFamily="34" charset="-120"/>
              </a:rPr>
              <a:t>One question spans several datasets</a:t>
            </a:r>
            <a:endParaRPr lang="en-US" sz="3600" dirty="0"/>
          </a:p>
        </p:txBody>
      </p:sp>
      <p:sp>
        <p:nvSpPr>
          <p:cNvPr id="3" name="Text 1"/>
          <p:cNvSpPr txBox="1"/>
          <p:nvPr/>
        </p:nvSpPr>
        <p:spPr>
          <a:xfrm>
            <a:off x="548640" y="1463040"/>
            <a:ext cx="2743200" cy="274320"/>
          </a:xfrm>
          <a:prstGeom prst="rect">
            <a:avLst/>
          </a:prstGeom>
          <a:noFill/>
          <a:ln/>
        </p:spPr>
        <p:txBody>
          <a:bodyPr wrap="square" lIns="0" tIns="0" rIns="0" bIns="0" rtlCol="0" anchor="t"/>
          <a:lstStyle/>
          <a:p>
            <a:pPr indent="0" marL="0">
              <a:buNone/>
            </a:pPr>
            <a:r>
              <a:rPr lang="en-US" sz="1400" b="1" spc="200" kern="0" dirty="0">
                <a:solidFill>
                  <a:srgbClr val="68736D"/>
                </a:solidFill>
                <a:latin typeface="Arial" pitchFamily="34" charset="0"/>
                <a:ea typeface="Arial" pitchFamily="34" charset="-122"/>
                <a:cs typeface="Arial" pitchFamily="34" charset="-120"/>
              </a:rPr>
              <a:t>EVIDENCE</a:t>
            </a:r>
            <a:endParaRPr lang="en-US" sz="1400" dirty="0"/>
          </a:p>
        </p:txBody>
      </p:sp>
      <p:sp>
        <p:nvSpPr>
          <p:cNvPr id="4" name="Text 2"/>
          <p:cNvSpPr txBox="1"/>
          <p:nvPr/>
        </p:nvSpPr>
        <p:spPr>
          <a:xfrm>
            <a:off x="4800600" y="1463040"/>
            <a:ext cx="3200400" cy="274320"/>
          </a:xfrm>
          <a:prstGeom prst="rect">
            <a:avLst/>
          </a:prstGeom>
          <a:noFill/>
          <a:ln/>
        </p:spPr>
        <p:txBody>
          <a:bodyPr wrap="square" lIns="0" tIns="0" rIns="0" bIns="0" rtlCol="0" anchor="t"/>
          <a:lstStyle/>
          <a:p>
            <a:pPr indent="0" marL="0">
              <a:buNone/>
            </a:pPr>
            <a:r>
              <a:rPr lang="en-US" sz="1400" b="1" spc="200" kern="0" dirty="0">
                <a:solidFill>
                  <a:srgbClr val="68736D"/>
                </a:solidFill>
                <a:latin typeface="Arial" pitchFamily="34" charset="0"/>
                <a:ea typeface="Arial" pitchFamily="34" charset="-122"/>
                <a:cs typeface="Arial" pitchFamily="34" charset="-120"/>
              </a:rPr>
              <a:t>PREPARATION ISSUE</a:t>
            </a:r>
            <a:endParaRPr lang="en-US" sz="1400" dirty="0"/>
          </a:p>
        </p:txBody>
      </p:sp>
      <p:sp>
        <p:nvSpPr>
          <p:cNvPr id="5" name="Text 3"/>
          <p:cNvSpPr txBox="1"/>
          <p:nvPr/>
        </p:nvSpPr>
        <p:spPr>
          <a:xfrm>
            <a:off x="548640" y="1965960"/>
            <a:ext cx="4023360" cy="384048"/>
          </a:xfrm>
          <a:prstGeom prst="rect">
            <a:avLst/>
          </a:prstGeom>
          <a:noFill/>
          <a:ln/>
        </p:spPr>
        <p:txBody>
          <a:bodyPr wrap="square" lIns="0" tIns="0" rIns="0" bIns="0" rtlCol="0" anchor="t"/>
          <a:lstStyle/>
          <a:p>
            <a:pPr indent="0" marL="0">
              <a:buNone/>
            </a:pPr>
            <a:r>
              <a:rPr lang="en-US" sz="2200" b="1" dirty="0">
                <a:solidFill>
                  <a:srgbClr val="202723"/>
                </a:solidFill>
                <a:latin typeface="Arial" pitchFamily="34" charset="0"/>
                <a:ea typeface="Arial" pitchFamily="34" charset="-122"/>
                <a:cs typeface="Arial" pitchFamily="34" charset="-120"/>
              </a:rPr>
              <a:t>GPS tracking records</a:t>
            </a:r>
            <a:endParaRPr lang="en-US" sz="2200" dirty="0"/>
          </a:p>
        </p:txBody>
      </p:sp>
      <p:sp>
        <p:nvSpPr>
          <p:cNvPr id="6" name="Text 4"/>
          <p:cNvSpPr txBox="1"/>
          <p:nvPr/>
        </p:nvSpPr>
        <p:spPr>
          <a:xfrm>
            <a:off x="548640" y="2377440"/>
            <a:ext cx="4023360" cy="292608"/>
          </a:xfrm>
          <a:prstGeom prst="rect">
            <a:avLst/>
          </a:prstGeom>
          <a:noFill/>
          <a:ln/>
        </p:spPr>
        <p:txBody>
          <a:bodyPr wrap="square" lIns="0" tIns="0" rIns="0" bIns="0" rtlCol="0" anchor="t"/>
          <a:lstStyle/>
          <a:p>
            <a:pPr indent="0" marL="0">
              <a:buNone/>
            </a:pPr>
            <a:r>
              <a:rPr lang="en-US" sz="1600" dirty="0">
                <a:solidFill>
                  <a:srgbClr val="68736D"/>
                </a:solidFill>
                <a:latin typeface="Arial" pitchFamily="34" charset="0"/>
                <a:ea typeface="Arial" pitchFamily="34" charset="-122"/>
                <a:cs typeface="Arial" pitchFamily="34" charset="-120"/>
              </a:rPr>
              <a:t>Movebank · CSV fixes per animal</a:t>
            </a:r>
            <a:endParaRPr lang="en-US" sz="1600" dirty="0"/>
          </a:p>
        </p:txBody>
      </p:sp>
      <p:sp>
        <p:nvSpPr>
          <p:cNvPr id="7" name="Text 5"/>
          <p:cNvSpPr txBox="1"/>
          <p:nvPr/>
        </p:nvSpPr>
        <p:spPr>
          <a:xfrm>
            <a:off x="4800600" y="2039112"/>
            <a:ext cx="3383280" cy="548640"/>
          </a:xfrm>
          <a:prstGeom prst="rect">
            <a:avLst/>
          </a:prstGeom>
          <a:noFill/>
          <a:ln/>
        </p:spPr>
        <p:txBody>
          <a:bodyPr wrap="square" lIns="0" tIns="0" rIns="0" bIns="0" rtlCol="0" anchor="t"/>
          <a:lstStyle/>
          <a:p>
            <a:pPr indent="0" marL="0">
              <a:buNone/>
            </a:pPr>
            <a:r>
              <a:rPr lang="en-US" sz="2000" dirty="0">
                <a:solidFill>
                  <a:srgbClr val="202723"/>
                </a:solidFill>
                <a:latin typeface="Arial" pitchFamily="34" charset="0"/>
                <a:ea typeface="Arial" pitchFamily="34" charset="-122"/>
                <a:cs typeface="Arial" pitchFamily="34" charset="-120"/>
              </a:rPr>
              <a:t>Different identifiers</a:t>
            </a:r>
            <a:endParaRPr lang="en-US" sz="2000" dirty="0"/>
          </a:p>
        </p:txBody>
      </p:sp>
      <p:sp>
        <p:nvSpPr>
          <p:cNvPr id="8" name="Shape 6"/>
          <p:cNvSpPr/>
          <p:nvPr/>
        </p:nvSpPr>
        <p:spPr>
          <a:xfrm>
            <a:off x="8275320" y="2240280"/>
            <a:ext cx="1005840" cy="1472184"/>
          </a:xfrm>
          <a:prstGeom prst="line">
            <a:avLst/>
          </a:prstGeom>
          <a:noFill/>
          <a:ln w="22225">
            <a:solidFill>
              <a:srgbClr val="294D3C"/>
            </a:solidFill>
            <a:prstDash val="solid"/>
          </a:ln>
        </p:spPr>
      </p:sp>
      <p:sp>
        <p:nvSpPr>
          <p:cNvPr id="9" name="Text 7"/>
          <p:cNvSpPr txBox="1"/>
          <p:nvPr/>
        </p:nvSpPr>
        <p:spPr>
          <a:xfrm>
            <a:off x="548640" y="2953512"/>
            <a:ext cx="4023360" cy="384048"/>
          </a:xfrm>
          <a:prstGeom prst="rect">
            <a:avLst/>
          </a:prstGeom>
          <a:noFill/>
          <a:ln/>
        </p:spPr>
        <p:txBody>
          <a:bodyPr wrap="square" lIns="0" tIns="0" rIns="0" bIns="0" rtlCol="0" anchor="t"/>
          <a:lstStyle/>
          <a:p>
            <a:pPr indent="0" marL="0">
              <a:buNone/>
            </a:pPr>
            <a:r>
              <a:rPr lang="en-US" sz="2200" b="1" dirty="0">
                <a:solidFill>
                  <a:srgbClr val="202723"/>
                </a:solidFill>
                <a:latin typeface="Arial" pitchFamily="34" charset="0"/>
                <a:ea typeface="Arial" pitchFamily="34" charset="-122"/>
                <a:cs typeface="Arial" pitchFamily="34" charset="-120"/>
              </a:rPr>
              <a:t>Satellite vegetation</a:t>
            </a:r>
            <a:endParaRPr lang="en-US" sz="2200" dirty="0"/>
          </a:p>
        </p:txBody>
      </p:sp>
      <p:sp>
        <p:nvSpPr>
          <p:cNvPr id="10" name="Text 8"/>
          <p:cNvSpPr txBox="1"/>
          <p:nvPr/>
        </p:nvSpPr>
        <p:spPr>
          <a:xfrm>
            <a:off x="548640" y="3364992"/>
            <a:ext cx="4023360" cy="292608"/>
          </a:xfrm>
          <a:prstGeom prst="rect">
            <a:avLst/>
          </a:prstGeom>
          <a:noFill/>
          <a:ln/>
        </p:spPr>
        <p:txBody>
          <a:bodyPr wrap="square" lIns="0" tIns="0" rIns="0" bIns="0" rtlCol="0" anchor="t"/>
          <a:lstStyle/>
          <a:p>
            <a:pPr indent="0" marL="0">
              <a:buNone/>
            </a:pPr>
            <a:r>
              <a:rPr lang="en-US" sz="1600" dirty="0">
                <a:solidFill>
                  <a:srgbClr val="68736D"/>
                </a:solidFill>
                <a:latin typeface="Arial" pitchFamily="34" charset="0"/>
                <a:ea typeface="Arial" pitchFamily="34" charset="-122"/>
                <a:cs typeface="Arial" pitchFamily="34" charset="-120"/>
              </a:rPr>
              <a:t>MODIS · 250 m, 16-day composites</a:t>
            </a:r>
            <a:endParaRPr lang="en-US" sz="1600" dirty="0"/>
          </a:p>
        </p:txBody>
      </p:sp>
      <p:sp>
        <p:nvSpPr>
          <p:cNvPr id="11" name="Text 9"/>
          <p:cNvSpPr txBox="1"/>
          <p:nvPr/>
        </p:nvSpPr>
        <p:spPr>
          <a:xfrm>
            <a:off x="4800600" y="3026664"/>
            <a:ext cx="3383280" cy="548640"/>
          </a:xfrm>
          <a:prstGeom prst="rect">
            <a:avLst/>
          </a:prstGeom>
          <a:noFill/>
          <a:ln/>
        </p:spPr>
        <p:txBody>
          <a:bodyPr wrap="square" lIns="0" tIns="0" rIns="0" bIns="0" rtlCol="0" anchor="t"/>
          <a:lstStyle/>
          <a:p>
            <a:pPr indent="0" marL="0">
              <a:buNone/>
            </a:pPr>
            <a:r>
              <a:rPr lang="en-US" sz="2000" dirty="0">
                <a:solidFill>
                  <a:srgbClr val="202723"/>
                </a:solidFill>
                <a:latin typeface="Arial" pitchFamily="34" charset="0"/>
                <a:ea typeface="Arial" pitchFamily="34" charset="-122"/>
                <a:cs typeface="Arial" pitchFamily="34" charset="-120"/>
              </a:rPr>
              <a:t>Different observation intervals</a:t>
            </a:r>
            <a:endParaRPr lang="en-US" sz="2000" dirty="0"/>
          </a:p>
        </p:txBody>
      </p:sp>
      <p:sp>
        <p:nvSpPr>
          <p:cNvPr id="12" name="Shape 10"/>
          <p:cNvSpPr/>
          <p:nvPr/>
        </p:nvSpPr>
        <p:spPr>
          <a:xfrm>
            <a:off x="8275320" y="3227832"/>
            <a:ext cx="1005840" cy="484632"/>
          </a:xfrm>
          <a:prstGeom prst="line">
            <a:avLst/>
          </a:prstGeom>
          <a:noFill/>
          <a:ln w="22225">
            <a:solidFill>
              <a:srgbClr val="294D3C"/>
            </a:solidFill>
            <a:prstDash val="solid"/>
          </a:ln>
        </p:spPr>
      </p:sp>
      <p:sp>
        <p:nvSpPr>
          <p:cNvPr id="13" name="Text 11"/>
          <p:cNvSpPr txBox="1"/>
          <p:nvPr/>
        </p:nvSpPr>
        <p:spPr>
          <a:xfrm>
            <a:off x="548640" y="3941064"/>
            <a:ext cx="4023360" cy="384048"/>
          </a:xfrm>
          <a:prstGeom prst="rect">
            <a:avLst/>
          </a:prstGeom>
          <a:noFill/>
          <a:ln/>
        </p:spPr>
        <p:txBody>
          <a:bodyPr wrap="square" lIns="0" tIns="0" rIns="0" bIns="0" rtlCol="0" anchor="t"/>
          <a:lstStyle/>
          <a:p>
            <a:pPr indent="0" marL="0">
              <a:buNone/>
            </a:pPr>
            <a:r>
              <a:rPr lang="en-US" sz="2200" b="1" dirty="0">
                <a:solidFill>
                  <a:srgbClr val="68736D"/>
                </a:solidFill>
                <a:latin typeface="Arial" pitchFamily="34" charset="0"/>
                <a:ea typeface="Arial" pitchFamily="34" charset="-122"/>
                <a:cs typeface="Arial" pitchFamily="34" charset="-120"/>
              </a:rPr>
              <a:t>Rainfall measurements</a:t>
            </a:r>
            <a:endParaRPr lang="en-US" sz="2200" dirty="0"/>
          </a:p>
        </p:txBody>
      </p:sp>
      <p:sp>
        <p:nvSpPr>
          <p:cNvPr id="14" name="Text 12"/>
          <p:cNvSpPr txBox="1"/>
          <p:nvPr/>
        </p:nvSpPr>
        <p:spPr>
          <a:xfrm>
            <a:off x="548640" y="4352544"/>
            <a:ext cx="4023360" cy="292608"/>
          </a:xfrm>
          <a:prstGeom prst="rect">
            <a:avLst/>
          </a:prstGeom>
          <a:noFill/>
          <a:ln/>
        </p:spPr>
        <p:txBody>
          <a:bodyPr wrap="square" lIns="0" tIns="0" rIns="0" bIns="0" rtlCol="0" anchor="t"/>
          <a:lstStyle/>
          <a:p>
            <a:pPr indent="0" marL="0">
              <a:buNone/>
            </a:pPr>
            <a:r>
              <a:rPr lang="en-US" sz="1600" dirty="0">
                <a:solidFill>
                  <a:srgbClr val="68736D"/>
                </a:solidFill>
                <a:latin typeface="Arial" pitchFamily="34" charset="0"/>
                <a:ea typeface="Arial" pitchFamily="34" charset="-122"/>
                <a:cs typeface="Arial" pitchFamily="34" charset="-120"/>
              </a:rPr>
              <a:t>CHIRPS · 0.05° daily grid</a:t>
            </a:r>
            <a:endParaRPr lang="en-US" sz="1600" dirty="0"/>
          </a:p>
        </p:txBody>
      </p:sp>
      <p:sp>
        <p:nvSpPr>
          <p:cNvPr id="15" name="Text 13"/>
          <p:cNvSpPr txBox="1"/>
          <p:nvPr/>
        </p:nvSpPr>
        <p:spPr>
          <a:xfrm>
            <a:off x="4800600" y="4014216"/>
            <a:ext cx="3383280" cy="548640"/>
          </a:xfrm>
          <a:prstGeom prst="rect">
            <a:avLst/>
          </a:prstGeom>
          <a:noFill/>
          <a:ln/>
        </p:spPr>
        <p:txBody>
          <a:bodyPr wrap="square" lIns="0" tIns="0" rIns="0" bIns="0" rtlCol="0" anchor="t"/>
          <a:lstStyle/>
          <a:p>
            <a:pPr indent="0" marL="0">
              <a:buNone/>
            </a:pPr>
            <a:r>
              <a:rPr lang="en-US" sz="2000" dirty="0">
                <a:solidFill>
                  <a:srgbClr val="68736D"/>
                </a:solidFill>
                <a:latin typeface="Arial" pitchFamily="34" charset="0"/>
                <a:ea typeface="Arial" pitchFamily="34" charset="-122"/>
                <a:cs typeface="Arial" pitchFamily="34" charset="-120"/>
              </a:rPr>
              <a:t>Different spatial resolutions</a:t>
            </a:r>
            <a:endParaRPr lang="en-US" sz="2000" dirty="0"/>
          </a:p>
        </p:txBody>
      </p:sp>
      <p:sp>
        <p:nvSpPr>
          <p:cNvPr id="16" name="Shape 14"/>
          <p:cNvSpPr/>
          <p:nvPr/>
        </p:nvSpPr>
        <p:spPr>
          <a:xfrm flipV="1">
            <a:off x="8275320" y="3712464"/>
            <a:ext cx="1005840" cy="502920"/>
          </a:xfrm>
          <a:prstGeom prst="line">
            <a:avLst/>
          </a:prstGeom>
          <a:noFill/>
          <a:ln w="15875">
            <a:solidFill>
              <a:srgbClr val="B9C1BC"/>
            </a:solidFill>
            <a:prstDash val="dash"/>
          </a:ln>
        </p:spPr>
      </p:sp>
      <p:sp>
        <p:nvSpPr>
          <p:cNvPr id="17" name="Text 15"/>
          <p:cNvSpPr txBox="1"/>
          <p:nvPr/>
        </p:nvSpPr>
        <p:spPr>
          <a:xfrm>
            <a:off x="548640" y="4928616"/>
            <a:ext cx="4023360" cy="384048"/>
          </a:xfrm>
          <a:prstGeom prst="rect">
            <a:avLst/>
          </a:prstGeom>
          <a:noFill/>
          <a:ln/>
        </p:spPr>
        <p:txBody>
          <a:bodyPr wrap="square" lIns="0" tIns="0" rIns="0" bIns="0" rtlCol="0" anchor="t"/>
          <a:lstStyle/>
          <a:p>
            <a:pPr indent="0" marL="0">
              <a:buNone/>
            </a:pPr>
            <a:r>
              <a:rPr lang="en-US" sz="2200" b="1" dirty="0">
                <a:solidFill>
                  <a:srgbClr val="68736D"/>
                </a:solidFill>
                <a:latin typeface="Arial" pitchFamily="34" charset="0"/>
                <a:ea typeface="Arial" pitchFamily="34" charset="-122"/>
                <a:cs typeface="Arial" pitchFamily="34" charset="-120"/>
              </a:rPr>
              <a:t>Field records</a:t>
            </a:r>
            <a:endParaRPr lang="en-US" sz="2200" dirty="0"/>
          </a:p>
        </p:txBody>
      </p:sp>
      <p:sp>
        <p:nvSpPr>
          <p:cNvPr id="18" name="Text 16"/>
          <p:cNvSpPr txBox="1"/>
          <p:nvPr/>
        </p:nvSpPr>
        <p:spPr>
          <a:xfrm>
            <a:off x="548640" y="5340096"/>
            <a:ext cx="4023360" cy="292608"/>
          </a:xfrm>
          <a:prstGeom prst="rect">
            <a:avLst/>
          </a:prstGeom>
          <a:noFill/>
          <a:ln/>
        </p:spPr>
        <p:txBody>
          <a:bodyPr wrap="square" lIns="0" tIns="0" rIns="0" bIns="0" rtlCol="0" anchor="t"/>
          <a:lstStyle/>
          <a:p>
            <a:pPr indent="0" marL="0">
              <a:buNone/>
            </a:pPr>
            <a:r>
              <a:rPr lang="en-US" sz="1600" dirty="0">
                <a:solidFill>
                  <a:srgbClr val="68736D"/>
                </a:solidFill>
                <a:latin typeface="Arial" pitchFamily="34" charset="0"/>
                <a:ea typeface="Arial" pitchFamily="34" charset="-122"/>
                <a:cs typeface="Arial" pitchFamily="34" charset="-120"/>
              </a:rPr>
              <a:t>Surveys and management notes</a:t>
            </a:r>
            <a:endParaRPr lang="en-US" sz="1600" dirty="0"/>
          </a:p>
        </p:txBody>
      </p:sp>
      <p:sp>
        <p:nvSpPr>
          <p:cNvPr id="19" name="Text 17"/>
          <p:cNvSpPr txBox="1"/>
          <p:nvPr/>
        </p:nvSpPr>
        <p:spPr>
          <a:xfrm>
            <a:off x="4800600" y="5001768"/>
            <a:ext cx="3383280" cy="548640"/>
          </a:xfrm>
          <a:prstGeom prst="rect">
            <a:avLst/>
          </a:prstGeom>
          <a:noFill/>
          <a:ln/>
        </p:spPr>
        <p:txBody>
          <a:bodyPr wrap="square" lIns="0" tIns="0" rIns="0" bIns="0" rtlCol="0" anchor="t"/>
          <a:lstStyle/>
          <a:p>
            <a:pPr indent="0" marL="0">
              <a:buNone/>
            </a:pPr>
            <a:r>
              <a:rPr lang="en-US" sz="2000" dirty="0">
                <a:solidFill>
                  <a:srgbClr val="68736D"/>
                </a:solidFill>
                <a:latin typeface="Arial" pitchFamily="34" charset="0"/>
                <a:ea typeface="Arial" pitchFamily="34" charset="-122"/>
                <a:cs typeface="Arial" pitchFamily="34" charset="-120"/>
              </a:rPr>
              <a:t>Different formats and quality fields</a:t>
            </a:r>
            <a:endParaRPr lang="en-US" sz="2000" dirty="0"/>
          </a:p>
        </p:txBody>
      </p:sp>
      <p:sp>
        <p:nvSpPr>
          <p:cNvPr id="20" name="Shape 18"/>
          <p:cNvSpPr/>
          <p:nvPr/>
        </p:nvSpPr>
        <p:spPr>
          <a:xfrm flipV="1">
            <a:off x="8275320" y="3712464"/>
            <a:ext cx="1005840" cy="1490472"/>
          </a:xfrm>
          <a:prstGeom prst="line">
            <a:avLst/>
          </a:prstGeom>
          <a:noFill/>
          <a:ln w="15875">
            <a:solidFill>
              <a:srgbClr val="B9C1BC"/>
            </a:solidFill>
            <a:prstDash val="dash"/>
          </a:ln>
        </p:spPr>
      </p:sp>
      <p:sp>
        <p:nvSpPr>
          <p:cNvPr id="21" name="Shape 19"/>
          <p:cNvSpPr/>
          <p:nvPr/>
        </p:nvSpPr>
        <p:spPr>
          <a:xfrm>
            <a:off x="9208008" y="3639312"/>
            <a:ext cx="146304" cy="146304"/>
          </a:xfrm>
          <a:prstGeom prst="ellipse">
            <a:avLst/>
          </a:prstGeom>
          <a:solidFill>
            <a:srgbClr val="294D3C"/>
          </a:solidFill>
          <a:ln w="19050">
            <a:solidFill>
              <a:srgbClr val="294D3C"/>
            </a:solidFill>
            <a:prstDash val="solid"/>
          </a:ln>
        </p:spPr>
      </p:sp>
      <p:sp>
        <p:nvSpPr>
          <p:cNvPr id="22" name="Text 20"/>
          <p:cNvSpPr txBox="1"/>
          <p:nvPr/>
        </p:nvSpPr>
        <p:spPr>
          <a:xfrm>
            <a:off x="9555480" y="3145536"/>
            <a:ext cx="2103120" cy="274320"/>
          </a:xfrm>
          <a:prstGeom prst="rect">
            <a:avLst/>
          </a:prstGeom>
          <a:noFill/>
          <a:ln/>
        </p:spPr>
        <p:txBody>
          <a:bodyPr wrap="square" lIns="0" tIns="0" rIns="0" bIns="0" rtlCol="0" anchor="t"/>
          <a:lstStyle/>
          <a:p>
            <a:pPr indent="0" marL="0">
              <a:buNone/>
            </a:pPr>
            <a:r>
              <a:rPr lang="en-US" sz="1400" b="1" spc="200" kern="0" dirty="0">
                <a:solidFill>
                  <a:srgbClr val="68736D"/>
                </a:solidFill>
                <a:latin typeface="Arial" pitchFamily="34" charset="0"/>
                <a:ea typeface="Arial" pitchFamily="34" charset="-122"/>
                <a:cs typeface="Arial" pitchFamily="34" charset="-120"/>
              </a:rPr>
              <a:t>QUESTION</a:t>
            </a:r>
            <a:endParaRPr lang="en-US" sz="1400" dirty="0"/>
          </a:p>
        </p:txBody>
      </p:sp>
      <p:sp>
        <p:nvSpPr>
          <p:cNvPr id="23" name="Text 21"/>
          <p:cNvSpPr txBox="1"/>
          <p:nvPr/>
        </p:nvSpPr>
        <p:spPr>
          <a:xfrm>
            <a:off x="9555480" y="3438144"/>
            <a:ext cx="2103120" cy="1188720"/>
          </a:xfrm>
          <a:prstGeom prst="rect">
            <a:avLst/>
          </a:prstGeom>
          <a:noFill/>
          <a:ln/>
        </p:spPr>
        <p:txBody>
          <a:bodyPr wrap="square" lIns="0" tIns="0" rIns="0" bIns="0" rtlCol="0" anchor="t"/>
          <a:lstStyle/>
          <a:p>
            <a:pPr indent="0" marL="0">
              <a:buNone/>
            </a:pPr>
            <a:r>
              <a:rPr lang="en-US" sz="2000" b="1" dirty="0">
                <a:solidFill>
                  <a:srgbClr val="294D3C"/>
                </a:solidFill>
                <a:latin typeface="Arial" pitchFamily="34" charset="0"/>
                <a:ea typeface="Arial" pitchFamily="34" charset="-122"/>
                <a:cs typeface="Arial" pitchFamily="34" charset="-120"/>
              </a:rPr>
              <a:t>Mule-deer movement and vegetation greenness</a:t>
            </a:r>
            <a:endParaRPr lang="en-US" sz="2000" dirty="0"/>
          </a:p>
        </p:txBody>
      </p:sp>
      <p:sp>
        <p:nvSpPr>
          <p:cNvPr id="24" name="Shape 22"/>
          <p:cNvSpPr/>
          <p:nvPr/>
        </p:nvSpPr>
        <p:spPr>
          <a:xfrm>
            <a:off x="548640" y="3831336"/>
            <a:ext cx="7726680" cy="0"/>
          </a:xfrm>
          <a:prstGeom prst="line">
            <a:avLst/>
          </a:prstGeom>
          <a:noFill/>
          <a:ln w="12700">
            <a:solidFill>
              <a:srgbClr val="E8ECE9"/>
            </a:solidFill>
            <a:prstDash val="solid"/>
          </a:ln>
        </p:spPr>
      </p:sp>
      <p:sp>
        <p:nvSpPr>
          <p:cNvPr id="25" name="Text 23"/>
          <p:cNvSpPr txBox="1"/>
          <p:nvPr/>
        </p:nvSpPr>
        <p:spPr>
          <a:xfrm>
            <a:off x="548640" y="6035040"/>
            <a:ext cx="8229600" cy="274320"/>
          </a:xfrm>
          <a:prstGeom prst="rect">
            <a:avLst/>
          </a:prstGeom>
          <a:noFill/>
          <a:ln/>
        </p:spPr>
        <p:txBody>
          <a:bodyPr wrap="square" lIns="0" tIns="0" rIns="0" bIns="0" rtlCol="0" anchor="t"/>
          <a:lstStyle/>
          <a:p>
            <a:pPr indent="0" marL="0">
              <a:buNone/>
            </a:pPr>
            <a:r>
              <a:rPr lang="en-US" sz="1300" dirty="0">
                <a:solidFill>
                  <a:srgbClr val="68736D"/>
                </a:solidFill>
                <a:latin typeface="Arial" pitchFamily="34" charset="0"/>
                <a:ea typeface="Arial" pitchFamily="34" charset="-122"/>
                <a:cs typeface="Arial" pitchFamily="34" charset="-120"/>
              </a:rPr>
              <a:t>Case study: solid lines. Platform context, not part of the case study: dashed lines.</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8736D"/>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t"/>
          <a:lstStyle/>
          <a:p>
            <a:pPr algn="l" indent="0" marL="0">
              <a:buNone/>
            </a:pPr>
            <a:r>
              <a:rPr lang="en-US" sz="3600" b="1" dirty="0">
                <a:solidFill>
                  <a:srgbClr val="202723"/>
                </a:solidFill>
                <a:latin typeface="Arial" pitchFamily="34" charset="0"/>
                <a:ea typeface="Arial" pitchFamily="34" charset="-122"/>
                <a:cs typeface="Arial" pitchFamily="34" charset="-120"/>
              </a:rPr>
              <a:t>Habitat Watch connects the research workflow</a:t>
            </a:r>
            <a:endParaRPr lang="en-US" sz="3600" dirty="0"/>
          </a:p>
        </p:txBody>
      </p:sp>
      <p:sp>
        <p:nvSpPr>
          <p:cNvPr id="3" name="Shape 1"/>
          <p:cNvSpPr/>
          <p:nvPr/>
        </p:nvSpPr>
        <p:spPr>
          <a:xfrm>
            <a:off x="630936" y="2103120"/>
            <a:ext cx="8875532" cy="0"/>
          </a:xfrm>
          <a:prstGeom prst="line">
            <a:avLst/>
          </a:prstGeom>
          <a:noFill/>
          <a:ln w="22225">
            <a:solidFill>
              <a:srgbClr val="294D3C"/>
            </a:solidFill>
            <a:prstDash val="solid"/>
          </a:ln>
        </p:spPr>
      </p:sp>
      <p:sp>
        <p:nvSpPr>
          <p:cNvPr id="4" name="Shape 2"/>
          <p:cNvSpPr/>
          <p:nvPr/>
        </p:nvSpPr>
        <p:spPr>
          <a:xfrm>
            <a:off x="539496" y="2011680"/>
            <a:ext cx="182880" cy="182880"/>
          </a:xfrm>
          <a:prstGeom prst="ellipse">
            <a:avLst/>
          </a:prstGeom>
          <a:solidFill>
            <a:srgbClr val="FFFFFF"/>
          </a:solidFill>
          <a:ln w="19050">
            <a:solidFill>
              <a:srgbClr val="294D3C"/>
            </a:solidFill>
            <a:prstDash val="solid"/>
          </a:ln>
        </p:spPr>
      </p:sp>
      <p:sp>
        <p:nvSpPr>
          <p:cNvPr id="5" name="Text 3"/>
          <p:cNvSpPr txBox="1"/>
          <p:nvPr/>
        </p:nvSpPr>
        <p:spPr>
          <a:xfrm>
            <a:off x="548640" y="2423160"/>
            <a:ext cx="1990283" cy="457200"/>
          </a:xfrm>
          <a:prstGeom prst="rect">
            <a:avLst/>
          </a:prstGeom>
          <a:noFill/>
          <a:ln/>
        </p:spPr>
        <p:txBody>
          <a:bodyPr wrap="square" lIns="0" tIns="0" rIns="0" bIns="0" rtlCol="0" anchor="t"/>
          <a:lstStyle/>
          <a:p>
            <a:pPr indent="0" marL="0">
              <a:buNone/>
            </a:pPr>
            <a:r>
              <a:rPr lang="en-US" sz="2600" b="1" dirty="0">
                <a:solidFill>
                  <a:srgbClr val="202723"/>
                </a:solidFill>
                <a:latin typeface="Arial" pitchFamily="34" charset="0"/>
                <a:ea typeface="Arial" pitchFamily="34" charset="-122"/>
                <a:cs typeface="Arial" pitchFamily="34" charset="-120"/>
              </a:rPr>
              <a:t>Question</a:t>
            </a:r>
            <a:endParaRPr lang="en-US" sz="2600" dirty="0"/>
          </a:p>
        </p:txBody>
      </p:sp>
      <p:sp>
        <p:nvSpPr>
          <p:cNvPr id="6" name="Text 4"/>
          <p:cNvSpPr txBox="1"/>
          <p:nvPr/>
        </p:nvSpPr>
        <p:spPr>
          <a:xfrm>
            <a:off x="548640" y="3017520"/>
            <a:ext cx="1898843" cy="1097280"/>
          </a:xfrm>
          <a:prstGeom prst="rect">
            <a:avLst/>
          </a:prstGeom>
          <a:noFill/>
          <a:ln/>
        </p:spPr>
        <p:txBody>
          <a:bodyPr wrap="square" lIns="0" tIns="0" rIns="0" bIns="0" rtlCol="0" anchor="t"/>
          <a:lstStyle/>
          <a:p>
            <a:pPr indent="0" marL="0">
              <a:buNone/>
            </a:pPr>
            <a:r>
              <a:rPr lang="en-US" sz="1800" dirty="0">
                <a:solidFill>
                  <a:srgbClr val="68736D"/>
                </a:solidFill>
                <a:latin typeface="Arial" pitchFamily="34" charset="0"/>
                <a:ea typeface="Arial" pitchFamily="34" charset="-122"/>
                <a:cs typeface="Arial" pitchFamily="34" charset="-120"/>
              </a:rPr>
              <a:t>Species, region and period</a:t>
            </a:r>
            <a:endParaRPr lang="en-US" sz="1800" dirty="0"/>
          </a:p>
        </p:txBody>
      </p:sp>
      <p:sp>
        <p:nvSpPr>
          <p:cNvPr id="7" name="Shape 5"/>
          <p:cNvSpPr/>
          <p:nvPr/>
        </p:nvSpPr>
        <p:spPr>
          <a:xfrm>
            <a:off x="2758379" y="2011680"/>
            <a:ext cx="182880" cy="182880"/>
          </a:xfrm>
          <a:prstGeom prst="ellipse">
            <a:avLst/>
          </a:prstGeom>
          <a:solidFill>
            <a:srgbClr val="294D3C"/>
          </a:solidFill>
          <a:ln w="19050">
            <a:solidFill>
              <a:srgbClr val="294D3C"/>
            </a:solidFill>
            <a:prstDash val="solid"/>
          </a:ln>
        </p:spPr>
      </p:sp>
      <p:sp>
        <p:nvSpPr>
          <p:cNvPr id="8" name="Text 6"/>
          <p:cNvSpPr txBox="1"/>
          <p:nvPr/>
        </p:nvSpPr>
        <p:spPr>
          <a:xfrm>
            <a:off x="2767523" y="2423160"/>
            <a:ext cx="1990283" cy="457200"/>
          </a:xfrm>
          <a:prstGeom prst="rect">
            <a:avLst/>
          </a:prstGeom>
          <a:noFill/>
          <a:ln/>
        </p:spPr>
        <p:txBody>
          <a:bodyPr wrap="square" lIns="0" tIns="0" rIns="0" bIns="0" rtlCol="0" anchor="t"/>
          <a:lstStyle/>
          <a:p>
            <a:pPr indent="0" marL="0">
              <a:buNone/>
            </a:pPr>
            <a:r>
              <a:rPr lang="en-US" sz="2600" b="1" dirty="0">
                <a:solidFill>
                  <a:srgbClr val="294D3C"/>
                </a:solidFill>
                <a:latin typeface="Arial" pitchFamily="34" charset="0"/>
                <a:ea typeface="Arial" pitchFamily="34" charset="-122"/>
                <a:cs typeface="Arial" pitchFamily="34" charset="-120"/>
              </a:rPr>
              <a:t>Fetch</a:t>
            </a:r>
            <a:endParaRPr lang="en-US" sz="2600" dirty="0"/>
          </a:p>
        </p:txBody>
      </p:sp>
      <p:sp>
        <p:nvSpPr>
          <p:cNvPr id="9" name="Text 7"/>
          <p:cNvSpPr txBox="1"/>
          <p:nvPr/>
        </p:nvSpPr>
        <p:spPr>
          <a:xfrm>
            <a:off x="2767523" y="3017520"/>
            <a:ext cx="1898843" cy="1097280"/>
          </a:xfrm>
          <a:prstGeom prst="rect">
            <a:avLst/>
          </a:prstGeom>
          <a:noFill/>
          <a:ln/>
        </p:spPr>
        <p:txBody>
          <a:bodyPr wrap="square" lIns="0" tIns="0" rIns="0" bIns="0" rtlCol="0" anchor="t"/>
          <a:lstStyle/>
          <a:p>
            <a:pPr indent="0" marL="0">
              <a:buNone/>
            </a:pPr>
            <a:r>
              <a:rPr lang="en-US" sz="1800" dirty="0">
                <a:solidFill>
                  <a:srgbClr val="68736D"/>
                </a:solidFill>
                <a:latin typeface="Arial" pitchFamily="34" charset="0"/>
                <a:ea typeface="Arial" pitchFamily="34" charset="-122"/>
                <a:cs typeface="Arial" pitchFamily="34" charset="-120"/>
              </a:rPr>
              <a:t>Raw files and source metadata</a:t>
            </a:r>
            <a:endParaRPr lang="en-US" sz="1800" dirty="0"/>
          </a:p>
        </p:txBody>
      </p:sp>
      <p:sp>
        <p:nvSpPr>
          <p:cNvPr id="10" name="Shape 8"/>
          <p:cNvSpPr/>
          <p:nvPr/>
        </p:nvSpPr>
        <p:spPr>
          <a:xfrm>
            <a:off x="4977262" y="2011680"/>
            <a:ext cx="182880" cy="182880"/>
          </a:xfrm>
          <a:prstGeom prst="ellipse">
            <a:avLst/>
          </a:prstGeom>
          <a:solidFill>
            <a:srgbClr val="294D3C"/>
          </a:solidFill>
          <a:ln w="19050">
            <a:solidFill>
              <a:srgbClr val="294D3C"/>
            </a:solidFill>
            <a:prstDash val="solid"/>
          </a:ln>
        </p:spPr>
      </p:sp>
      <p:sp>
        <p:nvSpPr>
          <p:cNvPr id="11" name="Text 9"/>
          <p:cNvSpPr txBox="1"/>
          <p:nvPr/>
        </p:nvSpPr>
        <p:spPr>
          <a:xfrm>
            <a:off x="4986406" y="2423160"/>
            <a:ext cx="1990283" cy="457200"/>
          </a:xfrm>
          <a:prstGeom prst="rect">
            <a:avLst/>
          </a:prstGeom>
          <a:noFill/>
          <a:ln/>
        </p:spPr>
        <p:txBody>
          <a:bodyPr wrap="square" lIns="0" tIns="0" rIns="0" bIns="0" rtlCol="0" anchor="t"/>
          <a:lstStyle/>
          <a:p>
            <a:pPr indent="0" marL="0">
              <a:buNone/>
            </a:pPr>
            <a:r>
              <a:rPr lang="en-US" sz="2600" b="1" dirty="0">
                <a:solidFill>
                  <a:srgbClr val="294D3C"/>
                </a:solidFill>
                <a:latin typeface="Arial" pitchFamily="34" charset="0"/>
                <a:ea typeface="Arial" pitchFamily="34" charset="-122"/>
                <a:cs typeface="Arial" pitchFamily="34" charset="-120"/>
              </a:rPr>
              <a:t>Normalize</a:t>
            </a:r>
            <a:endParaRPr lang="en-US" sz="2600" dirty="0"/>
          </a:p>
        </p:txBody>
      </p:sp>
      <p:sp>
        <p:nvSpPr>
          <p:cNvPr id="12" name="Text 10"/>
          <p:cNvSpPr txBox="1"/>
          <p:nvPr/>
        </p:nvSpPr>
        <p:spPr>
          <a:xfrm>
            <a:off x="4986406" y="3017520"/>
            <a:ext cx="1898843" cy="1097280"/>
          </a:xfrm>
          <a:prstGeom prst="rect">
            <a:avLst/>
          </a:prstGeom>
          <a:noFill/>
          <a:ln/>
        </p:spPr>
        <p:txBody>
          <a:bodyPr wrap="square" lIns="0" tIns="0" rIns="0" bIns="0" rtlCol="0" anchor="t"/>
          <a:lstStyle/>
          <a:p>
            <a:pPr indent="0" marL="0">
              <a:buNone/>
            </a:pPr>
            <a:r>
              <a:rPr lang="en-US" sz="1800" dirty="0">
                <a:solidFill>
                  <a:srgbClr val="68736D"/>
                </a:solidFill>
                <a:latin typeface="Arial" pitchFamily="34" charset="0"/>
                <a:ea typeface="Arial" pitchFamily="34" charset="-122"/>
                <a:cs typeface="Arial" pitchFamily="34" charset="-120"/>
              </a:rPr>
              <a:t>Consistent observations</a:t>
            </a:r>
            <a:endParaRPr lang="en-US" sz="1800" dirty="0"/>
          </a:p>
        </p:txBody>
      </p:sp>
      <p:sp>
        <p:nvSpPr>
          <p:cNvPr id="13" name="Shape 11"/>
          <p:cNvSpPr/>
          <p:nvPr/>
        </p:nvSpPr>
        <p:spPr>
          <a:xfrm>
            <a:off x="7196145" y="2011680"/>
            <a:ext cx="182880" cy="182880"/>
          </a:xfrm>
          <a:prstGeom prst="ellipse">
            <a:avLst/>
          </a:prstGeom>
          <a:solidFill>
            <a:srgbClr val="294D3C"/>
          </a:solidFill>
          <a:ln w="19050">
            <a:solidFill>
              <a:srgbClr val="294D3C"/>
            </a:solidFill>
            <a:prstDash val="solid"/>
          </a:ln>
        </p:spPr>
      </p:sp>
      <p:sp>
        <p:nvSpPr>
          <p:cNvPr id="14" name="Text 12"/>
          <p:cNvSpPr txBox="1"/>
          <p:nvPr/>
        </p:nvSpPr>
        <p:spPr>
          <a:xfrm>
            <a:off x="7205289" y="2423160"/>
            <a:ext cx="1990283" cy="457200"/>
          </a:xfrm>
          <a:prstGeom prst="rect">
            <a:avLst/>
          </a:prstGeom>
          <a:noFill/>
          <a:ln/>
        </p:spPr>
        <p:txBody>
          <a:bodyPr wrap="square" lIns="0" tIns="0" rIns="0" bIns="0" rtlCol="0" anchor="t"/>
          <a:lstStyle/>
          <a:p>
            <a:pPr indent="0" marL="0">
              <a:buNone/>
            </a:pPr>
            <a:r>
              <a:rPr lang="en-US" sz="2600" b="1" dirty="0">
                <a:solidFill>
                  <a:srgbClr val="294D3C"/>
                </a:solidFill>
                <a:latin typeface="Arial" pitchFamily="34" charset="0"/>
                <a:ea typeface="Arial" pitchFamily="34" charset="-122"/>
                <a:cs typeface="Arial" pitchFamily="34" charset="-120"/>
              </a:rPr>
              <a:t>Recipe</a:t>
            </a:r>
            <a:endParaRPr lang="en-US" sz="2600" dirty="0"/>
          </a:p>
        </p:txBody>
      </p:sp>
      <p:sp>
        <p:nvSpPr>
          <p:cNvPr id="15" name="Text 13"/>
          <p:cNvSpPr txBox="1"/>
          <p:nvPr/>
        </p:nvSpPr>
        <p:spPr>
          <a:xfrm>
            <a:off x="7205289" y="3017520"/>
            <a:ext cx="1898843" cy="1097280"/>
          </a:xfrm>
          <a:prstGeom prst="rect">
            <a:avLst/>
          </a:prstGeom>
          <a:noFill/>
          <a:ln/>
        </p:spPr>
        <p:txBody>
          <a:bodyPr wrap="square" lIns="0" tIns="0" rIns="0" bIns="0" rtlCol="0" anchor="t"/>
          <a:lstStyle/>
          <a:p>
            <a:pPr indent="0" marL="0">
              <a:buNone/>
            </a:pPr>
            <a:r>
              <a:rPr lang="en-US" sz="1800" dirty="0">
                <a:solidFill>
                  <a:srgbClr val="68736D"/>
                </a:solidFill>
                <a:latin typeface="Arial" pitchFamily="34" charset="0"/>
                <a:ea typeface="Arial" pitchFamily="34" charset="-122"/>
                <a:cs typeface="Arial" pitchFamily="34" charset="-120"/>
              </a:rPr>
              <a:t>Prepared dataset and saved recipe</a:t>
            </a:r>
            <a:endParaRPr lang="en-US" sz="1800" dirty="0"/>
          </a:p>
        </p:txBody>
      </p:sp>
      <p:sp>
        <p:nvSpPr>
          <p:cNvPr id="16" name="Shape 14"/>
          <p:cNvSpPr/>
          <p:nvPr/>
        </p:nvSpPr>
        <p:spPr>
          <a:xfrm>
            <a:off x="9415028" y="2011680"/>
            <a:ext cx="182880" cy="182880"/>
          </a:xfrm>
          <a:prstGeom prst="ellipse">
            <a:avLst/>
          </a:prstGeom>
          <a:solidFill>
            <a:srgbClr val="294D3C"/>
          </a:solidFill>
          <a:ln w="19050">
            <a:solidFill>
              <a:srgbClr val="294D3C"/>
            </a:solidFill>
            <a:prstDash val="solid"/>
          </a:ln>
        </p:spPr>
      </p:sp>
      <p:sp>
        <p:nvSpPr>
          <p:cNvPr id="17" name="Text 15"/>
          <p:cNvSpPr txBox="1"/>
          <p:nvPr/>
        </p:nvSpPr>
        <p:spPr>
          <a:xfrm>
            <a:off x="9424172" y="2423160"/>
            <a:ext cx="1990283" cy="457200"/>
          </a:xfrm>
          <a:prstGeom prst="rect">
            <a:avLst/>
          </a:prstGeom>
          <a:noFill/>
          <a:ln/>
        </p:spPr>
        <p:txBody>
          <a:bodyPr wrap="square" lIns="0" tIns="0" rIns="0" bIns="0" rtlCol="0" anchor="t"/>
          <a:lstStyle/>
          <a:p>
            <a:pPr indent="0" marL="0">
              <a:buNone/>
            </a:pPr>
            <a:r>
              <a:rPr lang="en-US" sz="2600" b="1" dirty="0">
                <a:solidFill>
                  <a:srgbClr val="294D3C"/>
                </a:solidFill>
                <a:latin typeface="Arial" pitchFamily="34" charset="0"/>
                <a:ea typeface="Arial" pitchFamily="34" charset="-122"/>
                <a:cs typeface="Arial" pitchFamily="34" charset="-120"/>
              </a:rPr>
              <a:t>Analysis</a:t>
            </a:r>
            <a:endParaRPr lang="en-US" sz="2600" dirty="0"/>
          </a:p>
        </p:txBody>
      </p:sp>
      <p:sp>
        <p:nvSpPr>
          <p:cNvPr id="18" name="Text 16"/>
          <p:cNvSpPr txBox="1"/>
          <p:nvPr/>
        </p:nvSpPr>
        <p:spPr>
          <a:xfrm>
            <a:off x="9424172" y="3017520"/>
            <a:ext cx="1898843" cy="1097280"/>
          </a:xfrm>
          <a:prstGeom prst="rect">
            <a:avLst/>
          </a:prstGeom>
          <a:noFill/>
          <a:ln/>
        </p:spPr>
        <p:txBody>
          <a:bodyPr wrap="square" lIns="0" tIns="0" rIns="0" bIns="0" rtlCol="0" anchor="t"/>
          <a:lstStyle/>
          <a:p>
            <a:pPr indent="0" marL="0">
              <a:buNone/>
            </a:pPr>
            <a:r>
              <a:rPr lang="en-US" sz="1800" dirty="0">
                <a:solidFill>
                  <a:srgbClr val="68736D"/>
                </a:solidFill>
                <a:latin typeface="Arial" pitchFamily="34" charset="0"/>
                <a:ea typeface="Arial" pitchFamily="34" charset="-122"/>
                <a:cs typeface="Arial" pitchFamily="34" charset="-120"/>
              </a:rPr>
              <a:t>Findings, map, timeline and evidence</a:t>
            </a:r>
            <a:endParaRPr lang="en-US" sz="1800" dirty="0"/>
          </a:p>
        </p:txBody>
      </p:sp>
      <p:sp>
        <p:nvSpPr>
          <p:cNvPr id="19" name="Text 17"/>
          <p:cNvSpPr txBox="1"/>
          <p:nvPr/>
        </p:nvSpPr>
        <p:spPr>
          <a:xfrm>
            <a:off x="548640" y="4617720"/>
            <a:ext cx="11094415" cy="502920"/>
          </a:xfrm>
          <a:prstGeom prst="rect">
            <a:avLst/>
          </a:prstGeom>
          <a:noFill/>
          <a:ln/>
        </p:spPr>
        <p:txBody>
          <a:bodyPr wrap="square" lIns="0" tIns="0" rIns="0" bIns="0" rtlCol="0" anchor="t"/>
          <a:lstStyle/>
          <a:p>
            <a:pPr indent="0" marL="0">
              <a:buNone/>
            </a:pPr>
            <a:r>
              <a:rPr lang="en-US" sz="2800" b="1" dirty="0">
                <a:solidFill>
                  <a:srgbClr val="202723"/>
                </a:solidFill>
                <a:latin typeface="Arial" pitchFamily="34" charset="0"/>
                <a:ea typeface="Arial" pitchFamily="34" charset="-122"/>
                <a:cs typeface="Arial" pitchFamily="34" charset="-120"/>
              </a:rPr>
              <a:t>Prepare comparable evidence in one workflow.</a:t>
            </a:r>
            <a:endParaRPr lang="en-US" sz="2800" dirty="0"/>
          </a:p>
        </p:txBody>
      </p:sp>
      <p:sp>
        <p:nvSpPr>
          <p:cNvPr id="20" name="Text 18"/>
          <p:cNvSpPr txBox="1"/>
          <p:nvPr/>
        </p:nvSpPr>
        <p:spPr>
          <a:xfrm>
            <a:off x="548640" y="5257800"/>
            <a:ext cx="8686800" cy="685800"/>
          </a:xfrm>
          <a:prstGeom prst="rect">
            <a:avLst/>
          </a:prstGeom>
          <a:noFill/>
          <a:ln/>
        </p:spPr>
        <p:txBody>
          <a:bodyPr wrap="square" lIns="0" tIns="0" rIns="0" bIns="0" rtlCol="0" anchor="t"/>
          <a:lstStyle/>
          <a:p>
            <a:pPr indent="0" marL="0">
              <a:buNone/>
            </a:pPr>
            <a:r>
              <a:rPr lang="en-US" sz="1800" dirty="0">
                <a:solidFill>
                  <a:srgbClr val="68736D"/>
                </a:solidFill>
                <a:latin typeface="Arial" pitchFamily="34" charset="0"/>
                <a:ea typeface="Arial" pitchFamily="34" charset="-122"/>
                <a:cs typeface="Arial" pitchFamily="34" charset="-120"/>
              </a:rPr>
              <a:t>Agents propose sources and preparation plans. Validated application code performs every calculation.</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8736D"/>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t"/>
          <a:lstStyle/>
          <a:p>
            <a:pPr algn="l" indent="0" marL="0">
              <a:buNone/>
            </a:pPr>
            <a:r>
              <a:rPr lang="en-US" sz="3600" b="1" dirty="0">
                <a:solidFill>
                  <a:srgbClr val="202723"/>
                </a:solidFill>
                <a:latin typeface="Arial" pitchFamily="34" charset="0"/>
                <a:ea typeface="Arial" pitchFamily="34" charset="-122"/>
                <a:cs typeface="Arial" pitchFamily="34" charset="-120"/>
              </a:rPr>
              <a:t>Match movement and vegetation by place and time</a:t>
            </a:r>
            <a:endParaRPr lang="en-US" sz="3600" dirty="0"/>
          </a:p>
        </p:txBody>
      </p:sp>
      <p:sp>
        <p:nvSpPr>
          <p:cNvPr id="3" name="Text 1"/>
          <p:cNvSpPr txBox="1"/>
          <p:nvPr/>
        </p:nvSpPr>
        <p:spPr>
          <a:xfrm>
            <a:off x="548640" y="1463040"/>
            <a:ext cx="1828800" cy="256032"/>
          </a:xfrm>
          <a:prstGeom prst="rect">
            <a:avLst/>
          </a:prstGeom>
          <a:noFill/>
          <a:ln/>
        </p:spPr>
        <p:txBody>
          <a:bodyPr wrap="square" lIns="0" tIns="0" rIns="0" bIns="0" rtlCol="0" anchor="t"/>
          <a:lstStyle/>
          <a:p>
            <a:pPr indent="0" marL="0">
              <a:buNone/>
            </a:pPr>
            <a:r>
              <a:rPr lang="en-US" sz="1300" b="1" spc="200" kern="0" dirty="0">
                <a:solidFill>
                  <a:srgbClr val="68736D"/>
                </a:solidFill>
                <a:latin typeface="Arial" pitchFamily="34" charset="0"/>
                <a:ea typeface="Arial" pitchFamily="34" charset="-122"/>
                <a:cs typeface="Arial" pitchFamily="34" charset="-120"/>
              </a:rPr>
              <a:t>INPUT</a:t>
            </a:r>
            <a:endParaRPr lang="en-US" sz="1300" dirty="0"/>
          </a:p>
        </p:txBody>
      </p:sp>
      <p:sp>
        <p:nvSpPr>
          <p:cNvPr id="4" name="Text 2"/>
          <p:cNvSpPr txBox="1"/>
          <p:nvPr/>
        </p:nvSpPr>
        <p:spPr>
          <a:xfrm>
            <a:off x="548640" y="1737360"/>
            <a:ext cx="5120640" cy="411480"/>
          </a:xfrm>
          <a:prstGeom prst="rect">
            <a:avLst/>
          </a:prstGeom>
          <a:noFill/>
          <a:ln/>
        </p:spPr>
        <p:txBody>
          <a:bodyPr wrap="square" lIns="0" tIns="0" rIns="0" bIns="0" rtlCol="0" anchor="t"/>
          <a:lstStyle/>
          <a:p>
            <a:pPr indent="0" marL="0">
              <a:buNone/>
            </a:pPr>
            <a:r>
              <a:rPr lang="en-US" sz="2400" b="1" dirty="0">
                <a:solidFill>
                  <a:srgbClr val="294D3C"/>
                </a:solidFill>
                <a:latin typeface="Arial" pitchFamily="34" charset="0"/>
                <a:ea typeface="Arial" pitchFamily="34" charset="-122"/>
                <a:cs typeface="Arial" pitchFamily="34" charset="-120"/>
              </a:rPr>
              <a:t>Movebank tracking records</a:t>
            </a:r>
            <a:endParaRPr lang="en-US" sz="2400" dirty="0"/>
          </a:p>
        </p:txBody>
      </p:sp>
      <p:sp>
        <p:nvSpPr>
          <p:cNvPr id="5" name="Text 3"/>
          <p:cNvSpPr txBox="1"/>
          <p:nvPr/>
        </p:nvSpPr>
        <p:spPr>
          <a:xfrm>
            <a:off x="548640" y="2194560"/>
            <a:ext cx="5120640" cy="594360"/>
          </a:xfrm>
          <a:prstGeom prst="rect">
            <a:avLst/>
          </a:prstGeom>
          <a:noFill/>
          <a:ln/>
        </p:spPr>
        <p:txBody>
          <a:bodyPr wrap="square" lIns="0" tIns="0" rIns="0" bIns="0" rtlCol="0" anchor="t"/>
          <a:lstStyle/>
          <a:p>
            <a:pPr indent="0" marL="0">
              <a:buNone/>
            </a:pPr>
            <a:r>
              <a:rPr lang="en-US" sz="1800" dirty="0">
                <a:solidFill>
                  <a:srgbClr val="68736D"/>
                </a:solidFill>
                <a:latin typeface="Arial" pitchFamily="34" charset="0"/>
                <a:ea typeface="Arial" pitchFamily="34" charset="-122"/>
                <a:cs typeface="Arial" pitchFamily="34" charset="-120"/>
              </a:rPr>
              <a:t>GPS fixes at irregular times, with study-scoped animal IDs</a:t>
            </a:r>
            <a:endParaRPr lang="en-US" sz="1800" dirty="0"/>
          </a:p>
        </p:txBody>
      </p:sp>
      <p:sp>
        <p:nvSpPr>
          <p:cNvPr id="6" name="Text 4"/>
          <p:cNvSpPr txBox="1"/>
          <p:nvPr/>
        </p:nvSpPr>
        <p:spPr>
          <a:xfrm>
            <a:off x="6522415" y="1463040"/>
            <a:ext cx="1828800" cy="256032"/>
          </a:xfrm>
          <a:prstGeom prst="rect">
            <a:avLst/>
          </a:prstGeom>
          <a:noFill/>
          <a:ln/>
        </p:spPr>
        <p:txBody>
          <a:bodyPr wrap="square" lIns="0" tIns="0" rIns="0" bIns="0" rtlCol="0" anchor="t"/>
          <a:lstStyle/>
          <a:p>
            <a:pPr indent="0" marL="0">
              <a:buNone/>
            </a:pPr>
            <a:r>
              <a:rPr lang="en-US" sz="1300" b="1" spc="200" kern="0" dirty="0">
                <a:solidFill>
                  <a:srgbClr val="68736D"/>
                </a:solidFill>
                <a:latin typeface="Arial" pitchFamily="34" charset="0"/>
                <a:ea typeface="Arial" pitchFamily="34" charset="-122"/>
                <a:cs typeface="Arial" pitchFamily="34" charset="-120"/>
              </a:rPr>
              <a:t>INPUT</a:t>
            </a:r>
            <a:endParaRPr lang="en-US" sz="1300" dirty="0"/>
          </a:p>
        </p:txBody>
      </p:sp>
      <p:sp>
        <p:nvSpPr>
          <p:cNvPr id="7" name="Text 5"/>
          <p:cNvSpPr txBox="1"/>
          <p:nvPr/>
        </p:nvSpPr>
        <p:spPr>
          <a:xfrm>
            <a:off x="6522415" y="1737360"/>
            <a:ext cx="5120640" cy="411480"/>
          </a:xfrm>
          <a:prstGeom prst="rect">
            <a:avLst/>
          </a:prstGeom>
          <a:noFill/>
          <a:ln/>
        </p:spPr>
        <p:txBody>
          <a:bodyPr wrap="square" lIns="0" tIns="0" rIns="0" bIns="0" rtlCol="0" anchor="t"/>
          <a:lstStyle/>
          <a:p>
            <a:pPr indent="0" marL="0">
              <a:buNone/>
            </a:pPr>
            <a:r>
              <a:rPr lang="en-US" sz="2400" b="1" dirty="0">
                <a:solidFill>
                  <a:srgbClr val="294D3C"/>
                </a:solidFill>
                <a:latin typeface="Arial" pitchFamily="34" charset="0"/>
                <a:ea typeface="Arial" pitchFamily="34" charset="-122"/>
                <a:cs typeface="Arial" pitchFamily="34" charset="-120"/>
              </a:rPr>
              <a:t>MODIS vegetation observations</a:t>
            </a:r>
            <a:endParaRPr lang="en-US" sz="2400" dirty="0"/>
          </a:p>
        </p:txBody>
      </p:sp>
      <p:sp>
        <p:nvSpPr>
          <p:cNvPr id="8" name="Text 6"/>
          <p:cNvSpPr txBox="1"/>
          <p:nvPr/>
        </p:nvSpPr>
        <p:spPr>
          <a:xfrm>
            <a:off x="6522415" y="2194560"/>
            <a:ext cx="5120640" cy="594360"/>
          </a:xfrm>
          <a:prstGeom prst="rect">
            <a:avLst/>
          </a:prstGeom>
          <a:noFill/>
          <a:ln/>
        </p:spPr>
        <p:txBody>
          <a:bodyPr wrap="square" lIns="0" tIns="0" rIns="0" bIns="0" rtlCol="0" anchor="t"/>
          <a:lstStyle/>
          <a:p>
            <a:pPr indent="0" marL="0">
              <a:buNone/>
            </a:pPr>
            <a:r>
              <a:rPr lang="en-US" sz="1800" dirty="0">
                <a:solidFill>
                  <a:srgbClr val="68736D"/>
                </a:solidFill>
                <a:latin typeface="Arial" pitchFamily="34" charset="0"/>
                <a:ea typeface="Arial" pitchFamily="34" charset="-122"/>
                <a:cs typeface="Arial" pitchFamily="34" charset="-120"/>
              </a:rPr>
              <a:t>NDVI, a satellite index of vegetation greenness. 250 m pixels, 16-day composites.</a:t>
            </a:r>
            <a:endParaRPr lang="en-US" sz="1800" dirty="0"/>
          </a:p>
        </p:txBody>
      </p:sp>
      <p:sp>
        <p:nvSpPr>
          <p:cNvPr id="9" name="Shape 7"/>
          <p:cNvSpPr/>
          <p:nvPr/>
        </p:nvSpPr>
        <p:spPr>
          <a:xfrm>
            <a:off x="640080" y="2880360"/>
            <a:ext cx="0" cy="1097280"/>
          </a:xfrm>
          <a:prstGeom prst="line">
            <a:avLst/>
          </a:prstGeom>
          <a:noFill/>
          <a:ln w="19050">
            <a:solidFill>
              <a:srgbClr val="294D3C"/>
            </a:solidFill>
            <a:prstDash val="solid"/>
            <a:tailEnd type="triangle"/>
          </a:ln>
        </p:spPr>
      </p:sp>
      <p:sp>
        <p:nvSpPr>
          <p:cNvPr id="10" name="Shape 8"/>
          <p:cNvSpPr/>
          <p:nvPr/>
        </p:nvSpPr>
        <p:spPr>
          <a:xfrm>
            <a:off x="10332720" y="2880360"/>
            <a:ext cx="0" cy="1097280"/>
          </a:xfrm>
          <a:prstGeom prst="line">
            <a:avLst/>
          </a:prstGeom>
          <a:noFill/>
          <a:ln w="19050">
            <a:solidFill>
              <a:srgbClr val="294D3C"/>
            </a:solidFill>
            <a:prstDash val="solid"/>
            <a:tailEnd type="triangle"/>
          </a:ln>
        </p:spPr>
      </p:sp>
      <p:sp>
        <p:nvSpPr>
          <p:cNvPr id="11" name="Text 9"/>
          <p:cNvSpPr txBox="1"/>
          <p:nvPr/>
        </p:nvSpPr>
        <p:spPr>
          <a:xfrm>
            <a:off x="868680" y="3474720"/>
            <a:ext cx="8778240" cy="365760"/>
          </a:xfrm>
          <a:prstGeom prst="rect">
            <a:avLst/>
          </a:prstGeom>
          <a:noFill/>
          <a:ln/>
        </p:spPr>
        <p:txBody>
          <a:bodyPr wrap="square" lIns="0" tIns="0" rIns="0" bIns="0" rtlCol="0" anchor="t"/>
          <a:lstStyle/>
          <a:p>
            <a:pPr indent="0" marL="0">
              <a:buNone/>
            </a:pPr>
            <a:r>
              <a:rPr lang="en-US" sz="2000" b="1" dirty="0">
                <a:solidFill>
                  <a:srgbClr val="202723"/>
                </a:solidFill>
                <a:latin typeface="Arial" pitchFamily="34" charset="0"/>
                <a:ea typeface="Arial" pitchFamily="34" charset="-122"/>
                <a:cs typeface="Arial" pitchFamily="34" charset="-120"/>
              </a:rPr>
              <a:t>Prepared output: one row per tracked animal and day</a:t>
            </a:r>
            <a:endParaRPr lang="en-US" sz="2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4114800"/>
          <a:ext cx="11094415" cy="914400"/>
        </p:xfrm>
        <a:graphic>
          <a:graphicData uri="http://schemas.openxmlformats.org/drawingml/2006/table">
            <a:tbl>
              <a:tblPr/>
              <a:tblGrid>
                <a:gridCol w="1828800"/>
                <a:gridCol w="1463040"/>
                <a:gridCol w="2377440"/>
                <a:gridCol w="2834640"/>
                <a:gridCol w="2560320"/>
              </a:tblGrid>
              <a:tr h="457200">
                <a:tc>
                  <a:txBody>
                    <a:bodyPr/>
                    <a:lstStyle/>
                    <a:p>
                      <a:pPr indent="0" marL="0">
                        <a:buNone/>
                      </a:pPr>
                      <a:r>
                        <a:rPr lang="en-US" sz="1800" b="1" dirty="0">
                          <a:solidFill>
                            <a:srgbClr val="FFFFFF"/>
                          </a:solidFill>
                          <a:latin typeface="Arial" pitchFamily="34" charset="0"/>
                          <a:ea typeface="Arial" pitchFamily="34" charset="-122"/>
                          <a:cs typeface="Arial" pitchFamily="34" charset="-120"/>
                        </a:rPr>
                        <a:t>Animal ID</a:t>
                      </a:r>
                      <a:endParaRPr lang="en-US" sz="1800" dirty="0">
                        <a:latin typeface="Arial" charset="0"/>
                        <a:ea typeface="Arial" charset="0"/>
                        <a:cs typeface="Arial" charset="0"/>
                      </a:endParaRPr>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94D3C"/>
                    </a:solidFill>
                  </a:tcPr>
                </a:tc>
                <a:tc>
                  <a:txBody>
                    <a:bodyPr/>
                    <a:lstStyle/>
                    <a:p>
                      <a:pPr indent="0" marL="0">
                        <a:buNone/>
                      </a:pPr>
                      <a:r>
                        <a:rPr lang="en-US" sz="1800" b="1" dirty="0">
                          <a:solidFill>
                            <a:srgbClr val="FFFFFF"/>
                          </a:solidFill>
                          <a:latin typeface="Arial" pitchFamily="34" charset="0"/>
                          <a:ea typeface="Arial" pitchFamily="34" charset="-122"/>
                          <a:cs typeface="Arial" pitchFamily="34" charset="-120"/>
                        </a:rPr>
                        <a:t>Day</a:t>
                      </a:r>
                      <a:endParaRPr lang="en-US" sz="1800" dirty="0">
                        <a:latin typeface="Arial" charset="0"/>
                        <a:ea typeface="Arial" charset="0"/>
                        <a:cs typeface="Arial" charset="0"/>
                      </a:endParaRPr>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94D3C"/>
                    </a:solidFill>
                  </a:tcPr>
                </a:tc>
                <a:tc>
                  <a:txBody>
                    <a:bodyPr/>
                    <a:lstStyle/>
                    <a:p>
                      <a:pPr indent="0" marL="0">
                        <a:buNone/>
                      </a:pPr>
                      <a:r>
                        <a:rPr lang="en-US" sz="1800" b="1" dirty="0">
                          <a:solidFill>
                            <a:srgbClr val="FFFFFF"/>
                          </a:solidFill>
                          <a:latin typeface="Arial" pitchFamily="34" charset="0"/>
                          <a:ea typeface="Arial" pitchFamily="34" charset="-122"/>
                          <a:cs typeface="Arial" pitchFamily="34" charset="-120"/>
                        </a:rPr>
                        <a:t>Location</a:t>
                      </a:r>
                      <a:endParaRPr lang="en-US" sz="1800" dirty="0">
                        <a:latin typeface="Arial" charset="0"/>
                        <a:ea typeface="Arial" charset="0"/>
                        <a:cs typeface="Arial" charset="0"/>
                      </a:endParaRPr>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94D3C"/>
                    </a:solidFill>
                  </a:tcPr>
                </a:tc>
                <a:tc>
                  <a:txBody>
                    <a:bodyPr/>
                    <a:lstStyle/>
                    <a:p>
                      <a:pPr indent="0" marL="0">
                        <a:buNone/>
                      </a:pPr>
                      <a:r>
                        <a:rPr lang="en-US" sz="1800" b="1" dirty="0">
                          <a:solidFill>
                            <a:srgbClr val="FFFFFF"/>
                          </a:solidFill>
                          <a:latin typeface="Arial" pitchFamily="34" charset="0"/>
                          <a:ea typeface="Arial" pitchFamily="34" charset="-122"/>
                          <a:cs typeface="Arial" pitchFamily="34" charset="-120"/>
                        </a:rPr>
                        <a:t>Daily displacement</a:t>
                      </a:r>
                      <a:endParaRPr lang="en-US" sz="1800" dirty="0">
                        <a:latin typeface="Arial" charset="0"/>
                        <a:ea typeface="Arial" charset="0"/>
                        <a:cs typeface="Arial" charset="0"/>
                      </a:endParaRPr>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94D3C"/>
                    </a:solidFill>
                  </a:tcPr>
                </a:tc>
                <a:tc>
                  <a:txBody>
                    <a:bodyPr/>
                    <a:lstStyle/>
                    <a:p>
                      <a:pPr indent="0" marL="0">
                        <a:buNone/>
                      </a:pPr>
                      <a:r>
                        <a:rPr lang="en-US" sz="1800" b="1" dirty="0">
                          <a:solidFill>
                            <a:srgbClr val="FFFFFF"/>
                          </a:solidFill>
                          <a:latin typeface="Arial" pitchFamily="34" charset="0"/>
                          <a:ea typeface="Arial" pitchFamily="34" charset="-122"/>
                          <a:cs typeface="Arial" pitchFamily="34" charset="-120"/>
                        </a:rPr>
                        <a:t>Matched NDVI</a:t>
                      </a:r>
                      <a:endParaRPr lang="en-US" sz="1800" dirty="0">
                        <a:latin typeface="Arial" charset="0"/>
                        <a:ea typeface="Arial" charset="0"/>
                        <a:cs typeface="Arial" charset="0"/>
                      </a:endParaRPr>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94D3C"/>
                    </a:solidFill>
                  </a:tcPr>
                </a:tc>
              </a:tr>
              <a:tr h="411480">
                <a:tc>
                  <a:txBody>
                    <a:bodyPr/>
                    <a:lstStyle/>
                    <a:p>
                      <a:pPr indent="0" marL="0">
                        <a:buNone/>
                      </a:pPr>
                      <a:r>
                        <a:rPr lang="en-US" sz="1500" i="1" dirty="0">
                          <a:solidFill>
                            <a:srgbClr val="68736D"/>
                          </a:solidFill>
                          <a:latin typeface="Arial" pitchFamily="34" charset="0"/>
                          <a:ea typeface="Arial" pitchFamily="34" charset="-122"/>
                          <a:cs typeface="Arial" pitchFamily="34" charset="-120"/>
                        </a:rPr>
                        <a:t>study-scoped</a:t>
                      </a:r>
                      <a:endParaRPr lang="en-US" sz="1500" dirty="0">
                        <a:latin typeface="Arial" charset="0"/>
                        <a:ea typeface="Arial" charset="0"/>
                        <a:cs typeface="Arial" charset="0"/>
                      </a:endParaRPr>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CE9"/>
                    </a:solidFill>
                  </a:tcPr>
                </a:tc>
                <a:tc>
                  <a:txBody>
                    <a:bodyPr/>
                    <a:lstStyle/>
                    <a:p>
                      <a:pPr indent="0" marL="0">
                        <a:buNone/>
                      </a:pPr>
                      <a:r>
                        <a:rPr lang="en-US" sz="1500" i="1" dirty="0">
                          <a:solidFill>
                            <a:srgbClr val="68736D"/>
                          </a:solidFill>
                          <a:latin typeface="Arial" pitchFamily="34" charset="0"/>
                          <a:ea typeface="Arial" pitchFamily="34" charset="-122"/>
                          <a:cs typeface="Arial" pitchFamily="34" charset="-120"/>
                        </a:rPr>
                        <a:t>UTC</a:t>
                      </a:r>
                      <a:endParaRPr lang="en-US" sz="1500" dirty="0">
                        <a:latin typeface="Arial" charset="0"/>
                        <a:ea typeface="Arial" charset="0"/>
                        <a:cs typeface="Arial" charset="0"/>
                      </a:endParaRPr>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CE9"/>
                    </a:solidFill>
                  </a:tcPr>
                </a:tc>
                <a:tc>
                  <a:txBody>
                    <a:bodyPr/>
                    <a:lstStyle/>
                    <a:p>
                      <a:pPr indent="0" marL="0">
                        <a:buNone/>
                      </a:pPr>
                      <a:r>
                        <a:rPr lang="en-US" sz="1500" i="1" dirty="0">
                          <a:solidFill>
                            <a:srgbClr val="68736D"/>
                          </a:solidFill>
                          <a:latin typeface="Arial" pitchFamily="34" charset="0"/>
                          <a:ea typeface="Arial" pitchFamily="34" charset="-122"/>
                          <a:cs typeface="Arial" pitchFamily="34" charset="-120"/>
                        </a:rPr>
                        <a:t>1 km grid cell</a:t>
                      </a:r>
                      <a:endParaRPr lang="en-US" sz="1500" dirty="0">
                        <a:latin typeface="Arial" charset="0"/>
                        <a:ea typeface="Arial" charset="0"/>
                        <a:cs typeface="Arial" charset="0"/>
                      </a:endParaRPr>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CE9"/>
                    </a:solidFill>
                  </a:tcPr>
                </a:tc>
                <a:tc>
                  <a:txBody>
                    <a:bodyPr/>
                    <a:lstStyle/>
                    <a:p>
                      <a:pPr indent="0" marL="0">
                        <a:buNone/>
                      </a:pPr>
                      <a:r>
                        <a:rPr lang="en-US" sz="1500" i="1" dirty="0">
                          <a:solidFill>
                            <a:srgbClr val="68736D"/>
                          </a:solidFill>
                          <a:latin typeface="Arial" pitchFamily="34" charset="0"/>
                          <a:ea typeface="Arial" pitchFamily="34" charset="-122"/>
                          <a:cs typeface="Arial" pitchFamily="34" charset="-120"/>
                        </a:rPr>
                        <a:t>km from previous day</a:t>
                      </a:r>
                      <a:endParaRPr lang="en-US" sz="1500" dirty="0">
                        <a:latin typeface="Arial" charset="0"/>
                        <a:ea typeface="Arial" charset="0"/>
                        <a:cs typeface="Arial" charset="0"/>
                      </a:endParaRPr>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CE9"/>
                    </a:solidFill>
                  </a:tcPr>
                </a:tc>
                <a:tc>
                  <a:txBody>
                    <a:bodyPr/>
                    <a:lstStyle/>
                    <a:p>
                      <a:pPr indent="0" marL="0">
                        <a:buNone/>
                      </a:pPr>
                      <a:r>
                        <a:rPr lang="en-US" sz="1500" i="1" dirty="0">
                          <a:solidFill>
                            <a:srgbClr val="68736D"/>
                          </a:solidFill>
                          <a:latin typeface="Arial" pitchFamily="34" charset="0"/>
                          <a:ea typeface="Arial" pitchFamily="34" charset="-122"/>
                          <a:cs typeface="Arial" pitchFamily="34" charset="-120"/>
                        </a:rPr>
                        <a:t>composite value</a:t>
                      </a:r>
                      <a:endParaRPr lang="en-US" sz="1500" dirty="0">
                        <a:latin typeface="Arial" charset="0"/>
                        <a:ea typeface="Arial" charset="0"/>
                        <a:cs typeface="Arial" charset="0"/>
                      </a:endParaRPr>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CE9"/>
                    </a:solidFill>
                  </a:tcPr>
                </a:tc>
              </a:tr>
            </a:tbl>
          </a:graphicData>
        </a:graphic>
      </p:graphicFrame>
      <p:sp>
        <p:nvSpPr>
          <p:cNvPr id="13" name="Shape 10"/>
          <p:cNvSpPr/>
          <p:nvPr/>
        </p:nvSpPr>
        <p:spPr>
          <a:xfrm>
            <a:off x="3950208" y="5074920"/>
            <a:ext cx="0" cy="274320"/>
          </a:xfrm>
          <a:prstGeom prst="line">
            <a:avLst/>
          </a:prstGeom>
          <a:noFill/>
          <a:ln w="19050">
            <a:solidFill>
              <a:srgbClr val="B68638"/>
            </a:solidFill>
            <a:prstDash val="solid"/>
          </a:ln>
        </p:spPr>
      </p:sp>
      <p:sp>
        <p:nvSpPr>
          <p:cNvPr id="14" name="Text 11"/>
          <p:cNvSpPr txBox="1"/>
          <p:nvPr/>
        </p:nvSpPr>
        <p:spPr>
          <a:xfrm>
            <a:off x="4059936" y="5166360"/>
            <a:ext cx="3108960" cy="320040"/>
          </a:xfrm>
          <a:prstGeom prst="rect">
            <a:avLst/>
          </a:prstGeom>
          <a:noFill/>
          <a:ln/>
        </p:spPr>
        <p:txBody>
          <a:bodyPr wrap="square" lIns="0" tIns="0" rIns="0" bIns="0" rtlCol="0" anchor="t"/>
          <a:lstStyle/>
          <a:p>
            <a:pPr indent="0" marL="0">
              <a:buNone/>
            </a:pPr>
            <a:r>
              <a:rPr lang="en-US" sz="1800" b="1" dirty="0">
                <a:solidFill>
                  <a:srgbClr val="B68638"/>
                </a:solidFill>
                <a:latin typeface="Arial" pitchFamily="34" charset="0"/>
                <a:ea typeface="Arial" pitchFamily="34" charset="-122"/>
                <a:cs typeface="Arial" pitchFamily="34" charset="-120"/>
              </a:rPr>
              <a:t>Common location reference</a:t>
            </a:r>
            <a:endParaRPr lang="en-US" sz="1800" dirty="0"/>
          </a:p>
        </p:txBody>
      </p:sp>
      <p:sp>
        <p:nvSpPr>
          <p:cNvPr id="15" name="Text 12"/>
          <p:cNvSpPr txBox="1"/>
          <p:nvPr/>
        </p:nvSpPr>
        <p:spPr>
          <a:xfrm>
            <a:off x="4059936" y="5486400"/>
            <a:ext cx="4023360" cy="320040"/>
          </a:xfrm>
          <a:prstGeom prst="rect">
            <a:avLst/>
          </a:prstGeom>
          <a:noFill/>
          <a:ln/>
        </p:spPr>
        <p:txBody>
          <a:bodyPr wrap="square" lIns="0" tIns="0" rIns="0" bIns="0" rtlCol="0" anchor="t"/>
          <a:lstStyle/>
          <a:p>
            <a:pPr indent="0" marL="0">
              <a:buNone/>
            </a:pPr>
            <a:r>
              <a:rPr lang="en-US" sz="1500" dirty="0">
                <a:solidFill>
                  <a:srgbClr val="68736D"/>
                </a:solidFill>
                <a:latin typeface="Arial" pitchFamily="34" charset="0"/>
                <a:ea typeface="Arial" pitchFamily="34" charset="-122"/>
                <a:cs typeface="Arial" pitchFamily="34" charset="-120"/>
              </a:rPr>
              <a:t>Fixes and pixels map to the same grid cell</a:t>
            </a:r>
            <a:endParaRPr lang="en-US" sz="1500" dirty="0"/>
          </a:p>
        </p:txBody>
      </p:sp>
      <p:sp>
        <p:nvSpPr>
          <p:cNvPr id="16" name="Shape 13"/>
          <p:cNvSpPr/>
          <p:nvPr/>
        </p:nvSpPr>
        <p:spPr>
          <a:xfrm>
            <a:off x="9162288" y="5074920"/>
            <a:ext cx="0" cy="274320"/>
          </a:xfrm>
          <a:prstGeom prst="line">
            <a:avLst/>
          </a:prstGeom>
          <a:noFill/>
          <a:ln w="19050">
            <a:solidFill>
              <a:srgbClr val="B68638"/>
            </a:solidFill>
            <a:prstDash val="solid"/>
          </a:ln>
        </p:spPr>
      </p:sp>
      <p:sp>
        <p:nvSpPr>
          <p:cNvPr id="17" name="Text 14"/>
          <p:cNvSpPr txBox="1"/>
          <p:nvPr/>
        </p:nvSpPr>
        <p:spPr>
          <a:xfrm>
            <a:off x="9272016" y="5166360"/>
            <a:ext cx="2514600" cy="548640"/>
          </a:xfrm>
          <a:prstGeom prst="rect">
            <a:avLst/>
          </a:prstGeom>
          <a:noFill/>
          <a:ln/>
        </p:spPr>
        <p:txBody>
          <a:bodyPr wrap="square" lIns="0" tIns="0" rIns="0" bIns="0" rtlCol="0" anchor="t"/>
          <a:lstStyle/>
          <a:p>
            <a:pPr indent="0" marL="0">
              <a:buNone/>
            </a:pPr>
            <a:r>
              <a:rPr lang="en-US" sz="1800" b="1" dirty="0">
                <a:solidFill>
                  <a:srgbClr val="B68638"/>
                </a:solidFill>
                <a:latin typeface="Arial" pitchFamily="34" charset="0"/>
                <a:ea typeface="Arial" pitchFamily="34" charset="-122"/>
                <a:cs typeface="Arial" pitchFamily="34" charset="-120"/>
              </a:rPr>
              <a:t>Explicit matching by observation time</a:t>
            </a:r>
            <a:endParaRPr lang="en-US" sz="1800" dirty="0"/>
          </a:p>
        </p:txBody>
      </p:sp>
      <p:sp>
        <p:nvSpPr>
          <p:cNvPr id="18" name="Text 15"/>
          <p:cNvSpPr txBox="1"/>
          <p:nvPr/>
        </p:nvSpPr>
        <p:spPr>
          <a:xfrm>
            <a:off x="9272016" y="5760720"/>
            <a:ext cx="2560320" cy="320040"/>
          </a:xfrm>
          <a:prstGeom prst="rect">
            <a:avLst/>
          </a:prstGeom>
          <a:noFill/>
          <a:ln/>
        </p:spPr>
        <p:txBody>
          <a:bodyPr wrap="square" lIns="0" tIns="0" rIns="0" bIns="0" rtlCol="0" anchor="t"/>
          <a:lstStyle/>
          <a:p>
            <a:pPr indent="0" marL="0">
              <a:buNone/>
            </a:pPr>
            <a:r>
              <a:rPr lang="en-US" sz="1500" dirty="0">
                <a:solidFill>
                  <a:srgbClr val="68736D"/>
                </a:solidFill>
                <a:latin typeface="Arial" pitchFamily="34" charset="0"/>
                <a:ea typeface="Arial" pitchFamily="34" charset="-122"/>
                <a:cs typeface="Arial" pitchFamily="34" charset="-120"/>
              </a:rPr>
              <a:t>Latest composite, ≤ 32 days</a:t>
            </a:r>
            <a:endParaRPr lang="en-US" sz="1500" dirty="0"/>
          </a:p>
        </p:txBody>
      </p:sp>
      <p:sp>
        <p:nvSpPr>
          <p:cNvPr id="19" name="Text 16"/>
          <p:cNvSpPr txBox="1"/>
          <p:nvPr/>
        </p:nvSpPr>
        <p:spPr>
          <a:xfrm>
            <a:off x="548640" y="6172200"/>
            <a:ext cx="5486400" cy="256032"/>
          </a:xfrm>
          <a:prstGeom prst="rect">
            <a:avLst/>
          </a:prstGeom>
          <a:noFill/>
          <a:ln/>
        </p:spPr>
        <p:txBody>
          <a:bodyPr wrap="square" lIns="0" tIns="0" rIns="0" bIns="0" rtlCol="0" anchor="t"/>
          <a:lstStyle/>
          <a:p>
            <a:pPr indent="0" marL="0">
              <a:buNone/>
            </a:pPr>
            <a:r>
              <a:rPr lang="en-US" sz="1200" dirty="0">
                <a:solidFill>
                  <a:srgbClr val="68736D"/>
                </a:solidFill>
                <a:latin typeface="Arial" pitchFamily="34" charset="0"/>
                <a:ea typeface="Arial" pitchFamily="34" charset="-122"/>
                <a:cs typeface="Arial" pitchFamily="34" charset="-120"/>
              </a:rPr>
              <a:t>Preparation logic. Column structure only; no rows shown.</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8736D"/>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t"/>
          <a:lstStyle/>
          <a:p>
            <a:pPr algn="l" indent="0" marL="0">
              <a:buNone/>
            </a:pPr>
            <a:r>
              <a:rPr lang="en-US" sz="3600" b="1" dirty="0">
                <a:solidFill>
                  <a:srgbClr val="202723"/>
                </a:solidFill>
                <a:latin typeface="Arial" pitchFamily="34" charset="0"/>
                <a:ea typeface="Arial" pitchFamily="34" charset="-122"/>
                <a:cs typeface="Arial" pitchFamily="34" charset="-120"/>
              </a:rPr>
              <a:t>Inspect the pattern and the supporting records</a:t>
            </a:r>
            <a:endParaRPr lang="en-US" sz="3600" dirty="0"/>
          </a:p>
        </p:txBody>
      </p:sp>
      <p:sp>
        <p:nvSpPr>
          <p:cNvPr id="3" name="Text 1"/>
          <p:cNvSpPr txBox="1"/>
          <p:nvPr/>
        </p:nvSpPr>
        <p:spPr>
          <a:xfrm>
            <a:off x="548640" y="1216152"/>
            <a:ext cx="7315200" cy="320040"/>
          </a:xfrm>
          <a:prstGeom prst="rect">
            <a:avLst/>
          </a:prstGeom>
          <a:noFill/>
          <a:ln/>
        </p:spPr>
        <p:txBody>
          <a:bodyPr wrap="square" lIns="0" tIns="0" rIns="0" bIns="0" rtlCol="0" anchor="t"/>
          <a:lstStyle/>
          <a:p>
            <a:pPr indent="0" marL="0">
              <a:buNone/>
            </a:pPr>
            <a:r>
              <a:rPr lang="en-US" sz="1600" b="1" dirty="0">
                <a:solidFill>
                  <a:srgbClr val="B68638"/>
                </a:solidFill>
                <a:latin typeface="Arial" pitchFamily="34" charset="0"/>
                <a:ea typeface="Arial" pitchFamily="34" charset="-122"/>
                <a:cs typeface="Arial" pitchFamily="34" charset="-120"/>
              </a:rPr>
              <a:t>Conceptual result layout — no measured findings shown</a:t>
            </a:r>
            <a:endParaRPr lang="en-US" sz="1600" dirty="0"/>
          </a:p>
        </p:txBody>
      </p:sp>
      <p:sp>
        <p:nvSpPr>
          <p:cNvPr id="4" name="Shape 2"/>
          <p:cNvSpPr/>
          <p:nvPr/>
        </p:nvSpPr>
        <p:spPr>
          <a:xfrm>
            <a:off x="548640" y="1737360"/>
            <a:ext cx="5669280" cy="4526280"/>
          </a:xfrm>
          <a:prstGeom prst="rect">
            <a:avLst/>
          </a:prstGeom>
          <a:ln w="12700">
            <a:solidFill>
              <a:srgbClr val="B9C1BC"/>
            </a:solidFill>
            <a:prstDash val="solid"/>
          </a:ln>
        </p:spPr>
      </p:sp>
      <p:sp>
        <p:nvSpPr>
          <p:cNvPr id="5" name="Text 3"/>
          <p:cNvSpPr txBox="1"/>
          <p:nvPr/>
        </p:nvSpPr>
        <p:spPr>
          <a:xfrm>
            <a:off x="731520" y="1874520"/>
            <a:ext cx="3657600" cy="274320"/>
          </a:xfrm>
          <a:prstGeom prst="rect">
            <a:avLst/>
          </a:prstGeom>
          <a:noFill/>
          <a:ln/>
        </p:spPr>
        <p:txBody>
          <a:bodyPr wrap="square" lIns="0" tIns="0" rIns="0" bIns="0" rtlCol="0" anchor="t"/>
          <a:lstStyle/>
          <a:p>
            <a:pPr indent="0" marL="0">
              <a:buNone/>
            </a:pPr>
            <a:r>
              <a:rPr lang="en-US" sz="1400" b="1" dirty="0">
                <a:solidFill>
                  <a:srgbClr val="68736D"/>
                </a:solidFill>
                <a:latin typeface="Arial" pitchFamily="34" charset="0"/>
                <a:ea typeface="Arial" pitchFamily="34" charset="-122"/>
                <a:cs typeface="Arial" pitchFamily="34" charset="-120"/>
              </a:rPr>
              <a:t>MAP · location context</a:t>
            </a:r>
            <a:endParaRPr lang="en-US" sz="1400" dirty="0"/>
          </a:p>
        </p:txBody>
      </p:sp>
      <p:sp>
        <p:nvSpPr>
          <p:cNvPr id="6" name="Shape 4"/>
          <p:cNvSpPr/>
          <p:nvPr/>
        </p:nvSpPr>
        <p:spPr>
          <a:xfrm>
            <a:off x="1309227" y="4913207"/>
            <a:ext cx="4148107" cy="0"/>
          </a:xfrm>
          <a:prstGeom prst="line">
            <a:avLst/>
          </a:prstGeom>
          <a:noFill/>
          <a:ln w="9525">
            <a:solidFill>
              <a:srgbClr val="E8ECE9"/>
            </a:solidFill>
            <a:prstDash val="solid"/>
          </a:ln>
        </p:spPr>
      </p:sp>
      <p:sp>
        <p:nvSpPr>
          <p:cNvPr id="7" name="Shape 5"/>
          <p:cNvSpPr/>
          <p:nvPr/>
        </p:nvSpPr>
        <p:spPr>
          <a:xfrm>
            <a:off x="1309227" y="3609340"/>
            <a:ext cx="4148107" cy="0"/>
          </a:xfrm>
          <a:prstGeom prst="line">
            <a:avLst/>
          </a:prstGeom>
          <a:noFill/>
          <a:ln w="9525">
            <a:solidFill>
              <a:srgbClr val="E8ECE9"/>
            </a:solidFill>
            <a:prstDash val="solid"/>
          </a:ln>
        </p:spPr>
      </p:sp>
      <p:sp>
        <p:nvSpPr>
          <p:cNvPr id="8" name="Shape 6"/>
          <p:cNvSpPr/>
          <p:nvPr/>
        </p:nvSpPr>
        <p:spPr>
          <a:xfrm>
            <a:off x="1309227" y="2305473"/>
            <a:ext cx="4148107" cy="0"/>
          </a:xfrm>
          <a:prstGeom prst="line">
            <a:avLst/>
          </a:prstGeom>
          <a:noFill/>
          <a:ln w="9525">
            <a:solidFill>
              <a:srgbClr val="E8ECE9"/>
            </a:solidFill>
            <a:prstDash val="solid"/>
          </a:ln>
        </p:spPr>
      </p:sp>
      <p:sp>
        <p:nvSpPr>
          <p:cNvPr id="9" name="Shape 7"/>
          <p:cNvSpPr/>
          <p:nvPr/>
        </p:nvSpPr>
        <p:spPr>
          <a:xfrm>
            <a:off x="2167456" y="2240280"/>
            <a:ext cx="0" cy="3520440"/>
          </a:xfrm>
          <a:prstGeom prst="line">
            <a:avLst/>
          </a:prstGeom>
          <a:noFill/>
          <a:ln w="9525">
            <a:solidFill>
              <a:srgbClr val="E8ECE9"/>
            </a:solidFill>
            <a:prstDash val="solid"/>
          </a:ln>
        </p:spPr>
      </p:sp>
      <p:sp>
        <p:nvSpPr>
          <p:cNvPr id="10" name="Shape 8"/>
          <p:cNvSpPr/>
          <p:nvPr/>
        </p:nvSpPr>
        <p:spPr>
          <a:xfrm>
            <a:off x="3121043" y="2240280"/>
            <a:ext cx="0" cy="3520440"/>
          </a:xfrm>
          <a:prstGeom prst="line">
            <a:avLst/>
          </a:prstGeom>
          <a:noFill/>
          <a:ln w="9525">
            <a:solidFill>
              <a:srgbClr val="E8ECE9"/>
            </a:solidFill>
            <a:prstDash val="solid"/>
          </a:ln>
        </p:spPr>
      </p:sp>
      <p:sp>
        <p:nvSpPr>
          <p:cNvPr id="11" name="Shape 9"/>
          <p:cNvSpPr/>
          <p:nvPr/>
        </p:nvSpPr>
        <p:spPr>
          <a:xfrm>
            <a:off x="4074631" y="2240280"/>
            <a:ext cx="0" cy="3520440"/>
          </a:xfrm>
          <a:prstGeom prst="line">
            <a:avLst/>
          </a:prstGeom>
          <a:noFill/>
          <a:ln w="9525">
            <a:solidFill>
              <a:srgbClr val="E8ECE9"/>
            </a:solidFill>
            <a:prstDash val="solid"/>
          </a:ln>
        </p:spPr>
      </p:sp>
      <p:sp>
        <p:nvSpPr>
          <p:cNvPr id="12" name="Shape 10"/>
          <p:cNvSpPr/>
          <p:nvPr/>
        </p:nvSpPr>
        <p:spPr>
          <a:xfrm>
            <a:off x="5028219" y="2240280"/>
            <a:ext cx="0" cy="3520440"/>
          </a:xfrm>
          <a:prstGeom prst="line">
            <a:avLst/>
          </a:prstGeom>
          <a:noFill/>
          <a:ln w="9525">
            <a:solidFill>
              <a:srgbClr val="E8ECE9"/>
            </a:solidFill>
            <a:prstDash val="solid"/>
          </a:ln>
        </p:spPr>
      </p:sp>
      <p:sp>
        <p:nvSpPr>
          <p:cNvPr id="13" name="Shape 11"/>
          <p:cNvSpPr/>
          <p:nvPr/>
        </p:nvSpPr>
        <p:spPr>
          <a:xfrm>
            <a:off x="2119776" y="2240280"/>
            <a:ext cx="0" cy="3520440"/>
          </a:xfrm>
          <a:prstGeom prst="line">
            <a:avLst/>
          </a:prstGeom>
          <a:noFill/>
          <a:ln w="15875">
            <a:solidFill>
              <a:srgbClr val="202723"/>
            </a:solidFill>
            <a:prstDash val="solid"/>
          </a:ln>
        </p:spPr>
      </p:sp>
      <p:sp>
        <p:nvSpPr>
          <p:cNvPr id="14" name="Text 12"/>
          <p:cNvSpPr txBox="1"/>
          <p:nvPr/>
        </p:nvSpPr>
        <p:spPr>
          <a:xfrm>
            <a:off x="1662576" y="2370667"/>
            <a:ext cx="320040" cy="228600"/>
          </a:xfrm>
          <a:prstGeom prst="rect">
            <a:avLst/>
          </a:prstGeom>
          <a:noFill/>
          <a:ln/>
        </p:spPr>
        <p:txBody>
          <a:bodyPr wrap="square" lIns="0" tIns="0" rIns="0" bIns="0" rtlCol="0" anchor="t"/>
          <a:lstStyle/>
          <a:p>
            <a:pPr algn="r" indent="0" marL="0">
              <a:buNone/>
            </a:pPr>
            <a:r>
              <a:rPr lang="en-US" sz="1200" b="1" dirty="0">
                <a:solidFill>
                  <a:srgbClr val="68736D"/>
                </a:solidFill>
                <a:latin typeface="Arial" pitchFamily="34" charset="0"/>
                <a:ea typeface="Arial" pitchFamily="34" charset="-122"/>
                <a:cs typeface="Arial" pitchFamily="34" charset="-120"/>
              </a:rPr>
              <a:t>ID</a:t>
            </a:r>
            <a:endParaRPr lang="en-US" sz="1200" dirty="0"/>
          </a:p>
        </p:txBody>
      </p:sp>
      <p:sp>
        <p:nvSpPr>
          <p:cNvPr id="15" name="Text 13"/>
          <p:cNvSpPr txBox="1"/>
          <p:nvPr/>
        </p:nvSpPr>
        <p:spPr>
          <a:xfrm>
            <a:off x="2229504" y="2370667"/>
            <a:ext cx="365760" cy="228600"/>
          </a:xfrm>
          <a:prstGeom prst="rect">
            <a:avLst/>
          </a:prstGeom>
          <a:noFill/>
          <a:ln/>
        </p:spPr>
        <p:txBody>
          <a:bodyPr wrap="square" lIns="0" tIns="0" rIns="0" bIns="0" rtlCol="0" anchor="t"/>
          <a:lstStyle/>
          <a:p>
            <a:pPr indent="0" marL="0">
              <a:buNone/>
            </a:pPr>
            <a:r>
              <a:rPr lang="en-US" sz="1200" b="1" dirty="0">
                <a:solidFill>
                  <a:srgbClr val="68736D"/>
                </a:solidFill>
                <a:latin typeface="Arial" pitchFamily="34" charset="0"/>
                <a:ea typeface="Arial" pitchFamily="34" charset="-122"/>
                <a:cs typeface="Arial" pitchFamily="34" charset="-120"/>
              </a:rPr>
              <a:t>WY</a:t>
            </a:r>
            <a:endParaRPr lang="en-US" sz="1200" dirty="0"/>
          </a:p>
        </p:txBody>
      </p:sp>
      <p:sp>
        <p:nvSpPr>
          <p:cNvPr id="16" name="Shape 14"/>
          <p:cNvSpPr/>
          <p:nvPr/>
        </p:nvSpPr>
        <p:spPr>
          <a:xfrm>
            <a:off x="2405853" y="2566247"/>
            <a:ext cx="1954855" cy="2933700"/>
          </a:xfrm>
          <a:prstGeom prst="rect">
            <a:avLst/>
          </a:prstGeom>
          <a:solidFill>
            <a:srgbClr val="294D3C">
              <a:alpha val="18000"/>
            </a:srgbClr>
          </a:solidFill>
          <a:ln w="22225">
            <a:solidFill>
              <a:srgbClr val="294D3C"/>
            </a:solidFill>
            <a:prstDash val="solid"/>
          </a:ln>
        </p:spPr>
      </p:sp>
      <p:sp>
        <p:nvSpPr>
          <p:cNvPr id="17" name="Shape 15"/>
          <p:cNvSpPr/>
          <p:nvPr/>
        </p:nvSpPr>
        <p:spPr>
          <a:xfrm>
            <a:off x="3195110" y="3719407"/>
            <a:ext cx="118872" cy="118872"/>
          </a:xfrm>
          <a:prstGeom prst="ellipse">
            <a:avLst/>
          </a:prstGeom>
          <a:solidFill>
            <a:srgbClr val="B68638"/>
          </a:solidFill>
          <a:ln w="19050">
            <a:solidFill>
              <a:srgbClr val="B68638"/>
            </a:solidFill>
            <a:prstDash val="solid"/>
          </a:ln>
        </p:spPr>
      </p:sp>
      <p:sp>
        <p:nvSpPr>
          <p:cNvPr id="18" name="Text 16"/>
          <p:cNvSpPr txBox="1"/>
          <p:nvPr/>
        </p:nvSpPr>
        <p:spPr>
          <a:xfrm>
            <a:off x="2705906" y="3870283"/>
            <a:ext cx="1097280" cy="256032"/>
          </a:xfrm>
          <a:prstGeom prst="rect">
            <a:avLst/>
          </a:prstGeom>
          <a:noFill/>
          <a:ln/>
        </p:spPr>
        <p:txBody>
          <a:bodyPr wrap="square" lIns="0" tIns="0" rIns="0" bIns="0" rtlCol="0" anchor="t"/>
          <a:lstStyle/>
          <a:p>
            <a:pPr algn="ctr" indent="0" marL="0">
              <a:buNone/>
            </a:pPr>
            <a:r>
              <a:rPr lang="en-US" sz="1400" dirty="0">
                <a:solidFill>
                  <a:srgbClr val="202723"/>
                </a:solidFill>
                <a:latin typeface="Arial" pitchFamily="34" charset="0"/>
                <a:ea typeface="Arial" pitchFamily="34" charset="-122"/>
                <a:cs typeface="Arial" pitchFamily="34" charset="-120"/>
              </a:rPr>
              <a:t>Pinedale</a:t>
            </a:r>
            <a:endParaRPr lang="en-US" sz="1400" dirty="0"/>
          </a:p>
        </p:txBody>
      </p:sp>
      <p:sp>
        <p:nvSpPr>
          <p:cNvPr id="19" name="Text 17"/>
          <p:cNvSpPr txBox="1"/>
          <p:nvPr/>
        </p:nvSpPr>
        <p:spPr>
          <a:xfrm>
            <a:off x="4954413" y="4666319"/>
            <a:ext cx="457200" cy="201168"/>
          </a:xfrm>
          <a:prstGeom prst="rect">
            <a:avLst/>
          </a:prstGeom>
          <a:noFill/>
          <a:ln/>
        </p:spPr>
        <p:txBody>
          <a:bodyPr wrap="square" lIns="0" tIns="0" rIns="0" bIns="0" rtlCol="0" anchor="t"/>
          <a:lstStyle/>
          <a:p>
            <a:pPr algn="r" indent="0" marL="0">
              <a:buNone/>
            </a:pPr>
            <a:r>
              <a:rPr lang="en-US" sz="1200" dirty="0">
                <a:solidFill>
                  <a:srgbClr val="68736D"/>
                </a:solidFill>
                <a:latin typeface="Arial" pitchFamily="34" charset="0"/>
                <a:ea typeface="Arial" pitchFamily="34" charset="-122"/>
                <a:cs typeface="Arial" pitchFamily="34" charset="-120"/>
              </a:rPr>
              <a:t>42°N</a:t>
            </a:r>
            <a:endParaRPr lang="en-US" sz="1200" dirty="0"/>
          </a:p>
        </p:txBody>
      </p:sp>
      <p:sp>
        <p:nvSpPr>
          <p:cNvPr id="20" name="Text 18"/>
          <p:cNvSpPr txBox="1"/>
          <p:nvPr/>
        </p:nvSpPr>
        <p:spPr>
          <a:xfrm>
            <a:off x="4954413" y="3362452"/>
            <a:ext cx="457200" cy="201168"/>
          </a:xfrm>
          <a:prstGeom prst="rect">
            <a:avLst/>
          </a:prstGeom>
          <a:noFill/>
          <a:ln/>
        </p:spPr>
        <p:txBody>
          <a:bodyPr wrap="square" lIns="0" tIns="0" rIns="0" bIns="0" rtlCol="0" anchor="t"/>
          <a:lstStyle/>
          <a:p>
            <a:pPr algn="r" indent="0" marL="0">
              <a:buNone/>
            </a:pPr>
            <a:r>
              <a:rPr lang="en-US" sz="1200" dirty="0">
                <a:solidFill>
                  <a:srgbClr val="68736D"/>
                </a:solidFill>
                <a:latin typeface="Arial" pitchFamily="34" charset="0"/>
                <a:ea typeface="Arial" pitchFamily="34" charset="-122"/>
                <a:cs typeface="Arial" pitchFamily="34" charset="-120"/>
              </a:rPr>
              <a:t>43°N</a:t>
            </a:r>
            <a:endParaRPr lang="en-US" sz="1200" dirty="0"/>
          </a:p>
        </p:txBody>
      </p:sp>
      <p:sp>
        <p:nvSpPr>
          <p:cNvPr id="21" name="Text 19"/>
          <p:cNvSpPr txBox="1"/>
          <p:nvPr/>
        </p:nvSpPr>
        <p:spPr>
          <a:xfrm>
            <a:off x="3175907" y="5513832"/>
            <a:ext cx="640080" cy="201168"/>
          </a:xfrm>
          <a:prstGeom prst="rect">
            <a:avLst/>
          </a:prstGeom>
          <a:noFill/>
          <a:ln/>
        </p:spPr>
        <p:txBody>
          <a:bodyPr wrap="square" lIns="0" tIns="0" rIns="0" bIns="0" rtlCol="0" anchor="t"/>
          <a:lstStyle/>
          <a:p>
            <a:pPr indent="0" marL="0">
              <a:buNone/>
            </a:pPr>
            <a:r>
              <a:rPr lang="en-US" sz="1200" dirty="0">
                <a:solidFill>
                  <a:srgbClr val="68736D"/>
                </a:solidFill>
                <a:latin typeface="Arial" pitchFamily="34" charset="0"/>
                <a:ea typeface="Arial" pitchFamily="34" charset="-122"/>
                <a:cs typeface="Arial" pitchFamily="34" charset="-120"/>
              </a:rPr>
              <a:t>110°W</a:t>
            </a:r>
            <a:endParaRPr lang="en-US" sz="1200" dirty="0"/>
          </a:p>
        </p:txBody>
      </p:sp>
      <p:sp>
        <p:nvSpPr>
          <p:cNvPr id="22" name="Text 20"/>
          <p:cNvSpPr txBox="1"/>
          <p:nvPr/>
        </p:nvSpPr>
        <p:spPr>
          <a:xfrm>
            <a:off x="5083083" y="5513832"/>
            <a:ext cx="640080" cy="201168"/>
          </a:xfrm>
          <a:prstGeom prst="rect">
            <a:avLst/>
          </a:prstGeom>
          <a:noFill/>
          <a:ln/>
        </p:spPr>
        <p:txBody>
          <a:bodyPr wrap="square" lIns="0" tIns="0" rIns="0" bIns="0" rtlCol="0" anchor="t"/>
          <a:lstStyle/>
          <a:p>
            <a:pPr indent="0" marL="0">
              <a:buNone/>
            </a:pPr>
            <a:r>
              <a:rPr lang="en-US" sz="1200" dirty="0">
                <a:solidFill>
                  <a:srgbClr val="68736D"/>
                </a:solidFill>
                <a:latin typeface="Arial" pitchFamily="34" charset="0"/>
                <a:ea typeface="Arial" pitchFamily="34" charset="-122"/>
                <a:cs typeface="Arial" pitchFamily="34" charset="-120"/>
              </a:rPr>
              <a:t>108°W</a:t>
            </a:r>
            <a:endParaRPr lang="en-US" sz="1200" dirty="0"/>
          </a:p>
        </p:txBody>
      </p:sp>
      <p:sp>
        <p:nvSpPr>
          <p:cNvPr id="23" name="Text 21"/>
          <p:cNvSpPr txBox="1"/>
          <p:nvPr/>
        </p:nvSpPr>
        <p:spPr>
          <a:xfrm>
            <a:off x="731520" y="5852160"/>
            <a:ext cx="4937760" cy="274320"/>
          </a:xfrm>
          <a:prstGeom prst="rect">
            <a:avLst/>
          </a:prstGeom>
          <a:noFill/>
          <a:ln/>
        </p:spPr>
        <p:txBody>
          <a:bodyPr wrap="square" lIns="0" tIns="0" rIns="0" bIns="0" rtlCol="0" anchor="t"/>
          <a:lstStyle/>
          <a:p>
            <a:pPr indent="0" marL="0">
              <a:buNone/>
            </a:pPr>
            <a:r>
              <a:rPr lang="en-US" sz="1400" i="1" dirty="0">
                <a:solidFill>
                  <a:srgbClr val="68736D"/>
                </a:solidFill>
                <a:latin typeface="Arial" pitchFamily="34" charset="0"/>
                <a:ea typeface="Arial" pitchFamily="34" charset="-122"/>
                <a:cs typeface="Arial" pitchFamily="34" charset="-120"/>
              </a:rPr>
              <a:t>Daily animal locations appear here after a verified run.</a:t>
            </a:r>
            <a:endParaRPr lang="en-US" sz="1400" dirty="0"/>
          </a:p>
        </p:txBody>
      </p:sp>
      <p:sp>
        <p:nvSpPr>
          <p:cNvPr id="24" name="Shape 22"/>
          <p:cNvSpPr/>
          <p:nvPr/>
        </p:nvSpPr>
        <p:spPr>
          <a:xfrm>
            <a:off x="6492240" y="1737360"/>
            <a:ext cx="5150815" cy="2423160"/>
          </a:xfrm>
          <a:prstGeom prst="rect">
            <a:avLst/>
          </a:prstGeom>
          <a:ln w="12700">
            <a:solidFill>
              <a:srgbClr val="B9C1BC"/>
            </a:solidFill>
            <a:prstDash val="solid"/>
          </a:ln>
        </p:spPr>
      </p:sp>
      <p:sp>
        <p:nvSpPr>
          <p:cNvPr id="25" name="Text 23"/>
          <p:cNvSpPr txBox="1"/>
          <p:nvPr/>
        </p:nvSpPr>
        <p:spPr>
          <a:xfrm>
            <a:off x="6675120" y="1874520"/>
            <a:ext cx="4114800" cy="274320"/>
          </a:xfrm>
          <a:prstGeom prst="rect">
            <a:avLst/>
          </a:prstGeom>
          <a:noFill/>
          <a:ln/>
        </p:spPr>
        <p:txBody>
          <a:bodyPr wrap="square" lIns="0" tIns="0" rIns="0" bIns="0" rtlCol="0" anchor="t"/>
          <a:lstStyle/>
          <a:p>
            <a:pPr indent="0" marL="0">
              <a:buNone/>
            </a:pPr>
            <a:r>
              <a:rPr lang="en-US" sz="1400" b="1" dirty="0">
                <a:solidFill>
                  <a:srgbClr val="68736D"/>
                </a:solidFill>
                <a:latin typeface="Arial" pitchFamily="34" charset="0"/>
                <a:ea typeface="Arial" pitchFamily="34" charset="-122"/>
                <a:cs typeface="Arial" pitchFamily="34" charset="-120"/>
              </a:rPr>
              <a:t>TIMELINE · March–June 2019</a:t>
            </a:r>
            <a:endParaRPr lang="en-US" sz="1400" dirty="0"/>
          </a:p>
        </p:txBody>
      </p:sp>
      <p:sp>
        <p:nvSpPr>
          <p:cNvPr id="26" name="Shape 24"/>
          <p:cNvSpPr/>
          <p:nvPr/>
        </p:nvSpPr>
        <p:spPr>
          <a:xfrm>
            <a:off x="6766560" y="2286000"/>
            <a:ext cx="4602175" cy="347472"/>
          </a:xfrm>
          <a:prstGeom prst="rect">
            <a:avLst/>
          </a:prstGeom>
          <a:solidFill>
            <a:srgbClr val="E8ECE9"/>
          </a:solidFill>
          <a:ln/>
        </p:spPr>
      </p:sp>
      <p:sp>
        <p:nvSpPr>
          <p:cNvPr id="27" name="Text 25"/>
          <p:cNvSpPr txBox="1"/>
          <p:nvPr/>
        </p:nvSpPr>
        <p:spPr>
          <a:xfrm>
            <a:off x="6876288" y="2359152"/>
            <a:ext cx="2743200" cy="228600"/>
          </a:xfrm>
          <a:prstGeom prst="rect">
            <a:avLst/>
          </a:prstGeom>
          <a:noFill/>
          <a:ln/>
        </p:spPr>
        <p:txBody>
          <a:bodyPr wrap="square" lIns="0" tIns="0" rIns="0" bIns="0" rtlCol="0" anchor="t"/>
          <a:lstStyle/>
          <a:p>
            <a:pPr indent="0" marL="0">
              <a:buNone/>
            </a:pPr>
            <a:r>
              <a:rPr lang="en-US" sz="1300" dirty="0">
                <a:solidFill>
                  <a:srgbClr val="68736D"/>
                </a:solidFill>
                <a:latin typeface="Arial" pitchFamily="34" charset="0"/>
                <a:ea typeface="Arial" pitchFamily="34" charset="-122"/>
                <a:cs typeface="Arial" pitchFamily="34" charset="-120"/>
              </a:rPr>
              <a:t>Daily displacement</a:t>
            </a:r>
            <a:endParaRPr lang="en-US" sz="1300" dirty="0"/>
          </a:p>
        </p:txBody>
      </p:sp>
      <p:sp>
        <p:nvSpPr>
          <p:cNvPr id="28" name="Shape 26"/>
          <p:cNvSpPr/>
          <p:nvPr/>
        </p:nvSpPr>
        <p:spPr>
          <a:xfrm>
            <a:off x="6766560" y="2724912"/>
            <a:ext cx="4602175" cy="347472"/>
          </a:xfrm>
          <a:prstGeom prst="rect">
            <a:avLst/>
          </a:prstGeom>
          <a:solidFill>
            <a:srgbClr val="E8ECE9"/>
          </a:solidFill>
          <a:ln/>
        </p:spPr>
      </p:sp>
      <p:sp>
        <p:nvSpPr>
          <p:cNvPr id="29" name="Text 27"/>
          <p:cNvSpPr txBox="1"/>
          <p:nvPr/>
        </p:nvSpPr>
        <p:spPr>
          <a:xfrm>
            <a:off x="6876288" y="2798064"/>
            <a:ext cx="2743200" cy="228600"/>
          </a:xfrm>
          <a:prstGeom prst="rect">
            <a:avLst/>
          </a:prstGeom>
          <a:noFill/>
          <a:ln/>
        </p:spPr>
        <p:txBody>
          <a:bodyPr wrap="square" lIns="0" tIns="0" rIns="0" bIns="0" rtlCol="0" anchor="t"/>
          <a:lstStyle/>
          <a:p>
            <a:pPr indent="0" marL="0">
              <a:buNone/>
            </a:pPr>
            <a:r>
              <a:rPr lang="en-US" sz="1300" dirty="0">
                <a:solidFill>
                  <a:srgbClr val="68736D"/>
                </a:solidFill>
                <a:latin typeface="Arial" pitchFamily="34" charset="0"/>
                <a:ea typeface="Arial" pitchFamily="34" charset="-122"/>
                <a:cs typeface="Arial" pitchFamily="34" charset="-120"/>
              </a:rPr>
              <a:t>Matched NDVI</a:t>
            </a:r>
            <a:endParaRPr lang="en-US" sz="1300" dirty="0"/>
          </a:p>
        </p:txBody>
      </p:sp>
      <p:sp>
        <p:nvSpPr>
          <p:cNvPr id="30" name="Shape 28"/>
          <p:cNvSpPr/>
          <p:nvPr/>
        </p:nvSpPr>
        <p:spPr>
          <a:xfrm>
            <a:off x="6766560" y="3611880"/>
            <a:ext cx="4602175" cy="0"/>
          </a:xfrm>
          <a:prstGeom prst="line">
            <a:avLst/>
          </a:prstGeom>
          <a:noFill/>
          <a:ln w="12700">
            <a:solidFill>
              <a:srgbClr val="202723"/>
            </a:solidFill>
            <a:prstDash val="solid"/>
          </a:ln>
        </p:spPr>
      </p:sp>
      <p:sp>
        <p:nvSpPr>
          <p:cNvPr id="31" name="Shape 29"/>
          <p:cNvSpPr/>
          <p:nvPr/>
        </p:nvSpPr>
        <p:spPr>
          <a:xfrm>
            <a:off x="6955174" y="3429000"/>
            <a:ext cx="0" cy="182880"/>
          </a:xfrm>
          <a:prstGeom prst="line">
            <a:avLst/>
          </a:prstGeom>
          <a:noFill/>
          <a:ln w="19050">
            <a:solidFill>
              <a:srgbClr val="294D3C"/>
            </a:solidFill>
            <a:prstDash val="solid"/>
          </a:ln>
        </p:spPr>
      </p:sp>
      <p:sp>
        <p:nvSpPr>
          <p:cNvPr id="32" name="Shape 30"/>
          <p:cNvSpPr/>
          <p:nvPr/>
        </p:nvSpPr>
        <p:spPr>
          <a:xfrm>
            <a:off x="7558738" y="3429000"/>
            <a:ext cx="0" cy="182880"/>
          </a:xfrm>
          <a:prstGeom prst="line">
            <a:avLst/>
          </a:prstGeom>
          <a:noFill/>
          <a:ln w="19050">
            <a:solidFill>
              <a:srgbClr val="294D3C"/>
            </a:solidFill>
            <a:prstDash val="solid"/>
          </a:ln>
        </p:spPr>
      </p:sp>
      <p:sp>
        <p:nvSpPr>
          <p:cNvPr id="33" name="Shape 31"/>
          <p:cNvSpPr/>
          <p:nvPr/>
        </p:nvSpPr>
        <p:spPr>
          <a:xfrm>
            <a:off x="8162302" y="3429000"/>
            <a:ext cx="0" cy="182880"/>
          </a:xfrm>
          <a:prstGeom prst="line">
            <a:avLst/>
          </a:prstGeom>
          <a:noFill/>
          <a:ln w="19050">
            <a:solidFill>
              <a:srgbClr val="294D3C"/>
            </a:solidFill>
            <a:prstDash val="solid"/>
          </a:ln>
        </p:spPr>
      </p:sp>
      <p:sp>
        <p:nvSpPr>
          <p:cNvPr id="34" name="Shape 32"/>
          <p:cNvSpPr/>
          <p:nvPr/>
        </p:nvSpPr>
        <p:spPr>
          <a:xfrm>
            <a:off x="8765866" y="3429000"/>
            <a:ext cx="0" cy="182880"/>
          </a:xfrm>
          <a:prstGeom prst="line">
            <a:avLst/>
          </a:prstGeom>
          <a:noFill/>
          <a:ln w="19050">
            <a:solidFill>
              <a:srgbClr val="294D3C"/>
            </a:solidFill>
            <a:prstDash val="solid"/>
          </a:ln>
        </p:spPr>
      </p:sp>
      <p:sp>
        <p:nvSpPr>
          <p:cNvPr id="35" name="Shape 33"/>
          <p:cNvSpPr/>
          <p:nvPr/>
        </p:nvSpPr>
        <p:spPr>
          <a:xfrm>
            <a:off x="9369430" y="3429000"/>
            <a:ext cx="0" cy="182880"/>
          </a:xfrm>
          <a:prstGeom prst="line">
            <a:avLst/>
          </a:prstGeom>
          <a:noFill/>
          <a:ln w="19050">
            <a:solidFill>
              <a:srgbClr val="294D3C"/>
            </a:solidFill>
            <a:prstDash val="solid"/>
          </a:ln>
        </p:spPr>
      </p:sp>
      <p:sp>
        <p:nvSpPr>
          <p:cNvPr id="36" name="Shape 34"/>
          <p:cNvSpPr/>
          <p:nvPr/>
        </p:nvSpPr>
        <p:spPr>
          <a:xfrm>
            <a:off x="9972994" y="3429000"/>
            <a:ext cx="0" cy="182880"/>
          </a:xfrm>
          <a:prstGeom prst="line">
            <a:avLst/>
          </a:prstGeom>
          <a:noFill/>
          <a:ln w="19050">
            <a:solidFill>
              <a:srgbClr val="294D3C"/>
            </a:solidFill>
            <a:prstDash val="solid"/>
          </a:ln>
        </p:spPr>
      </p:sp>
      <p:sp>
        <p:nvSpPr>
          <p:cNvPr id="37" name="Shape 35"/>
          <p:cNvSpPr/>
          <p:nvPr/>
        </p:nvSpPr>
        <p:spPr>
          <a:xfrm>
            <a:off x="10576558" y="3429000"/>
            <a:ext cx="0" cy="182880"/>
          </a:xfrm>
          <a:prstGeom prst="line">
            <a:avLst/>
          </a:prstGeom>
          <a:noFill/>
          <a:ln w="19050">
            <a:solidFill>
              <a:srgbClr val="294D3C"/>
            </a:solidFill>
            <a:prstDash val="solid"/>
          </a:ln>
        </p:spPr>
      </p:sp>
      <p:sp>
        <p:nvSpPr>
          <p:cNvPr id="38" name="Shape 36"/>
          <p:cNvSpPr/>
          <p:nvPr/>
        </p:nvSpPr>
        <p:spPr>
          <a:xfrm>
            <a:off x="11180121" y="3429000"/>
            <a:ext cx="0" cy="182880"/>
          </a:xfrm>
          <a:prstGeom prst="line">
            <a:avLst/>
          </a:prstGeom>
          <a:noFill/>
          <a:ln w="19050">
            <a:solidFill>
              <a:srgbClr val="294D3C"/>
            </a:solidFill>
            <a:prstDash val="solid"/>
          </a:ln>
        </p:spPr>
      </p:sp>
      <p:sp>
        <p:nvSpPr>
          <p:cNvPr id="39" name="Text 37"/>
          <p:cNvSpPr txBox="1"/>
          <p:nvPr/>
        </p:nvSpPr>
        <p:spPr>
          <a:xfrm>
            <a:off x="6766560" y="3182112"/>
            <a:ext cx="2743200" cy="219456"/>
          </a:xfrm>
          <a:prstGeom prst="rect">
            <a:avLst/>
          </a:prstGeom>
          <a:noFill/>
          <a:ln/>
        </p:spPr>
        <p:txBody>
          <a:bodyPr wrap="square" lIns="0" tIns="0" rIns="0" bIns="0" rtlCol="0" anchor="t"/>
          <a:lstStyle/>
          <a:p>
            <a:pPr indent="0" marL="0">
              <a:buNone/>
            </a:pPr>
            <a:r>
              <a:rPr lang="en-US" sz="1200" dirty="0">
                <a:solidFill>
                  <a:srgbClr val="294D3C"/>
                </a:solidFill>
                <a:latin typeface="Arial" pitchFamily="34" charset="0"/>
                <a:ea typeface="Arial" pitchFamily="34" charset="-122"/>
                <a:cs typeface="Arial" pitchFamily="34" charset="-120"/>
              </a:rPr>
              <a:t>MODIS composite starts</a:t>
            </a:r>
            <a:endParaRPr lang="en-US" sz="1200" dirty="0"/>
          </a:p>
        </p:txBody>
      </p:sp>
      <p:sp>
        <p:nvSpPr>
          <p:cNvPr id="40" name="Shape 38"/>
          <p:cNvSpPr/>
          <p:nvPr/>
        </p:nvSpPr>
        <p:spPr>
          <a:xfrm>
            <a:off x="6766560" y="3611880"/>
            <a:ext cx="0" cy="73152"/>
          </a:xfrm>
          <a:prstGeom prst="line">
            <a:avLst/>
          </a:prstGeom>
          <a:noFill/>
          <a:ln w="12700">
            <a:solidFill>
              <a:srgbClr val="202723"/>
            </a:solidFill>
            <a:prstDash val="solid"/>
          </a:ln>
        </p:spPr>
      </p:sp>
      <p:sp>
        <p:nvSpPr>
          <p:cNvPr id="41" name="Text 39"/>
          <p:cNvSpPr txBox="1"/>
          <p:nvPr/>
        </p:nvSpPr>
        <p:spPr>
          <a:xfrm>
            <a:off x="6803136" y="3703320"/>
            <a:ext cx="548640" cy="228600"/>
          </a:xfrm>
          <a:prstGeom prst="rect">
            <a:avLst/>
          </a:prstGeom>
          <a:noFill/>
          <a:ln/>
        </p:spPr>
        <p:txBody>
          <a:bodyPr wrap="square" lIns="0" tIns="0" rIns="0" bIns="0" rtlCol="0" anchor="t"/>
          <a:lstStyle/>
          <a:p>
            <a:pPr indent="0" marL="0">
              <a:buNone/>
            </a:pPr>
            <a:r>
              <a:rPr lang="en-US" sz="1300" dirty="0">
                <a:solidFill>
                  <a:srgbClr val="202723"/>
                </a:solidFill>
                <a:latin typeface="Arial" pitchFamily="34" charset="0"/>
                <a:ea typeface="Arial" pitchFamily="34" charset="-122"/>
                <a:cs typeface="Arial" pitchFamily="34" charset="-120"/>
              </a:rPr>
              <a:t>Mar</a:t>
            </a:r>
            <a:endParaRPr lang="en-US" sz="1300" dirty="0"/>
          </a:p>
        </p:txBody>
      </p:sp>
      <p:sp>
        <p:nvSpPr>
          <p:cNvPr id="42" name="Shape 40"/>
          <p:cNvSpPr/>
          <p:nvPr/>
        </p:nvSpPr>
        <p:spPr>
          <a:xfrm>
            <a:off x="7935965" y="3611880"/>
            <a:ext cx="0" cy="73152"/>
          </a:xfrm>
          <a:prstGeom prst="line">
            <a:avLst/>
          </a:prstGeom>
          <a:noFill/>
          <a:ln w="12700">
            <a:solidFill>
              <a:srgbClr val="202723"/>
            </a:solidFill>
            <a:prstDash val="solid"/>
          </a:ln>
        </p:spPr>
      </p:sp>
      <p:sp>
        <p:nvSpPr>
          <p:cNvPr id="43" name="Text 41"/>
          <p:cNvSpPr txBox="1"/>
          <p:nvPr/>
        </p:nvSpPr>
        <p:spPr>
          <a:xfrm>
            <a:off x="7972541" y="3703320"/>
            <a:ext cx="548640" cy="228600"/>
          </a:xfrm>
          <a:prstGeom prst="rect">
            <a:avLst/>
          </a:prstGeom>
          <a:noFill/>
          <a:ln/>
        </p:spPr>
        <p:txBody>
          <a:bodyPr wrap="square" lIns="0" tIns="0" rIns="0" bIns="0" rtlCol="0" anchor="t"/>
          <a:lstStyle/>
          <a:p>
            <a:pPr indent="0" marL="0">
              <a:buNone/>
            </a:pPr>
            <a:r>
              <a:rPr lang="en-US" sz="1300" dirty="0">
                <a:solidFill>
                  <a:srgbClr val="202723"/>
                </a:solidFill>
                <a:latin typeface="Arial" pitchFamily="34" charset="0"/>
                <a:ea typeface="Arial" pitchFamily="34" charset="-122"/>
                <a:cs typeface="Arial" pitchFamily="34" charset="-120"/>
              </a:rPr>
              <a:t>Apr</a:t>
            </a:r>
            <a:endParaRPr lang="en-US" sz="1300" dirty="0"/>
          </a:p>
        </p:txBody>
      </p:sp>
      <p:sp>
        <p:nvSpPr>
          <p:cNvPr id="44" name="Shape 42"/>
          <p:cNvSpPr/>
          <p:nvPr/>
        </p:nvSpPr>
        <p:spPr>
          <a:xfrm>
            <a:off x="9067648" y="3611880"/>
            <a:ext cx="0" cy="73152"/>
          </a:xfrm>
          <a:prstGeom prst="line">
            <a:avLst/>
          </a:prstGeom>
          <a:noFill/>
          <a:ln w="12700">
            <a:solidFill>
              <a:srgbClr val="202723"/>
            </a:solidFill>
            <a:prstDash val="solid"/>
          </a:ln>
        </p:spPr>
      </p:sp>
      <p:sp>
        <p:nvSpPr>
          <p:cNvPr id="45" name="Text 43"/>
          <p:cNvSpPr txBox="1"/>
          <p:nvPr/>
        </p:nvSpPr>
        <p:spPr>
          <a:xfrm>
            <a:off x="9104224" y="3703320"/>
            <a:ext cx="548640" cy="228600"/>
          </a:xfrm>
          <a:prstGeom prst="rect">
            <a:avLst/>
          </a:prstGeom>
          <a:noFill/>
          <a:ln/>
        </p:spPr>
        <p:txBody>
          <a:bodyPr wrap="square" lIns="0" tIns="0" rIns="0" bIns="0" rtlCol="0" anchor="t"/>
          <a:lstStyle/>
          <a:p>
            <a:pPr indent="0" marL="0">
              <a:buNone/>
            </a:pPr>
            <a:r>
              <a:rPr lang="en-US" sz="1300" dirty="0">
                <a:solidFill>
                  <a:srgbClr val="202723"/>
                </a:solidFill>
                <a:latin typeface="Arial" pitchFamily="34" charset="0"/>
                <a:ea typeface="Arial" pitchFamily="34" charset="-122"/>
                <a:cs typeface="Arial" pitchFamily="34" charset="-120"/>
              </a:rPr>
              <a:t>May</a:t>
            </a:r>
            <a:endParaRPr lang="en-US" sz="1300" dirty="0"/>
          </a:p>
        </p:txBody>
      </p:sp>
      <p:sp>
        <p:nvSpPr>
          <p:cNvPr id="46" name="Shape 44"/>
          <p:cNvSpPr/>
          <p:nvPr/>
        </p:nvSpPr>
        <p:spPr>
          <a:xfrm>
            <a:off x="10237053" y="3611880"/>
            <a:ext cx="0" cy="73152"/>
          </a:xfrm>
          <a:prstGeom prst="line">
            <a:avLst/>
          </a:prstGeom>
          <a:noFill/>
          <a:ln w="12700">
            <a:solidFill>
              <a:srgbClr val="202723"/>
            </a:solidFill>
            <a:prstDash val="solid"/>
          </a:ln>
        </p:spPr>
      </p:sp>
      <p:sp>
        <p:nvSpPr>
          <p:cNvPr id="47" name="Text 45"/>
          <p:cNvSpPr txBox="1"/>
          <p:nvPr/>
        </p:nvSpPr>
        <p:spPr>
          <a:xfrm>
            <a:off x="10273629" y="3703320"/>
            <a:ext cx="548640" cy="228600"/>
          </a:xfrm>
          <a:prstGeom prst="rect">
            <a:avLst/>
          </a:prstGeom>
          <a:noFill/>
          <a:ln/>
        </p:spPr>
        <p:txBody>
          <a:bodyPr wrap="square" lIns="0" tIns="0" rIns="0" bIns="0" rtlCol="0" anchor="t"/>
          <a:lstStyle/>
          <a:p>
            <a:pPr indent="0" marL="0">
              <a:buNone/>
            </a:pPr>
            <a:r>
              <a:rPr lang="en-US" sz="1300" dirty="0">
                <a:solidFill>
                  <a:srgbClr val="202723"/>
                </a:solidFill>
                <a:latin typeface="Arial" pitchFamily="34" charset="0"/>
                <a:ea typeface="Arial" pitchFamily="34" charset="-122"/>
                <a:cs typeface="Arial" pitchFamily="34" charset="-120"/>
              </a:rPr>
              <a:t>Jun</a:t>
            </a:r>
            <a:endParaRPr lang="en-US" sz="1300" dirty="0"/>
          </a:p>
        </p:txBody>
      </p:sp>
      <p:sp>
        <p:nvSpPr>
          <p:cNvPr id="48" name="Shape 46"/>
          <p:cNvSpPr/>
          <p:nvPr/>
        </p:nvSpPr>
        <p:spPr>
          <a:xfrm>
            <a:off x="6492240" y="4389120"/>
            <a:ext cx="5150815" cy="1874520"/>
          </a:xfrm>
          <a:prstGeom prst="rect">
            <a:avLst/>
          </a:prstGeom>
          <a:ln w="12700">
            <a:solidFill>
              <a:srgbClr val="B9C1BC"/>
            </a:solidFill>
            <a:prstDash val="solid"/>
          </a:ln>
        </p:spPr>
      </p:sp>
      <p:sp>
        <p:nvSpPr>
          <p:cNvPr id="49" name="Text 47"/>
          <p:cNvSpPr txBox="1"/>
          <p:nvPr/>
        </p:nvSpPr>
        <p:spPr>
          <a:xfrm>
            <a:off x="6675120" y="4526280"/>
            <a:ext cx="4114800" cy="274320"/>
          </a:xfrm>
          <a:prstGeom prst="rect">
            <a:avLst/>
          </a:prstGeom>
          <a:noFill/>
          <a:ln/>
        </p:spPr>
        <p:txBody>
          <a:bodyPr wrap="square" lIns="0" tIns="0" rIns="0" bIns="0" rtlCol="0" anchor="t"/>
          <a:lstStyle/>
          <a:p>
            <a:pPr indent="0" marL="0">
              <a:buNone/>
            </a:pPr>
            <a:r>
              <a:rPr lang="en-US" sz="1400" b="1" dirty="0">
                <a:solidFill>
                  <a:srgbClr val="68736D"/>
                </a:solidFill>
                <a:latin typeface="Arial" pitchFamily="34" charset="0"/>
                <a:ea typeface="Arial" pitchFamily="34" charset="-122"/>
                <a:cs typeface="Arial" pitchFamily="34" charset="-120"/>
              </a:rPr>
              <a:t>EVIDENCE · kept with the result</a:t>
            </a:r>
            <a:endParaRPr lang="en-US" sz="1400" dirty="0"/>
          </a:p>
        </p:txBody>
      </p:sp>
      <p:sp>
        <p:nvSpPr>
          <p:cNvPr id="50" name="Text 48"/>
          <p:cNvSpPr txBox="1"/>
          <p:nvPr/>
        </p:nvSpPr>
        <p:spPr>
          <a:xfrm>
            <a:off x="6675120" y="4892040"/>
            <a:ext cx="4785055" cy="1280160"/>
          </a:xfrm>
          <a:prstGeom prst="rect">
            <a:avLst/>
          </a:prstGeom>
          <a:noFill/>
          <a:ln/>
        </p:spPr>
        <p:txBody>
          <a:bodyPr wrap="square" lIns="0" tIns="0" rIns="0" bIns="0" rtlCol="0" anchor="t"/>
          <a:lstStyle/>
          <a:p>
            <a:pPr indent="0" marL="0">
              <a:spcAft>
                <a:spcPts val="400"/>
              </a:spcAft>
              <a:buNone/>
            </a:pPr>
            <a:r>
              <a:rPr lang="en-US" sz="1500" b="1" dirty="0">
                <a:solidFill>
                  <a:srgbClr val="202723"/>
                </a:solidFill>
                <a:latin typeface="Arial" pitchFamily="34" charset="0"/>
                <a:ea typeface="Arial" pitchFamily="34" charset="-122"/>
                <a:cs typeface="Arial" pitchFamily="34" charset="-120"/>
              </a:rPr>
              <a:t>Tracking package  </a:t>
            </a:r>
            <a:pPr indent="0" marL="0">
              <a:spcAft>
                <a:spcPts val="400"/>
              </a:spcAft>
              <a:buNone/>
            </a:pPr>
            <a:r>
              <a:rPr lang="en-US" sz="1500" dirty="0">
                <a:solidFill>
                  <a:srgbClr val="68736D"/>
                </a:solidFill>
                <a:latin typeface="Arial" pitchFamily="34" charset="0"/>
                <a:ea typeface="Arial" pitchFamily="34" charset="-122"/>
                <a:cs typeface="Arial" pitchFamily="34" charset="-120"/>
              </a:rPr>
              <a:t>Movebank 10255/move.3619</a:t>
            </a:r>
            <a:endParaRPr lang="en-US" sz="1500" dirty="0"/>
          </a:p>
          <a:p>
            <a:pPr indent="0" marL="0">
              <a:spcAft>
                <a:spcPts val="400"/>
              </a:spcAft>
              <a:buNone/>
            </a:pPr>
            <a:r>
              <a:rPr lang="en-US" sz="1500" b="1" dirty="0">
                <a:solidFill>
                  <a:srgbClr val="202723"/>
                </a:solidFill>
                <a:latin typeface="Arial" pitchFamily="34" charset="0"/>
                <a:ea typeface="Arial" pitchFamily="34" charset="-122"/>
                <a:cs typeface="Arial" pitchFamily="34" charset="-120"/>
              </a:rPr>
              <a:t>Vegetation product  </a:t>
            </a:r>
            <a:pPr indent="0" marL="0">
              <a:spcAft>
                <a:spcPts val="400"/>
              </a:spcAft>
              <a:buNone/>
            </a:pPr>
            <a:r>
              <a:rPr lang="en-US" sz="1500" dirty="0">
                <a:solidFill>
                  <a:srgbClr val="68736D"/>
                </a:solidFill>
                <a:latin typeface="Arial" pitchFamily="34" charset="0"/>
                <a:ea typeface="Arial" pitchFamily="34" charset="-122"/>
                <a:cs typeface="Arial" pitchFamily="34" charset="-120"/>
              </a:rPr>
              <a:t>MODIS MOD13Q1 v061</a:t>
            </a:r>
            <a:endParaRPr lang="en-US" sz="1500" dirty="0"/>
          </a:p>
          <a:p>
            <a:pPr indent="0" marL="0">
              <a:spcAft>
                <a:spcPts val="400"/>
              </a:spcAft>
              <a:buNone/>
            </a:pPr>
            <a:r>
              <a:rPr lang="en-US" sz="1500" b="1" dirty="0">
                <a:solidFill>
                  <a:srgbClr val="202723"/>
                </a:solidFill>
                <a:latin typeface="Arial" pitchFamily="34" charset="0"/>
                <a:ea typeface="Arial" pitchFamily="34" charset="-122"/>
                <a:cs typeface="Arial" pitchFamily="34" charset="-120"/>
              </a:rPr>
              <a:t>Common grid  </a:t>
            </a:r>
            <a:pPr indent="0" marL="0">
              <a:spcAft>
                <a:spcPts val="400"/>
              </a:spcAft>
              <a:buNone/>
            </a:pPr>
            <a:r>
              <a:rPr lang="en-US" sz="1500" dirty="0">
                <a:solidFill>
                  <a:srgbClr val="68736D"/>
                </a:solidFill>
                <a:latin typeface="Arial" pitchFamily="34" charset="0"/>
                <a:ea typeface="Arial" pitchFamily="34" charset="-122"/>
                <a:cs typeface="Arial" pitchFamily="34" charset="-120"/>
              </a:rPr>
              <a:t>EASE-Grid 2.0, 1 km</a:t>
            </a:r>
            <a:endParaRPr lang="en-US" sz="1500" dirty="0"/>
          </a:p>
          <a:p>
            <a:pPr indent="0" marL="0">
              <a:spcAft>
                <a:spcPts val="400"/>
              </a:spcAft>
              <a:buNone/>
            </a:pPr>
            <a:r>
              <a:rPr lang="en-US" sz="1500" b="1" dirty="0">
                <a:solidFill>
                  <a:srgbClr val="202723"/>
                </a:solidFill>
                <a:latin typeface="Arial" pitchFamily="34" charset="0"/>
                <a:ea typeface="Arial" pitchFamily="34" charset="-122"/>
                <a:cs typeface="Arial" pitchFamily="34" charset="-120"/>
              </a:rPr>
              <a:t>Saved recipe  </a:t>
            </a:r>
            <a:pPr indent="0" marL="0">
              <a:spcAft>
                <a:spcPts val="400"/>
              </a:spcAft>
              <a:buNone/>
            </a:pPr>
            <a:r>
              <a:rPr lang="en-US" sz="1500" dirty="0">
                <a:solidFill>
                  <a:srgbClr val="68736D"/>
                </a:solidFill>
                <a:latin typeface="Arial" pitchFamily="34" charset="0"/>
                <a:ea typeface="Arial" pitchFamily="34" charset="-122"/>
                <a:cs typeface="Arial" pitchFamily="34" charset="-120"/>
              </a:rPr>
              <a:t>daily-movement-and-ndvi v1</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8736D"/>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t"/>
          <a:lstStyle/>
          <a:p>
            <a:pPr algn="l" indent="0" marL="0">
              <a:buNone/>
            </a:pPr>
            <a:r>
              <a:rPr lang="en-US" sz="3600" b="1" dirty="0">
                <a:solidFill>
                  <a:srgbClr val="202723"/>
                </a:solidFill>
                <a:latin typeface="Arial" pitchFamily="34" charset="0"/>
                <a:ea typeface="Arial" pitchFamily="34" charset="-122"/>
                <a:cs typeface="Arial" pitchFamily="34" charset="-120"/>
              </a:rPr>
              <a:t>Reuse the preparation, preserve the evidence</a:t>
            </a:r>
            <a:endParaRPr lang="en-US" sz="3600" dirty="0"/>
          </a:p>
        </p:txBody>
      </p:sp>
      <p:sp>
        <p:nvSpPr>
          <p:cNvPr id="3" name="Text 1"/>
          <p:cNvSpPr txBox="1"/>
          <p:nvPr/>
        </p:nvSpPr>
        <p:spPr>
          <a:xfrm>
            <a:off x="548640" y="2011680"/>
            <a:ext cx="1828800" cy="365760"/>
          </a:xfrm>
          <a:prstGeom prst="rect">
            <a:avLst/>
          </a:prstGeom>
          <a:noFill/>
          <a:ln/>
        </p:spPr>
        <p:txBody>
          <a:bodyPr wrap="square" lIns="0" tIns="0" rIns="0" bIns="0" rtlCol="0" anchor="t"/>
          <a:lstStyle/>
          <a:p>
            <a:pPr indent="0" marL="0">
              <a:buNone/>
            </a:pPr>
            <a:r>
              <a:rPr lang="en-US" sz="2000" b="1" dirty="0">
                <a:solidFill>
                  <a:srgbClr val="202723"/>
                </a:solidFill>
                <a:latin typeface="Arial" pitchFamily="34" charset="0"/>
                <a:ea typeface="Arial" pitchFamily="34" charset="-122"/>
                <a:cs typeface="Arial" pitchFamily="34" charset="-120"/>
              </a:rPr>
              <a:t>First analysis</a:t>
            </a:r>
            <a:endParaRPr lang="en-US" sz="2000" dirty="0"/>
          </a:p>
        </p:txBody>
      </p:sp>
      <p:sp>
        <p:nvSpPr>
          <p:cNvPr id="4" name="Text 2"/>
          <p:cNvSpPr txBox="1"/>
          <p:nvPr/>
        </p:nvSpPr>
        <p:spPr>
          <a:xfrm>
            <a:off x="548640" y="2350008"/>
            <a:ext cx="1828800" cy="274320"/>
          </a:xfrm>
          <a:prstGeom prst="rect">
            <a:avLst/>
          </a:prstGeom>
          <a:noFill/>
          <a:ln/>
        </p:spPr>
        <p:txBody>
          <a:bodyPr wrap="square" lIns="0" tIns="0" rIns="0" bIns="0" rtlCol="0" anchor="t"/>
          <a:lstStyle/>
          <a:p>
            <a:pPr indent="0" marL="0">
              <a:buNone/>
            </a:pPr>
            <a:r>
              <a:rPr lang="en-US" sz="1500" dirty="0">
                <a:solidFill>
                  <a:srgbClr val="68736D"/>
                </a:solidFill>
                <a:latin typeface="Arial" pitchFamily="34" charset="0"/>
                <a:ea typeface="Arial" pitchFamily="34" charset="-122"/>
                <a:cs typeface="Arial" pitchFamily="34" charset="-120"/>
              </a:rPr>
              <a:t>Spring 2019</a:t>
            </a:r>
            <a:endParaRPr lang="en-US" sz="1500" dirty="0"/>
          </a:p>
        </p:txBody>
      </p:sp>
      <p:sp>
        <p:nvSpPr>
          <p:cNvPr id="5" name="Shape 3"/>
          <p:cNvSpPr/>
          <p:nvPr/>
        </p:nvSpPr>
        <p:spPr>
          <a:xfrm>
            <a:off x="2560320" y="1874520"/>
            <a:ext cx="1965960" cy="1051560"/>
          </a:xfrm>
          <a:prstGeom prst="rect">
            <a:avLst/>
          </a:prstGeom>
          <a:solidFill>
            <a:srgbClr val="FFFFFF"/>
          </a:solidFill>
          <a:ln w="15875">
            <a:solidFill>
              <a:srgbClr val="B9C1BC"/>
            </a:solidFill>
            <a:prstDash val="solid"/>
          </a:ln>
        </p:spPr>
      </p:sp>
      <p:sp>
        <p:nvSpPr>
          <p:cNvPr id="6" name="Text 4"/>
          <p:cNvSpPr txBox="1"/>
          <p:nvPr/>
        </p:nvSpPr>
        <p:spPr>
          <a:xfrm>
            <a:off x="2697480" y="1984248"/>
            <a:ext cx="1691640" cy="548640"/>
          </a:xfrm>
          <a:prstGeom prst="rect">
            <a:avLst/>
          </a:prstGeom>
          <a:noFill/>
          <a:ln/>
        </p:spPr>
        <p:txBody>
          <a:bodyPr wrap="square" lIns="0" tIns="0" rIns="0" bIns="0" rtlCol="0" anchor="t"/>
          <a:lstStyle/>
          <a:p>
            <a:pPr indent="0" marL="0">
              <a:buNone/>
            </a:pPr>
            <a:r>
              <a:rPr lang="en-US" sz="1600" b="1" dirty="0">
                <a:solidFill>
                  <a:srgbClr val="202723"/>
                </a:solidFill>
                <a:latin typeface="Arial" pitchFamily="34" charset="0"/>
                <a:ea typeface="Arial" pitchFamily="34" charset="-122"/>
                <a:cs typeface="Arial" pitchFamily="34" charset="-120"/>
              </a:rPr>
              <a:t>Source versions</a:t>
            </a:r>
            <a:endParaRPr lang="en-US" sz="1600" dirty="0"/>
          </a:p>
        </p:txBody>
      </p:sp>
      <p:sp>
        <p:nvSpPr>
          <p:cNvPr id="7" name="Text 5"/>
          <p:cNvSpPr txBox="1"/>
          <p:nvPr/>
        </p:nvSpPr>
        <p:spPr>
          <a:xfrm>
            <a:off x="2697480" y="2624328"/>
            <a:ext cx="1691640" cy="228600"/>
          </a:xfrm>
          <a:prstGeom prst="rect">
            <a:avLst/>
          </a:prstGeom>
          <a:noFill/>
          <a:ln/>
        </p:spPr>
        <p:txBody>
          <a:bodyPr wrap="square" lIns="0" tIns="0" rIns="0" bIns="0" rtlCol="0" anchor="t"/>
          <a:lstStyle/>
          <a:p>
            <a:pPr indent="0" marL="0">
              <a:buNone/>
            </a:pPr>
            <a:r>
              <a:rPr lang="en-US" sz="1300" dirty="0">
                <a:solidFill>
                  <a:srgbClr val="68736D"/>
                </a:solidFill>
                <a:latin typeface="Arial" pitchFamily="34" charset="0"/>
                <a:ea typeface="Arial" pitchFamily="34" charset="-122"/>
                <a:cs typeface="Arial" pitchFamily="34" charset="-120"/>
              </a:rPr>
              <a:t>pinned inputs</a:t>
            </a:r>
            <a:endParaRPr lang="en-US" sz="1300" dirty="0"/>
          </a:p>
        </p:txBody>
      </p:sp>
      <p:sp>
        <p:nvSpPr>
          <p:cNvPr id="8" name="Shape 6"/>
          <p:cNvSpPr/>
          <p:nvPr/>
        </p:nvSpPr>
        <p:spPr>
          <a:xfrm>
            <a:off x="4572000" y="2400300"/>
            <a:ext cx="314858" cy="0"/>
          </a:xfrm>
          <a:prstGeom prst="line">
            <a:avLst/>
          </a:prstGeom>
          <a:noFill/>
          <a:ln w="19050">
            <a:solidFill>
              <a:srgbClr val="294D3C"/>
            </a:solidFill>
            <a:prstDash val="solid"/>
            <a:tailEnd type="triangle"/>
          </a:ln>
        </p:spPr>
      </p:sp>
      <p:sp>
        <p:nvSpPr>
          <p:cNvPr id="9" name="Shape 7"/>
          <p:cNvSpPr/>
          <p:nvPr/>
        </p:nvSpPr>
        <p:spPr>
          <a:xfrm>
            <a:off x="4932578" y="1874520"/>
            <a:ext cx="1965960" cy="1051560"/>
          </a:xfrm>
          <a:prstGeom prst="rect">
            <a:avLst/>
          </a:prstGeom>
          <a:solidFill>
            <a:srgbClr val="FFFFFF"/>
          </a:solidFill>
          <a:ln w="15875">
            <a:solidFill>
              <a:srgbClr val="B9C1BC"/>
            </a:solidFill>
            <a:prstDash val="solid"/>
          </a:ln>
        </p:spPr>
      </p:sp>
      <p:sp>
        <p:nvSpPr>
          <p:cNvPr id="10" name="Text 8"/>
          <p:cNvSpPr txBox="1"/>
          <p:nvPr/>
        </p:nvSpPr>
        <p:spPr>
          <a:xfrm>
            <a:off x="5069738" y="1984248"/>
            <a:ext cx="1691640" cy="548640"/>
          </a:xfrm>
          <a:prstGeom prst="rect">
            <a:avLst/>
          </a:prstGeom>
          <a:noFill/>
          <a:ln/>
        </p:spPr>
        <p:txBody>
          <a:bodyPr wrap="square" lIns="0" tIns="0" rIns="0" bIns="0" rtlCol="0" anchor="t"/>
          <a:lstStyle/>
          <a:p>
            <a:pPr indent="0" marL="0">
              <a:buNone/>
            </a:pPr>
            <a:r>
              <a:rPr lang="en-US" sz="1600" b="1" dirty="0">
                <a:solidFill>
                  <a:srgbClr val="202723"/>
                </a:solidFill>
                <a:latin typeface="Arial" pitchFamily="34" charset="0"/>
                <a:ea typeface="Arial" pitchFamily="34" charset="-122"/>
                <a:cs typeface="Arial" pitchFamily="34" charset="-120"/>
              </a:rPr>
              <a:t>Saved recipe</a:t>
            </a:r>
            <a:endParaRPr lang="en-US" sz="1600" dirty="0"/>
          </a:p>
        </p:txBody>
      </p:sp>
      <p:sp>
        <p:nvSpPr>
          <p:cNvPr id="11" name="Text 9"/>
          <p:cNvSpPr txBox="1"/>
          <p:nvPr/>
        </p:nvSpPr>
        <p:spPr>
          <a:xfrm>
            <a:off x="5069738" y="2624328"/>
            <a:ext cx="1691640" cy="228600"/>
          </a:xfrm>
          <a:prstGeom prst="rect">
            <a:avLst/>
          </a:prstGeom>
          <a:noFill/>
          <a:ln/>
        </p:spPr>
        <p:txBody>
          <a:bodyPr wrap="square" lIns="0" tIns="0" rIns="0" bIns="0" rtlCol="0" anchor="t"/>
          <a:lstStyle/>
          <a:p>
            <a:pPr indent="0" marL="0">
              <a:buNone/>
            </a:pPr>
            <a:r>
              <a:rPr lang="en-US" sz="1300" dirty="0">
                <a:solidFill>
                  <a:srgbClr val="68736D"/>
                </a:solidFill>
                <a:latin typeface="Arial" pitchFamily="34" charset="0"/>
                <a:ea typeface="Arial" pitchFamily="34" charset="-122"/>
                <a:cs typeface="Arial" pitchFamily="34" charset="-120"/>
              </a:rPr>
              <a:t>recipe v1</a:t>
            </a:r>
            <a:endParaRPr lang="en-US" sz="1300" dirty="0"/>
          </a:p>
        </p:txBody>
      </p:sp>
      <p:sp>
        <p:nvSpPr>
          <p:cNvPr id="12" name="Shape 10"/>
          <p:cNvSpPr/>
          <p:nvPr/>
        </p:nvSpPr>
        <p:spPr>
          <a:xfrm>
            <a:off x="6944258" y="2400300"/>
            <a:ext cx="314858" cy="0"/>
          </a:xfrm>
          <a:prstGeom prst="line">
            <a:avLst/>
          </a:prstGeom>
          <a:noFill/>
          <a:ln w="19050">
            <a:solidFill>
              <a:srgbClr val="294D3C"/>
            </a:solidFill>
            <a:prstDash val="solid"/>
            <a:tailEnd type="triangle"/>
          </a:ln>
        </p:spPr>
      </p:sp>
      <p:sp>
        <p:nvSpPr>
          <p:cNvPr id="13" name="Shape 11"/>
          <p:cNvSpPr/>
          <p:nvPr/>
        </p:nvSpPr>
        <p:spPr>
          <a:xfrm>
            <a:off x="7304837" y="1874520"/>
            <a:ext cx="1965960" cy="1051560"/>
          </a:xfrm>
          <a:prstGeom prst="rect">
            <a:avLst/>
          </a:prstGeom>
          <a:solidFill>
            <a:srgbClr val="FFFFFF"/>
          </a:solidFill>
          <a:ln w="15875">
            <a:solidFill>
              <a:srgbClr val="B9C1BC"/>
            </a:solidFill>
            <a:prstDash val="solid"/>
          </a:ln>
        </p:spPr>
      </p:sp>
      <p:sp>
        <p:nvSpPr>
          <p:cNvPr id="14" name="Text 12"/>
          <p:cNvSpPr txBox="1"/>
          <p:nvPr/>
        </p:nvSpPr>
        <p:spPr>
          <a:xfrm>
            <a:off x="7441997" y="1984248"/>
            <a:ext cx="1691640" cy="548640"/>
          </a:xfrm>
          <a:prstGeom prst="rect">
            <a:avLst/>
          </a:prstGeom>
          <a:noFill/>
          <a:ln/>
        </p:spPr>
        <p:txBody>
          <a:bodyPr wrap="square" lIns="0" tIns="0" rIns="0" bIns="0" rtlCol="0" anchor="t"/>
          <a:lstStyle/>
          <a:p>
            <a:pPr indent="0" marL="0">
              <a:buNone/>
            </a:pPr>
            <a:r>
              <a:rPr lang="en-US" sz="1600" b="1" dirty="0">
                <a:solidFill>
                  <a:srgbClr val="202723"/>
                </a:solidFill>
                <a:latin typeface="Arial" pitchFamily="34" charset="0"/>
                <a:ea typeface="Arial" pitchFamily="34" charset="-122"/>
                <a:cs typeface="Arial" pitchFamily="34" charset="-120"/>
              </a:rPr>
              <a:t>Prepared dataset</a:t>
            </a:r>
            <a:endParaRPr lang="en-US" sz="1600" dirty="0"/>
          </a:p>
        </p:txBody>
      </p:sp>
      <p:sp>
        <p:nvSpPr>
          <p:cNvPr id="15" name="Text 13"/>
          <p:cNvSpPr txBox="1"/>
          <p:nvPr/>
        </p:nvSpPr>
        <p:spPr>
          <a:xfrm>
            <a:off x="7441997" y="2624328"/>
            <a:ext cx="1691640" cy="228600"/>
          </a:xfrm>
          <a:prstGeom prst="rect">
            <a:avLst/>
          </a:prstGeom>
          <a:noFill/>
          <a:ln/>
        </p:spPr>
        <p:txBody>
          <a:bodyPr wrap="square" lIns="0" tIns="0" rIns="0" bIns="0" rtlCol="0" anchor="t"/>
          <a:lstStyle/>
          <a:p>
            <a:pPr indent="0" marL="0">
              <a:buNone/>
            </a:pPr>
            <a:r>
              <a:rPr lang="en-US" sz="1300" dirty="0">
                <a:solidFill>
                  <a:srgbClr val="68736D"/>
                </a:solidFill>
                <a:latin typeface="Arial" pitchFamily="34" charset="0"/>
                <a:ea typeface="Arial" pitchFamily="34" charset="-122"/>
                <a:cs typeface="Arial" pitchFamily="34" charset="-120"/>
              </a:rPr>
              <a:t>Parquet artifact</a:t>
            </a:r>
            <a:endParaRPr lang="en-US" sz="1300" dirty="0"/>
          </a:p>
        </p:txBody>
      </p:sp>
      <p:sp>
        <p:nvSpPr>
          <p:cNvPr id="16" name="Shape 14"/>
          <p:cNvSpPr/>
          <p:nvPr/>
        </p:nvSpPr>
        <p:spPr>
          <a:xfrm>
            <a:off x="9316517" y="2400300"/>
            <a:ext cx="314858" cy="0"/>
          </a:xfrm>
          <a:prstGeom prst="line">
            <a:avLst/>
          </a:prstGeom>
          <a:noFill/>
          <a:ln w="19050">
            <a:solidFill>
              <a:srgbClr val="294D3C"/>
            </a:solidFill>
            <a:prstDash val="solid"/>
            <a:tailEnd type="triangle"/>
          </a:ln>
        </p:spPr>
      </p:sp>
      <p:sp>
        <p:nvSpPr>
          <p:cNvPr id="17" name="Shape 15"/>
          <p:cNvSpPr/>
          <p:nvPr/>
        </p:nvSpPr>
        <p:spPr>
          <a:xfrm>
            <a:off x="9677095" y="1874520"/>
            <a:ext cx="1965960" cy="1051560"/>
          </a:xfrm>
          <a:prstGeom prst="rect">
            <a:avLst/>
          </a:prstGeom>
          <a:solidFill>
            <a:srgbClr val="E8ECE9"/>
          </a:solidFill>
          <a:ln w="15875">
            <a:solidFill>
              <a:srgbClr val="294D3C"/>
            </a:solidFill>
            <a:prstDash val="solid"/>
          </a:ln>
        </p:spPr>
      </p:sp>
      <p:sp>
        <p:nvSpPr>
          <p:cNvPr id="18" name="Text 16"/>
          <p:cNvSpPr txBox="1"/>
          <p:nvPr/>
        </p:nvSpPr>
        <p:spPr>
          <a:xfrm>
            <a:off x="9814255" y="1984248"/>
            <a:ext cx="1691640" cy="548640"/>
          </a:xfrm>
          <a:prstGeom prst="rect">
            <a:avLst/>
          </a:prstGeom>
          <a:noFill/>
          <a:ln/>
        </p:spPr>
        <p:txBody>
          <a:bodyPr wrap="square" lIns="0" tIns="0" rIns="0" bIns="0" rtlCol="0" anchor="t"/>
          <a:lstStyle/>
          <a:p>
            <a:pPr indent="0" marL="0">
              <a:buNone/>
            </a:pPr>
            <a:r>
              <a:rPr lang="en-US" sz="1600" b="1" dirty="0">
                <a:solidFill>
                  <a:srgbClr val="294D3C"/>
                </a:solidFill>
                <a:latin typeface="Arial" pitchFamily="34" charset="0"/>
                <a:ea typeface="Arial" pitchFamily="34" charset="-122"/>
                <a:cs typeface="Arial" pitchFamily="34" charset="-120"/>
              </a:rPr>
              <a:t>Result</a:t>
            </a:r>
            <a:endParaRPr lang="en-US" sz="1600" dirty="0"/>
          </a:p>
        </p:txBody>
      </p:sp>
      <p:sp>
        <p:nvSpPr>
          <p:cNvPr id="19" name="Text 17"/>
          <p:cNvSpPr txBox="1"/>
          <p:nvPr/>
        </p:nvSpPr>
        <p:spPr>
          <a:xfrm>
            <a:off x="9814255" y="2624328"/>
            <a:ext cx="1691640" cy="228600"/>
          </a:xfrm>
          <a:prstGeom prst="rect">
            <a:avLst/>
          </a:prstGeom>
          <a:noFill/>
          <a:ln/>
        </p:spPr>
        <p:txBody>
          <a:bodyPr wrap="square" lIns="0" tIns="0" rIns="0" bIns="0" rtlCol="0" anchor="t"/>
          <a:lstStyle/>
          <a:p>
            <a:pPr indent="0" marL="0">
              <a:buNone/>
            </a:pPr>
            <a:r>
              <a:rPr lang="en-US" sz="1300" dirty="0">
                <a:solidFill>
                  <a:srgbClr val="B68638"/>
                </a:solidFill>
                <a:latin typeface="Arial" pitchFamily="34" charset="0"/>
                <a:ea typeface="Arial" pitchFamily="34" charset="-122"/>
                <a:cs typeface="Arial" pitchFamily="34" charset="-120"/>
              </a:rPr>
              <a:t>result v1 · kept</a:t>
            </a:r>
            <a:endParaRPr lang="en-US" sz="1300" dirty="0"/>
          </a:p>
        </p:txBody>
      </p:sp>
      <p:sp>
        <p:nvSpPr>
          <p:cNvPr id="20" name="Text 18"/>
          <p:cNvSpPr txBox="1"/>
          <p:nvPr/>
        </p:nvSpPr>
        <p:spPr>
          <a:xfrm>
            <a:off x="548640" y="4023360"/>
            <a:ext cx="1828800" cy="365760"/>
          </a:xfrm>
          <a:prstGeom prst="rect">
            <a:avLst/>
          </a:prstGeom>
          <a:noFill/>
          <a:ln/>
        </p:spPr>
        <p:txBody>
          <a:bodyPr wrap="square" lIns="0" tIns="0" rIns="0" bIns="0" rtlCol="0" anchor="t"/>
          <a:lstStyle/>
          <a:p>
            <a:pPr indent="0" marL="0">
              <a:buNone/>
            </a:pPr>
            <a:r>
              <a:rPr lang="en-US" sz="2000" b="1" dirty="0">
                <a:solidFill>
                  <a:srgbClr val="202723"/>
                </a:solidFill>
                <a:latin typeface="Arial" pitchFamily="34" charset="0"/>
                <a:ea typeface="Arial" pitchFamily="34" charset="-122"/>
                <a:cs typeface="Arial" pitchFamily="34" charset="-120"/>
              </a:rPr>
              <a:t>Later analysis</a:t>
            </a:r>
            <a:endParaRPr lang="en-US" sz="2000" dirty="0"/>
          </a:p>
        </p:txBody>
      </p:sp>
      <p:sp>
        <p:nvSpPr>
          <p:cNvPr id="21" name="Text 19"/>
          <p:cNvSpPr txBox="1"/>
          <p:nvPr/>
        </p:nvSpPr>
        <p:spPr>
          <a:xfrm>
            <a:off x="548640" y="4361688"/>
            <a:ext cx="1828800" cy="274320"/>
          </a:xfrm>
          <a:prstGeom prst="rect">
            <a:avLst/>
          </a:prstGeom>
          <a:noFill/>
          <a:ln/>
        </p:spPr>
        <p:txBody>
          <a:bodyPr wrap="square" lIns="0" tIns="0" rIns="0" bIns="0" rtlCol="0" anchor="t"/>
          <a:lstStyle/>
          <a:p>
            <a:pPr indent="0" marL="0">
              <a:buNone/>
            </a:pPr>
            <a:r>
              <a:rPr lang="en-US" sz="1500" dirty="0">
                <a:solidFill>
                  <a:srgbClr val="68736D"/>
                </a:solidFill>
                <a:latin typeface="Arial" pitchFamily="34" charset="0"/>
                <a:ea typeface="Arial" pitchFamily="34" charset="-122"/>
                <a:cs typeface="Arial" pitchFamily="34" charset="-120"/>
              </a:rPr>
              <a:t>New observations</a:t>
            </a:r>
            <a:endParaRPr lang="en-US" sz="1500" dirty="0"/>
          </a:p>
        </p:txBody>
      </p:sp>
      <p:sp>
        <p:nvSpPr>
          <p:cNvPr id="22" name="Shape 20"/>
          <p:cNvSpPr/>
          <p:nvPr/>
        </p:nvSpPr>
        <p:spPr>
          <a:xfrm>
            <a:off x="2560320" y="3886200"/>
            <a:ext cx="1965960" cy="1051560"/>
          </a:xfrm>
          <a:prstGeom prst="rect">
            <a:avLst/>
          </a:prstGeom>
          <a:solidFill>
            <a:srgbClr val="FFFFFF"/>
          </a:solidFill>
          <a:ln w="15875">
            <a:solidFill>
              <a:srgbClr val="B9C1BC"/>
            </a:solidFill>
            <a:prstDash val="solid"/>
          </a:ln>
        </p:spPr>
      </p:sp>
      <p:sp>
        <p:nvSpPr>
          <p:cNvPr id="23" name="Text 21"/>
          <p:cNvSpPr txBox="1"/>
          <p:nvPr/>
        </p:nvSpPr>
        <p:spPr>
          <a:xfrm>
            <a:off x="2697480" y="3995928"/>
            <a:ext cx="1691640" cy="548640"/>
          </a:xfrm>
          <a:prstGeom prst="rect">
            <a:avLst/>
          </a:prstGeom>
          <a:noFill/>
          <a:ln/>
        </p:spPr>
        <p:txBody>
          <a:bodyPr wrap="square" lIns="0" tIns="0" rIns="0" bIns="0" rtlCol="0" anchor="t"/>
          <a:lstStyle/>
          <a:p>
            <a:pPr indent="0" marL="0">
              <a:buNone/>
            </a:pPr>
            <a:r>
              <a:rPr lang="en-US" sz="1600" b="1" dirty="0">
                <a:solidFill>
                  <a:srgbClr val="202723"/>
                </a:solidFill>
                <a:latin typeface="Arial" pitchFamily="34" charset="0"/>
                <a:ea typeface="Arial" pitchFamily="34" charset="-122"/>
                <a:cs typeface="Arial" pitchFamily="34" charset="-120"/>
              </a:rPr>
              <a:t>Updated observations</a:t>
            </a:r>
            <a:endParaRPr lang="en-US" sz="1600" dirty="0"/>
          </a:p>
        </p:txBody>
      </p:sp>
      <p:sp>
        <p:nvSpPr>
          <p:cNvPr id="24" name="Text 22"/>
          <p:cNvSpPr txBox="1"/>
          <p:nvPr/>
        </p:nvSpPr>
        <p:spPr>
          <a:xfrm>
            <a:off x="2697480" y="4636008"/>
            <a:ext cx="1691640" cy="228600"/>
          </a:xfrm>
          <a:prstGeom prst="rect">
            <a:avLst/>
          </a:prstGeom>
          <a:noFill/>
          <a:ln/>
        </p:spPr>
        <p:txBody>
          <a:bodyPr wrap="square" lIns="0" tIns="0" rIns="0" bIns="0" rtlCol="0" anchor="t"/>
          <a:lstStyle/>
          <a:p>
            <a:pPr indent="0" marL="0">
              <a:buNone/>
            </a:pPr>
            <a:r>
              <a:rPr lang="en-US" sz="1300" dirty="0">
                <a:solidFill>
                  <a:srgbClr val="68736D"/>
                </a:solidFill>
                <a:latin typeface="Arial" pitchFamily="34" charset="0"/>
                <a:ea typeface="Arial" pitchFamily="34" charset="-122"/>
                <a:cs typeface="Arial" pitchFamily="34" charset="-120"/>
              </a:rPr>
              <a:t>new source versions</a:t>
            </a:r>
            <a:endParaRPr lang="en-US" sz="1300" dirty="0"/>
          </a:p>
        </p:txBody>
      </p:sp>
      <p:sp>
        <p:nvSpPr>
          <p:cNvPr id="25" name="Shape 23"/>
          <p:cNvSpPr/>
          <p:nvPr/>
        </p:nvSpPr>
        <p:spPr>
          <a:xfrm>
            <a:off x="4932578" y="3886200"/>
            <a:ext cx="1965960" cy="1051560"/>
          </a:xfrm>
          <a:prstGeom prst="rect">
            <a:avLst/>
          </a:prstGeom>
          <a:solidFill>
            <a:srgbClr val="FFFFFF"/>
          </a:solidFill>
          <a:ln w="15875">
            <a:solidFill>
              <a:srgbClr val="B9C1BC"/>
            </a:solidFill>
            <a:prstDash val="solid"/>
          </a:ln>
        </p:spPr>
      </p:sp>
      <p:sp>
        <p:nvSpPr>
          <p:cNvPr id="26" name="Text 24"/>
          <p:cNvSpPr txBox="1"/>
          <p:nvPr/>
        </p:nvSpPr>
        <p:spPr>
          <a:xfrm>
            <a:off x="5069738" y="3995928"/>
            <a:ext cx="1691640" cy="548640"/>
          </a:xfrm>
          <a:prstGeom prst="rect">
            <a:avLst/>
          </a:prstGeom>
          <a:noFill/>
          <a:ln/>
        </p:spPr>
        <p:txBody>
          <a:bodyPr wrap="square" lIns="0" tIns="0" rIns="0" bIns="0" rtlCol="0" anchor="t"/>
          <a:lstStyle/>
          <a:p>
            <a:pPr indent="0" marL="0">
              <a:buNone/>
            </a:pPr>
            <a:r>
              <a:rPr lang="en-US" sz="1600" b="1" dirty="0">
                <a:solidFill>
                  <a:srgbClr val="202723"/>
                </a:solidFill>
                <a:latin typeface="Arial" pitchFamily="34" charset="0"/>
                <a:ea typeface="Arial" pitchFamily="34" charset="-122"/>
                <a:cs typeface="Arial" pitchFamily="34" charset="-120"/>
              </a:rPr>
              <a:t>Reused or revised recipe</a:t>
            </a:r>
            <a:endParaRPr lang="en-US" sz="1600" dirty="0"/>
          </a:p>
        </p:txBody>
      </p:sp>
      <p:sp>
        <p:nvSpPr>
          <p:cNvPr id="27" name="Text 25"/>
          <p:cNvSpPr txBox="1"/>
          <p:nvPr/>
        </p:nvSpPr>
        <p:spPr>
          <a:xfrm>
            <a:off x="5069738" y="4636008"/>
            <a:ext cx="1691640" cy="228600"/>
          </a:xfrm>
          <a:prstGeom prst="rect">
            <a:avLst/>
          </a:prstGeom>
          <a:noFill/>
          <a:ln/>
        </p:spPr>
        <p:txBody>
          <a:bodyPr wrap="square" lIns="0" tIns="0" rIns="0" bIns="0" rtlCol="0" anchor="t"/>
          <a:lstStyle/>
          <a:p>
            <a:pPr indent="0" marL="0">
              <a:buNone/>
            </a:pPr>
            <a:r>
              <a:rPr lang="en-US" sz="1300" dirty="0">
                <a:solidFill>
                  <a:srgbClr val="68736D"/>
                </a:solidFill>
                <a:latin typeface="Arial" pitchFamily="34" charset="0"/>
                <a:ea typeface="Arial" pitchFamily="34" charset="-122"/>
                <a:cs typeface="Arial" pitchFamily="34" charset="-120"/>
              </a:rPr>
              <a:t>v1 or v2</a:t>
            </a:r>
            <a:endParaRPr lang="en-US" sz="1300" dirty="0"/>
          </a:p>
        </p:txBody>
      </p:sp>
      <p:sp>
        <p:nvSpPr>
          <p:cNvPr id="28" name="Shape 26"/>
          <p:cNvSpPr/>
          <p:nvPr/>
        </p:nvSpPr>
        <p:spPr>
          <a:xfrm>
            <a:off x="9677095" y="3886200"/>
            <a:ext cx="1965960" cy="1051560"/>
          </a:xfrm>
          <a:prstGeom prst="rect">
            <a:avLst/>
          </a:prstGeom>
          <a:solidFill>
            <a:srgbClr val="E8ECE9"/>
          </a:solidFill>
          <a:ln w="15875">
            <a:solidFill>
              <a:srgbClr val="294D3C"/>
            </a:solidFill>
            <a:prstDash val="solid"/>
          </a:ln>
        </p:spPr>
      </p:sp>
      <p:sp>
        <p:nvSpPr>
          <p:cNvPr id="29" name="Text 27"/>
          <p:cNvSpPr txBox="1"/>
          <p:nvPr/>
        </p:nvSpPr>
        <p:spPr>
          <a:xfrm>
            <a:off x="9814255" y="3995928"/>
            <a:ext cx="1691640" cy="548640"/>
          </a:xfrm>
          <a:prstGeom prst="rect">
            <a:avLst/>
          </a:prstGeom>
          <a:noFill/>
          <a:ln/>
        </p:spPr>
        <p:txBody>
          <a:bodyPr wrap="square" lIns="0" tIns="0" rIns="0" bIns="0" rtlCol="0" anchor="t"/>
          <a:lstStyle/>
          <a:p>
            <a:pPr indent="0" marL="0">
              <a:buNone/>
            </a:pPr>
            <a:r>
              <a:rPr lang="en-US" sz="1600" b="1" dirty="0">
                <a:solidFill>
                  <a:srgbClr val="294D3C"/>
                </a:solidFill>
                <a:latin typeface="Arial" pitchFamily="34" charset="0"/>
                <a:ea typeface="Arial" pitchFamily="34" charset="-122"/>
                <a:cs typeface="Arial" pitchFamily="34" charset="-120"/>
              </a:rPr>
              <a:t>New result</a:t>
            </a:r>
            <a:endParaRPr lang="en-US" sz="1600" dirty="0"/>
          </a:p>
        </p:txBody>
      </p:sp>
      <p:sp>
        <p:nvSpPr>
          <p:cNvPr id="30" name="Text 28"/>
          <p:cNvSpPr txBox="1"/>
          <p:nvPr/>
        </p:nvSpPr>
        <p:spPr>
          <a:xfrm>
            <a:off x="9814255" y="4636008"/>
            <a:ext cx="1691640" cy="228600"/>
          </a:xfrm>
          <a:prstGeom prst="rect">
            <a:avLst/>
          </a:prstGeom>
          <a:noFill/>
          <a:ln/>
        </p:spPr>
        <p:txBody>
          <a:bodyPr wrap="square" lIns="0" tIns="0" rIns="0" bIns="0" rtlCol="0" anchor="t"/>
          <a:lstStyle/>
          <a:p>
            <a:pPr indent="0" marL="0">
              <a:buNone/>
            </a:pPr>
            <a:r>
              <a:rPr lang="en-US" sz="1300" dirty="0">
                <a:solidFill>
                  <a:srgbClr val="68736D"/>
                </a:solidFill>
                <a:latin typeface="Arial" pitchFamily="34" charset="0"/>
                <a:ea typeface="Arial" pitchFamily="34" charset="-122"/>
                <a:cs typeface="Arial" pitchFamily="34" charset="-120"/>
              </a:rPr>
              <a:t>result v2</a:t>
            </a:r>
            <a:endParaRPr lang="en-US" sz="1300" dirty="0"/>
          </a:p>
        </p:txBody>
      </p:sp>
      <p:sp>
        <p:nvSpPr>
          <p:cNvPr id="31" name="Shape 29"/>
          <p:cNvSpPr/>
          <p:nvPr/>
        </p:nvSpPr>
        <p:spPr>
          <a:xfrm>
            <a:off x="4572000" y="4411980"/>
            <a:ext cx="314858" cy="0"/>
          </a:xfrm>
          <a:prstGeom prst="line">
            <a:avLst/>
          </a:prstGeom>
          <a:noFill/>
          <a:ln w="19050">
            <a:solidFill>
              <a:srgbClr val="294D3C"/>
            </a:solidFill>
            <a:prstDash val="solid"/>
            <a:tailEnd type="triangle"/>
          </a:ln>
        </p:spPr>
      </p:sp>
      <p:sp>
        <p:nvSpPr>
          <p:cNvPr id="32" name="Shape 30"/>
          <p:cNvSpPr/>
          <p:nvPr/>
        </p:nvSpPr>
        <p:spPr>
          <a:xfrm>
            <a:off x="6944258" y="4411980"/>
            <a:ext cx="2687117" cy="0"/>
          </a:xfrm>
          <a:prstGeom prst="line">
            <a:avLst/>
          </a:prstGeom>
          <a:noFill/>
          <a:ln w="19050">
            <a:solidFill>
              <a:srgbClr val="294D3C"/>
            </a:solidFill>
            <a:prstDash val="solid"/>
            <a:tailEnd type="triangle"/>
          </a:ln>
        </p:spPr>
      </p:sp>
      <p:sp>
        <p:nvSpPr>
          <p:cNvPr id="33" name="Text 31"/>
          <p:cNvSpPr txBox="1"/>
          <p:nvPr/>
        </p:nvSpPr>
        <p:spPr>
          <a:xfrm>
            <a:off x="7396277" y="4073652"/>
            <a:ext cx="1783080" cy="256032"/>
          </a:xfrm>
          <a:prstGeom prst="rect">
            <a:avLst/>
          </a:prstGeom>
          <a:noFill/>
          <a:ln/>
        </p:spPr>
        <p:txBody>
          <a:bodyPr wrap="square" lIns="0" tIns="0" rIns="0" bIns="0" rtlCol="0" anchor="t"/>
          <a:lstStyle/>
          <a:p>
            <a:pPr algn="ctr" indent="0" marL="0">
              <a:buNone/>
            </a:pPr>
            <a:r>
              <a:rPr lang="en-US" sz="1300" dirty="0">
                <a:solidFill>
                  <a:srgbClr val="68736D"/>
                </a:solidFill>
                <a:latin typeface="Arial" pitchFamily="34" charset="0"/>
                <a:ea typeface="Arial" pitchFamily="34" charset="-122"/>
                <a:cs typeface="Arial" pitchFamily="34" charset="-120"/>
              </a:rPr>
              <a:t>new prepared dataset</a:t>
            </a:r>
            <a:endParaRPr lang="en-US" sz="1300" dirty="0"/>
          </a:p>
        </p:txBody>
      </p:sp>
      <p:sp>
        <p:nvSpPr>
          <p:cNvPr id="34" name="Shape 32"/>
          <p:cNvSpPr/>
          <p:nvPr/>
        </p:nvSpPr>
        <p:spPr>
          <a:xfrm>
            <a:off x="5915558" y="2971800"/>
            <a:ext cx="0" cy="868680"/>
          </a:xfrm>
          <a:prstGeom prst="line">
            <a:avLst/>
          </a:prstGeom>
          <a:noFill/>
          <a:ln w="15875">
            <a:solidFill>
              <a:srgbClr val="68736D"/>
            </a:solidFill>
            <a:prstDash val="dash"/>
            <a:tailEnd type="triangle"/>
          </a:ln>
        </p:spPr>
      </p:sp>
      <p:sp>
        <p:nvSpPr>
          <p:cNvPr id="35" name="Text 33"/>
          <p:cNvSpPr txBox="1"/>
          <p:nvPr/>
        </p:nvSpPr>
        <p:spPr>
          <a:xfrm>
            <a:off x="6025286" y="3291840"/>
            <a:ext cx="2194560" cy="274320"/>
          </a:xfrm>
          <a:prstGeom prst="rect">
            <a:avLst/>
          </a:prstGeom>
          <a:noFill/>
          <a:ln/>
        </p:spPr>
        <p:txBody>
          <a:bodyPr wrap="square" lIns="0" tIns="0" rIns="0" bIns="0" rtlCol="0" anchor="t"/>
          <a:lstStyle/>
          <a:p>
            <a:pPr indent="0" marL="0">
              <a:buNone/>
            </a:pPr>
            <a:r>
              <a:rPr lang="en-US" sz="1300" dirty="0">
                <a:solidFill>
                  <a:srgbClr val="68736D"/>
                </a:solidFill>
                <a:latin typeface="Arial" pitchFamily="34" charset="0"/>
                <a:ea typeface="Arial" pitchFamily="34" charset="-122"/>
                <a:cs typeface="Arial" pitchFamily="34" charset="-120"/>
              </a:rPr>
              <a:t>reuse when compatible</a:t>
            </a:r>
            <a:endParaRPr lang="en-US" sz="1300" dirty="0"/>
          </a:p>
        </p:txBody>
      </p:sp>
      <p:sp>
        <p:nvSpPr>
          <p:cNvPr id="36" name="Shape 34"/>
          <p:cNvSpPr/>
          <p:nvPr/>
        </p:nvSpPr>
        <p:spPr>
          <a:xfrm>
            <a:off x="10660075" y="2971800"/>
            <a:ext cx="0" cy="868680"/>
          </a:xfrm>
          <a:prstGeom prst="line">
            <a:avLst/>
          </a:prstGeom>
          <a:noFill/>
          <a:ln w="15875">
            <a:solidFill>
              <a:srgbClr val="B9C1BC"/>
            </a:solidFill>
            <a:prstDash val="sysDot"/>
          </a:ln>
        </p:spPr>
      </p:sp>
      <p:sp>
        <p:nvSpPr>
          <p:cNvPr id="37" name="Text 35"/>
          <p:cNvSpPr txBox="1"/>
          <p:nvPr/>
        </p:nvSpPr>
        <p:spPr>
          <a:xfrm>
            <a:off x="8538667" y="3291840"/>
            <a:ext cx="2011680" cy="274320"/>
          </a:xfrm>
          <a:prstGeom prst="rect">
            <a:avLst/>
          </a:prstGeom>
          <a:noFill/>
          <a:ln/>
        </p:spPr>
        <p:txBody>
          <a:bodyPr wrap="square" lIns="0" tIns="0" rIns="0" bIns="0" rtlCol="0" anchor="t"/>
          <a:lstStyle/>
          <a:p>
            <a:pPr algn="r" indent="0" marL="0">
              <a:buNone/>
            </a:pPr>
            <a:r>
              <a:rPr lang="en-US" sz="1300" dirty="0">
                <a:solidFill>
                  <a:srgbClr val="68736D"/>
                </a:solidFill>
                <a:latin typeface="Arial" pitchFamily="34" charset="0"/>
                <a:ea typeface="Arial" pitchFamily="34" charset="-122"/>
                <a:cs typeface="Arial" pitchFamily="34" charset="-120"/>
              </a:rPr>
              <a:t>both stay identifiable</a:t>
            </a:r>
            <a:endParaRPr lang="en-US" sz="1300" dirty="0"/>
          </a:p>
        </p:txBody>
      </p:sp>
      <p:sp>
        <p:nvSpPr>
          <p:cNvPr id="38" name="Text 36"/>
          <p:cNvSpPr txBox="1"/>
          <p:nvPr/>
        </p:nvSpPr>
        <p:spPr>
          <a:xfrm>
            <a:off x="548640" y="5440680"/>
            <a:ext cx="11094415" cy="457200"/>
          </a:xfrm>
          <a:prstGeom prst="rect">
            <a:avLst/>
          </a:prstGeom>
          <a:noFill/>
          <a:ln/>
        </p:spPr>
        <p:txBody>
          <a:bodyPr wrap="square" lIns="0" tIns="0" rIns="0" bIns="0" rtlCol="0" anchor="t"/>
          <a:lstStyle/>
          <a:p>
            <a:pPr indent="0" marL="0">
              <a:buNone/>
            </a:pPr>
            <a:r>
              <a:rPr lang="en-US" sz="2600" b="1" dirty="0">
                <a:solidFill>
                  <a:srgbClr val="294D3C"/>
                </a:solidFill>
                <a:latin typeface="Arial" pitchFamily="34" charset="0"/>
                <a:ea typeface="Arial" pitchFamily="34" charset="-122"/>
                <a:cs typeface="Arial" pitchFamily="34" charset="-120"/>
              </a:rPr>
              <a:t>New observations extend the study without erasing its history.</a:t>
            </a:r>
            <a:endParaRPr lang="en-US" sz="2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8736D"/>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t"/>
          <a:lstStyle/>
          <a:p>
            <a:pPr algn="l" indent="0" marL="0">
              <a:buNone/>
            </a:pPr>
            <a:r>
              <a:rPr lang="en-US" sz="3600" b="1" dirty="0">
                <a:solidFill>
                  <a:srgbClr val="202723"/>
                </a:solidFill>
                <a:latin typeface="Arial" pitchFamily="34" charset="0"/>
                <a:ea typeface="Arial" pitchFamily="34" charset="-122"/>
                <a:cs typeface="Arial" pitchFamily="34" charset="-120"/>
              </a:rPr>
              <a:t>The workflow extends beyond animal tracking</a:t>
            </a:r>
            <a:endParaRPr lang="en-US" sz="3600" dirty="0"/>
          </a:p>
        </p:txBody>
      </p:sp>
      <p:sp>
        <p:nvSpPr>
          <p:cNvPr id="3" name="Text 1"/>
          <p:cNvSpPr txBox="1"/>
          <p:nvPr/>
        </p:nvSpPr>
        <p:spPr>
          <a:xfrm>
            <a:off x="548640" y="1508760"/>
            <a:ext cx="3393338" cy="274320"/>
          </a:xfrm>
          <a:prstGeom prst="rect">
            <a:avLst/>
          </a:prstGeom>
          <a:noFill/>
          <a:ln/>
        </p:spPr>
        <p:txBody>
          <a:bodyPr wrap="square" lIns="0" tIns="0" rIns="0" bIns="0" rtlCol="0" anchor="t"/>
          <a:lstStyle/>
          <a:p>
            <a:pPr indent="0" marL="0">
              <a:buNone/>
            </a:pPr>
            <a:r>
              <a:rPr lang="en-US" sz="1400" b="1" spc="200" kern="0" dirty="0">
                <a:solidFill>
                  <a:srgbClr val="294D3C"/>
                </a:solidFill>
                <a:latin typeface="Arial" pitchFamily="34" charset="0"/>
                <a:ea typeface="Arial" pitchFamily="34" charset="-122"/>
                <a:cs typeface="Arial" pitchFamily="34" charset="-120"/>
              </a:rPr>
              <a:t>CURRENT FOCUS</a:t>
            </a:r>
            <a:endParaRPr lang="en-US" sz="1400" dirty="0"/>
          </a:p>
        </p:txBody>
      </p:sp>
      <p:sp>
        <p:nvSpPr>
          <p:cNvPr id="4" name="Text 2"/>
          <p:cNvSpPr txBox="1"/>
          <p:nvPr/>
        </p:nvSpPr>
        <p:spPr>
          <a:xfrm>
            <a:off x="548640" y="3840480"/>
            <a:ext cx="3301898" cy="1097280"/>
          </a:xfrm>
          <a:prstGeom prst="rect">
            <a:avLst/>
          </a:prstGeom>
          <a:noFill/>
          <a:ln/>
        </p:spPr>
        <p:txBody>
          <a:bodyPr wrap="square" lIns="0" tIns="0" rIns="0" bIns="0" rtlCol="0" anchor="t"/>
          <a:lstStyle/>
          <a:p>
            <a:pPr indent="0" marL="0">
              <a:buNone/>
            </a:pPr>
            <a:r>
              <a:rPr lang="en-US" sz="2200" b="1" dirty="0">
                <a:solidFill>
                  <a:srgbClr val="202723"/>
                </a:solidFill>
                <a:latin typeface="Arial" pitchFamily="34" charset="0"/>
                <a:ea typeface="Arial" pitchFamily="34" charset="-122"/>
                <a:cs typeface="Arial" pitchFamily="34" charset="-120"/>
              </a:rPr>
              <a:t>Wildlife movement and environmental conditions</a:t>
            </a:r>
            <a:endParaRPr lang="en-US" sz="2200" dirty="0"/>
          </a:p>
        </p:txBody>
      </p:sp>
      <p:sp>
        <p:nvSpPr>
          <p:cNvPr id="5" name="Text 3"/>
          <p:cNvSpPr txBox="1"/>
          <p:nvPr/>
        </p:nvSpPr>
        <p:spPr>
          <a:xfrm>
            <a:off x="548640" y="5074920"/>
            <a:ext cx="3210458" cy="594360"/>
          </a:xfrm>
          <a:prstGeom prst="rect">
            <a:avLst/>
          </a:prstGeom>
          <a:noFill/>
          <a:ln/>
        </p:spPr>
        <p:txBody>
          <a:bodyPr wrap="square" lIns="0" tIns="0" rIns="0" bIns="0" rtlCol="0" anchor="t"/>
          <a:lstStyle/>
          <a:p>
            <a:pPr indent="0" marL="0">
              <a:buNone/>
            </a:pPr>
            <a:r>
              <a:rPr lang="en-US" sz="1700" dirty="0">
                <a:solidFill>
                  <a:srgbClr val="68736D"/>
                </a:solidFill>
                <a:latin typeface="Arial" pitchFamily="34" charset="0"/>
                <a:ea typeface="Arial" pitchFamily="34" charset="-122"/>
                <a:cs typeface="Arial" pitchFamily="34" charset="-120"/>
              </a:rPr>
              <a:t>Tracking records with vegetation and rainfall</a:t>
            </a:r>
            <a:endParaRPr lang="en-US" sz="1700" dirty="0"/>
          </a:p>
        </p:txBody>
      </p:sp>
      <p:sp>
        <p:nvSpPr>
          <p:cNvPr id="6" name="Text 4"/>
          <p:cNvSpPr txBox="1"/>
          <p:nvPr/>
        </p:nvSpPr>
        <p:spPr>
          <a:xfrm>
            <a:off x="4399178" y="1508760"/>
            <a:ext cx="3393338" cy="274320"/>
          </a:xfrm>
          <a:prstGeom prst="rect">
            <a:avLst/>
          </a:prstGeom>
          <a:noFill/>
          <a:ln/>
        </p:spPr>
        <p:txBody>
          <a:bodyPr wrap="square" lIns="0" tIns="0" rIns="0" bIns="0" rtlCol="0" anchor="t"/>
          <a:lstStyle/>
          <a:p>
            <a:pPr indent="0" marL="0">
              <a:buNone/>
            </a:pPr>
            <a:r>
              <a:rPr lang="en-US" sz="1400" b="1" spc="200" kern="0" dirty="0">
                <a:solidFill>
                  <a:srgbClr val="202723"/>
                </a:solidFill>
                <a:latin typeface="Arial" pitchFamily="34" charset="0"/>
                <a:ea typeface="Arial" pitchFamily="34" charset="-122"/>
                <a:cs typeface="Arial" pitchFamily="34" charset="-120"/>
              </a:rPr>
              <a:t>SOURCES SUPPORTED</a:t>
            </a:r>
            <a:endParaRPr lang="en-US" sz="1400" dirty="0"/>
          </a:p>
        </p:txBody>
      </p:sp>
      <p:sp>
        <p:nvSpPr>
          <p:cNvPr id="7" name="Text 5"/>
          <p:cNvSpPr txBox="1"/>
          <p:nvPr/>
        </p:nvSpPr>
        <p:spPr>
          <a:xfrm>
            <a:off x="4399178" y="3840480"/>
            <a:ext cx="3301898" cy="1097280"/>
          </a:xfrm>
          <a:prstGeom prst="rect">
            <a:avLst/>
          </a:prstGeom>
          <a:noFill/>
          <a:ln/>
        </p:spPr>
        <p:txBody>
          <a:bodyPr wrap="square" lIns="0" tIns="0" rIns="0" bIns="0" rtlCol="0" anchor="t"/>
          <a:lstStyle/>
          <a:p>
            <a:pPr indent="0" marL="0">
              <a:buNone/>
            </a:pPr>
            <a:r>
              <a:rPr lang="en-US" sz="2200" b="1" dirty="0">
                <a:solidFill>
                  <a:srgbClr val="202723"/>
                </a:solidFill>
                <a:latin typeface="Arial" pitchFamily="34" charset="0"/>
                <a:ea typeface="Arial" pitchFamily="34" charset="-122"/>
                <a:cs typeface="Arial" pitchFamily="34" charset="-120"/>
              </a:rPr>
              <a:t>Habitat change across seasons or years</a:t>
            </a:r>
            <a:endParaRPr lang="en-US" sz="2200" dirty="0"/>
          </a:p>
        </p:txBody>
      </p:sp>
      <p:sp>
        <p:nvSpPr>
          <p:cNvPr id="8" name="Text 6"/>
          <p:cNvSpPr txBox="1"/>
          <p:nvPr/>
        </p:nvSpPr>
        <p:spPr>
          <a:xfrm>
            <a:off x="4399178" y="5074920"/>
            <a:ext cx="3210458" cy="594360"/>
          </a:xfrm>
          <a:prstGeom prst="rect">
            <a:avLst/>
          </a:prstGeom>
          <a:noFill/>
          <a:ln/>
        </p:spPr>
        <p:txBody>
          <a:bodyPr wrap="square" lIns="0" tIns="0" rIns="0" bIns="0" rtlCol="0" anchor="t"/>
          <a:lstStyle/>
          <a:p>
            <a:pPr indent="0" marL="0">
              <a:buNone/>
            </a:pPr>
            <a:r>
              <a:rPr lang="en-US" sz="1700" dirty="0">
                <a:solidFill>
                  <a:srgbClr val="68736D"/>
                </a:solidFill>
                <a:latin typeface="Arial" pitchFamily="34" charset="0"/>
                <a:ea typeface="Arial" pitchFamily="34" charset="-122"/>
                <a:cs typeface="Arial" pitchFamily="34" charset="-120"/>
              </a:rPr>
              <a:t>MODIS, Sentinel-2 and CHIRPS observations</a:t>
            </a:r>
            <a:endParaRPr lang="en-US" sz="1700" dirty="0"/>
          </a:p>
        </p:txBody>
      </p:sp>
      <p:sp>
        <p:nvSpPr>
          <p:cNvPr id="9" name="Shape 7"/>
          <p:cNvSpPr/>
          <p:nvPr/>
        </p:nvSpPr>
        <p:spPr>
          <a:xfrm>
            <a:off x="4170578" y="1554480"/>
            <a:ext cx="0" cy="4160520"/>
          </a:xfrm>
          <a:prstGeom prst="line">
            <a:avLst/>
          </a:prstGeom>
          <a:noFill/>
          <a:ln w="12700">
            <a:solidFill>
              <a:srgbClr val="E8ECE9"/>
            </a:solidFill>
            <a:prstDash val="solid"/>
          </a:ln>
        </p:spPr>
      </p:sp>
      <p:sp>
        <p:nvSpPr>
          <p:cNvPr id="10" name="Text 8"/>
          <p:cNvSpPr txBox="1"/>
          <p:nvPr/>
        </p:nvSpPr>
        <p:spPr>
          <a:xfrm>
            <a:off x="8249717" y="1508760"/>
            <a:ext cx="3393338" cy="274320"/>
          </a:xfrm>
          <a:prstGeom prst="rect">
            <a:avLst/>
          </a:prstGeom>
          <a:noFill/>
          <a:ln/>
        </p:spPr>
        <p:txBody>
          <a:bodyPr wrap="square" lIns="0" tIns="0" rIns="0" bIns="0" rtlCol="0" anchor="t"/>
          <a:lstStyle/>
          <a:p>
            <a:pPr indent="0" marL="0">
              <a:buNone/>
            </a:pPr>
            <a:r>
              <a:rPr lang="en-US" sz="1400" b="1" spc="200" kern="0" dirty="0">
                <a:solidFill>
                  <a:srgbClr val="68736D"/>
                </a:solidFill>
                <a:latin typeface="Arial" pitchFamily="34" charset="0"/>
                <a:ea typeface="Arial" pitchFamily="34" charset="-122"/>
                <a:cs typeface="Arial" pitchFamily="34" charset="-120"/>
              </a:rPr>
              <a:t>EXPANSION PATH</a:t>
            </a:r>
            <a:endParaRPr lang="en-US" sz="1400" dirty="0"/>
          </a:p>
        </p:txBody>
      </p:sp>
      <p:sp>
        <p:nvSpPr>
          <p:cNvPr id="11" name="Text 9"/>
          <p:cNvSpPr txBox="1"/>
          <p:nvPr/>
        </p:nvSpPr>
        <p:spPr>
          <a:xfrm>
            <a:off x="8249717" y="3840480"/>
            <a:ext cx="3301898" cy="1097280"/>
          </a:xfrm>
          <a:prstGeom prst="rect">
            <a:avLst/>
          </a:prstGeom>
          <a:noFill/>
          <a:ln/>
        </p:spPr>
        <p:txBody>
          <a:bodyPr wrap="square" lIns="0" tIns="0" rIns="0" bIns="0" rtlCol="0" anchor="t"/>
          <a:lstStyle/>
          <a:p>
            <a:pPr indent="0" marL="0">
              <a:buNone/>
            </a:pPr>
            <a:r>
              <a:rPr lang="en-US" sz="2200" b="1" dirty="0">
                <a:solidFill>
                  <a:srgbClr val="202723"/>
                </a:solidFill>
                <a:latin typeface="Arial" pitchFamily="34" charset="0"/>
                <a:ea typeface="Arial" pitchFamily="34" charset="-122"/>
                <a:cs typeface="Arial" pitchFamily="34" charset="-120"/>
              </a:rPr>
              <a:t>Restoration monitoring</a:t>
            </a:r>
            <a:endParaRPr lang="en-US" sz="2200" dirty="0"/>
          </a:p>
        </p:txBody>
      </p:sp>
      <p:sp>
        <p:nvSpPr>
          <p:cNvPr id="12" name="Text 10"/>
          <p:cNvSpPr txBox="1"/>
          <p:nvPr/>
        </p:nvSpPr>
        <p:spPr>
          <a:xfrm>
            <a:off x="8249717" y="5074920"/>
            <a:ext cx="3210458" cy="594360"/>
          </a:xfrm>
          <a:prstGeom prst="rect">
            <a:avLst/>
          </a:prstGeom>
          <a:noFill/>
          <a:ln/>
        </p:spPr>
        <p:txBody>
          <a:bodyPr wrap="square" lIns="0" tIns="0" rIns="0" bIns="0" rtlCol="0" anchor="t"/>
          <a:lstStyle/>
          <a:p>
            <a:pPr indent="0" marL="0">
              <a:buNone/>
            </a:pPr>
            <a:r>
              <a:rPr lang="en-US" sz="1700" dirty="0">
                <a:solidFill>
                  <a:srgbClr val="68736D"/>
                </a:solidFill>
                <a:latin typeface="Arial" pitchFamily="34" charset="0"/>
                <a:ea typeface="Arial" pitchFamily="34" charset="-122"/>
                <a:cs typeface="Arial" pitchFamily="34" charset="-120"/>
              </a:rPr>
              <a:t>Field plots, surveys and management records</a:t>
            </a:r>
            <a:endParaRPr lang="en-US" sz="1700" dirty="0"/>
          </a:p>
        </p:txBody>
      </p:sp>
      <p:sp>
        <p:nvSpPr>
          <p:cNvPr id="13" name="Shape 11"/>
          <p:cNvSpPr/>
          <p:nvPr/>
        </p:nvSpPr>
        <p:spPr>
          <a:xfrm>
            <a:off x="8021117" y="1554480"/>
            <a:ext cx="0" cy="4160520"/>
          </a:xfrm>
          <a:prstGeom prst="line">
            <a:avLst/>
          </a:prstGeom>
          <a:noFill/>
          <a:ln w="12700">
            <a:solidFill>
              <a:srgbClr val="E8ECE9"/>
            </a:solidFill>
            <a:prstDash val="solid"/>
          </a:ln>
        </p:spPr>
      </p:sp>
      <p:sp>
        <p:nvSpPr>
          <p:cNvPr id="14" name="Shape 12"/>
          <p:cNvSpPr/>
          <p:nvPr/>
        </p:nvSpPr>
        <p:spPr>
          <a:xfrm>
            <a:off x="548640" y="2148840"/>
            <a:ext cx="329184" cy="329184"/>
          </a:xfrm>
          <a:prstGeom prst="rect">
            <a:avLst/>
          </a:prstGeom>
          <a:solidFill>
            <a:srgbClr val="E8ECE9"/>
          </a:solidFill>
          <a:ln w="12700">
            <a:solidFill>
              <a:srgbClr val="FFFFFF"/>
            </a:solidFill>
            <a:prstDash val="solid"/>
          </a:ln>
        </p:spPr>
      </p:sp>
      <p:sp>
        <p:nvSpPr>
          <p:cNvPr id="15" name="Shape 13"/>
          <p:cNvSpPr/>
          <p:nvPr/>
        </p:nvSpPr>
        <p:spPr>
          <a:xfrm>
            <a:off x="877824" y="2148840"/>
            <a:ext cx="329184" cy="329184"/>
          </a:xfrm>
          <a:prstGeom prst="rect">
            <a:avLst/>
          </a:prstGeom>
          <a:solidFill>
            <a:srgbClr val="D3DDD6"/>
          </a:solidFill>
          <a:ln w="12700">
            <a:solidFill>
              <a:srgbClr val="FFFFFF"/>
            </a:solidFill>
            <a:prstDash val="solid"/>
          </a:ln>
        </p:spPr>
      </p:sp>
      <p:sp>
        <p:nvSpPr>
          <p:cNvPr id="16" name="Shape 14"/>
          <p:cNvSpPr/>
          <p:nvPr/>
        </p:nvSpPr>
        <p:spPr>
          <a:xfrm>
            <a:off x="1207008" y="2148840"/>
            <a:ext cx="329184" cy="329184"/>
          </a:xfrm>
          <a:prstGeom prst="rect">
            <a:avLst/>
          </a:prstGeom>
          <a:solidFill>
            <a:srgbClr val="BCCDC2"/>
          </a:solidFill>
          <a:ln w="12700">
            <a:solidFill>
              <a:srgbClr val="FFFFFF"/>
            </a:solidFill>
            <a:prstDash val="solid"/>
          </a:ln>
        </p:spPr>
      </p:sp>
      <p:sp>
        <p:nvSpPr>
          <p:cNvPr id="17" name="Shape 15"/>
          <p:cNvSpPr/>
          <p:nvPr/>
        </p:nvSpPr>
        <p:spPr>
          <a:xfrm>
            <a:off x="1536192" y="2148840"/>
            <a:ext cx="329184" cy="329184"/>
          </a:xfrm>
          <a:prstGeom prst="rect">
            <a:avLst/>
          </a:prstGeom>
          <a:solidFill>
            <a:srgbClr val="E8ECE9"/>
          </a:solidFill>
          <a:ln w="12700">
            <a:solidFill>
              <a:srgbClr val="FFFFFF"/>
            </a:solidFill>
            <a:prstDash val="solid"/>
          </a:ln>
        </p:spPr>
      </p:sp>
      <p:sp>
        <p:nvSpPr>
          <p:cNvPr id="18" name="Shape 16"/>
          <p:cNvSpPr/>
          <p:nvPr/>
        </p:nvSpPr>
        <p:spPr>
          <a:xfrm>
            <a:off x="1865376" y="2148840"/>
            <a:ext cx="329184" cy="329184"/>
          </a:xfrm>
          <a:prstGeom prst="rect">
            <a:avLst/>
          </a:prstGeom>
          <a:solidFill>
            <a:srgbClr val="D3DDD6"/>
          </a:solidFill>
          <a:ln w="12700">
            <a:solidFill>
              <a:srgbClr val="FFFFFF"/>
            </a:solidFill>
            <a:prstDash val="solid"/>
          </a:ln>
        </p:spPr>
      </p:sp>
      <p:sp>
        <p:nvSpPr>
          <p:cNvPr id="19" name="Shape 17"/>
          <p:cNvSpPr/>
          <p:nvPr/>
        </p:nvSpPr>
        <p:spPr>
          <a:xfrm>
            <a:off x="548640" y="2478024"/>
            <a:ext cx="329184" cy="329184"/>
          </a:xfrm>
          <a:prstGeom prst="rect">
            <a:avLst/>
          </a:prstGeom>
          <a:solidFill>
            <a:srgbClr val="D3DDD6"/>
          </a:solidFill>
          <a:ln w="12700">
            <a:solidFill>
              <a:srgbClr val="FFFFFF"/>
            </a:solidFill>
            <a:prstDash val="solid"/>
          </a:ln>
        </p:spPr>
      </p:sp>
      <p:sp>
        <p:nvSpPr>
          <p:cNvPr id="20" name="Shape 18"/>
          <p:cNvSpPr/>
          <p:nvPr/>
        </p:nvSpPr>
        <p:spPr>
          <a:xfrm>
            <a:off x="877824" y="2478024"/>
            <a:ext cx="329184" cy="329184"/>
          </a:xfrm>
          <a:prstGeom prst="rect">
            <a:avLst/>
          </a:prstGeom>
          <a:solidFill>
            <a:srgbClr val="BCCDC2"/>
          </a:solidFill>
          <a:ln w="12700">
            <a:solidFill>
              <a:srgbClr val="FFFFFF"/>
            </a:solidFill>
            <a:prstDash val="solid"/>
          </a:ln>
        </p:spPr>
      </p:sp>
      <p:sp>
        <p:nvSpPr>
          <p:cNvPr id="21" name="Shape 19"/>
          <p:cNvSpPr/>
          <p:nvPr/>
        </p:nvSpPr>
        <p:spPr>
          <a:xfrm>
            <a:off x="1207008" y="2478024"/>
            <a:ext cx="329184" cy="329184"/>
          </a:xfrm>
          <a:prstGeom prst="rect">
            <a:avLst/>
          </a:prstGeom>
          <a:solidFill>
            <a:srgbClr val="E8ECE9"/>
          </a:solidFill>
          <a:ln w="12700">
            <a:solidFill>
              <a:srgbClr val="FFFFFF"/>
            </a:solidFill>
            <a:prstDash val="solid"/>
          </a:ln>
        </p:spPr>
      </p:sp>
      <p:sp>
        <p:nvSpPr>
          <p:cNvPr id="22" name="Shape 20"/>
          <p:cNvSpPr/>
          <p:nvPr/>
        </p:nvSpPr>
        <p:spPr>
          <a:xfrm>
            <a:off x="1536192" y="2478024"/>
            <a:ext cx="329184" cy="329184"/>
          </a:xfrm>
          <a:prstGeom prst="rect">
            <a:avLst/>
          </a:prstGeom>
          <a:solidFill>
            <a:srgbClr val="D3DDD6"/>
          </a:solidFill>
          <a:ln w="12700">
            <a:solidFill>
              <a:srgbClr val="FFFFFF"/>
            </a:solidFill>
            <a:prstDash val="solid"/>
          </a:ln>
        </p:spPr>
      </p:sp>
      <p:sp>
        <p:nvSpPr>
          <p:cNvPr id="23" name="Shape 21"/>
          <p:cNvSpPr/>
          <p:nvPr/>
        </p:nvSpPr>
        <p:spPr>
          <a:xfrm>
            <a:off x="1865376" y="2478024"/>
            <a:ext cx="329184" cy="329184"/>
          </a:xfrm>
          <a:prstGeom prst="rect">
            <a:avLst/>
          </a:prstGeom>
          <a:solidFill>
            <a:srgbClr val="BCCDC2"/>
          </a:solidFill>
          <a:ln w="12700">
            <a:solidFill>
              <a:srgbClr val="FFFFFF"/>
            </a:solidFill>
            <a:prstDash val="solid"/>
          </a:ln>
        </p:spPr>
      </p:sp>
      <p:sp>
        <p:nvSpPr>
          <p:cNvPr id="24" name="Shape 22"/>
          <p:cNvSpPr/>
          <p:nvPr/>
        </p:nvSpPr>
        <p:spPr>
          <a:xfrm>
            <a:off x="548640" y="2807208"/>
            <a:ext cx="329184" cy="329184"/>
          </a:xfrm>
          <a:prstGeom prst="rect">
            <a:avLst/>
          </a:prstGeom>
          <a:solidFill>
            <a:srgbClr val="BCCDC2"/>
          </a:solidFill>
          <a:ln w="12700">
            <a:solidFill>
              <a:srgbClr val="FFFFFF"/>
            </a:solidFill>
            <a:prstDash val="solid"/>
          </a:ln>
        </p:spPr>
      </p:sp>
      <p:sp>
        <p:nvSpPr>
          <p:cNvPr id="25" name="Shape 23"/>
          <p:cNvSpPr/>
          <p:nvPr/>
        </p:nvSpPr>
        <p:spPr>
          <a:xfrm>
            <a:off x="877824" y="2807208"/>
            <a:ext cx="329184" cy="329184"/>
          </a:xfrm>
          <a:prstGeom prst="rect">
            <a:avLst/>
          </a:prstGeom>
          <a:solidFill>
            <a:srgbClr val="E8ECE9"/>
          </a:solidFill>
          <a:ln w="12700">
            <a:solidFill>
              <a:srgbClr val="FFFFFF"/>
            </a:solidFill>
            <a:prstDash val="solid"/>
          </a:ln>
        </p:spPr>
      </p:sp>
      <p:sp>
        <p:nvSpPr>
          <p:cNvPr id="26" name="Shape 24"/>
          <p:cNvSpPr/>
          <p:nvPr/>
        </p:nvSpPr>
        <p:spPr>
          <a:xfrm>
            <a:off x="1207008" y="2807208"/>
            <a:ext cx="329184" cy="329184"/>
          </a:xfrm>
          <a:prstGeom prst="rect">
            <a:avLst/>
          </a:prstGeom>
          <a:solidFill>
            <a:srgbClr val="D3DDD6"/>
          </a:solidFill>
          <a:ln w="12700">
            <a:solidFill>
              <a:srgbClr val="FFFFFF"/>
            </a:solidFill>
            <a:prstDash val="solid"/>
          </a:ln>
        </p:spPr>
      </p:sp>
      <p:sp>
        <p:nvSpPr>
          <p:cNvPr id="27" name="Shape 25"/>
          <p:cNvSpPr/>
          <p:nvPr/>
        </p:nvSpPr>
        <p:spPr>
          <a:xfrm>
            <a:off x="1536192" y="2807208"/>
            <a:ext cx="329184" cy="329184"/>
          </a:xfrm>
          <a:prstGeom prst="rect">
            <a:avLst/>
          </a:prstGeom>
          <a:solidFill>
            <a:srgbClr val="BCCDC2"/>
          </a:solidFill>
          <a:ln w="12700">
            <a:solidFill>
              <a:srgbClr val="FFFFFF"/>
            </a:solidFill>
            <a:prstDash val="solid"/>
          </a:ln>
        </p:spPr>
      </p:sp>
      <p:sp>
        <p:nvSpPr>
          <p:cNvPr id="28" name="Shape 26"/>
          <p:cNvSpPr/>
          <p:nvPr/>
        </p:nvSpPr>
        <p:spPr>
          <a:xfrm>
            <a:off x="1865376" y="2807208"/>
            <a:ext cx="329184" cy="329184"/>
          </a:xfrm>
          <a:prstGeom prst="rect">
            <a:avLst/>
          </a:prstGeom>
          <a:solidFill>
            <a:srgbClr val="E8ECE9"/>
          </a:solidFill>
          <a:ln w="12700">
            <a:solidFill>
              <a:srgbClr val="FFFFFF"/>
            </a:solidFill>
            <a:prstDash val="solid"/>
          </a:ln>
        </p:spPr>
      </p:sp>
      <p:sp>
        <p:nvSpPr>
          <p:cNvPr id="29" name="Shape 27"/>
          <p:cNvSpPr/>
          <p:nvPr/>
        </p:nvSpPr>
        <p:spPr>
          <a:xfrm>
            <a:off x="548640" y="3136392"/>
            <a:ext cx="329184" cy="329184"/>
          </a:xfrm>
          <a:prstGeom prst="rect">
            <a:avLst/>
          </a:prstGeom>
          <a:solidFill>
            <a:srgbClr val="E8ECE9"/>
          </a:solidFill>
          <a:ln w="12700">
            <a:solidFill>
              <a:srgbClr val="FFFFFF"/>
            </a:solidFill>
            <a:prstDash val="solid"/>
          </a:ln>
        </p:spPr>
      </p:sp>
      <p:sp>
        <p:nvSpPr>
          <p:cNvPr id="30" name="Shape 28"/>
          <p:cNvSpPr/>
          <p:nvPr/>
        </p:nvSpPr>
        <p:spPr>
          <a:xfrm>
            <a:off x="877824" y="3136392"/>
            <a:ext cx="329184" cy="329184"/>
          </a:xfrm>
          <a:prstGeom prst="rect">
            <a:avLst/>
          </a:prstGeom>
          <a:solidFill>
            <a:srgbClr val="D3DDD6"/>
          </a:solidFill>
          <a:ln w="12700">
            <a:solidFill>
              <a:srgbClr val="FFFFFF"/>
            </a:solidFill>
            <a:prstDash val="solid"/>
          </a:ln>
        </p:spPr>
      </p:sp>
      <p:sp>
        <p:nvSpPr>
          <p:cNvPr id="31" name="Shape 29"/>
          <p:cNvSpPr/>
          <p:nvPr/>
        </p:nvSpPr>
        <p:spPr>
          <a:xfrm>
            <a:off x="1207008" y="3136392"/>
            <a:ext cx="329184" cy="329184"/>
          </a:xfrm>
          <a:prstGeom prst="rect">
            <a:avLst/>
          </a:prstGeom>
          <a:solidFill>
            <a:srgbClr val="BCCDC2"/>
          </a:solidFill>
          <a:ln w="12700">
            <a:solidFill>
              <a:srgbClr val="FFFFFF"/>
            </a:solidFill>
            <a:prstDash val="solid"/>
          </a:ln>
        </p:spPr>
      </p:sp>
      <p:sp>
        <p:nvSpPr>
          <p:cNvPr id="32" name="Shape 30"/>
          <p:cNvSpPr/>
          <p:nvPr/>
        </p:nvSpPr>
        <p:spPr>
          <a:xfrm>
            <a:off x="1536192" y="3136392"/>
            <a:ext cx="329184" cy="329184"/>
          </a:xfrm>
          <a:prstGeom prst="rect">
            <a:avLst/>
          </a:prstGeom>
          <a:solidFill>
            <a:srgbClr val="E8ECE9"/>
          </a:solidFill>
          <a:ln w="12700">
            <a:solidFill>
              <a:srgbClr val="FFFFFF"/>
            </a:solidFill>
            <a:prstDash val="solid"/>
          </a:ln>
        </p:spPr>
      </p:sp>
      <p:sp>
        <p:nvSpPr>
          <p:cNvPr id="33" name="Shape 31"/>
          <p:cNvSpPr/>
          <p:nvPr/>
        </p:nvSpPr>
        <p:spPr>
          <a:xfrm>
            <a:off x="1865376" y="3136392"/>
            <a:ext cx="329184" cy="329184"/>
          </a:xfrm>
          <a:prstGeom prst="rect">
            <a:avLst/>
          </a:prstGeom>
          <a:solidFill>
            <a:srgbClr val="D3DDD6"/>
          </a:solidFill>
          <a:ln w="12700">
            <a:solidFill>
              <a:srgbClr val="FFFFFF"/>
            </a:solidFill>
            <a:prstDash val="solid"/>
          </a:ln>
        </p:spPr>
      </p:sp>
      <p:sp>
        <p:nvSpPr>
          <p:cNvPr id="34" name="Shape 32"/>
          <p:cNvSpPr/>
          <p:nvPr/>
        </p:nvSpPr>
        <p:spPr>
          <a:xfrm>
            <a:off x="992124" y="2263140"/>
            <a:ext cx="100584" cy="100584"/>
          </a:xfrm>
          <a:prstGeom prst="ellipse">
            <a:avLst/>
          </a:prstGeom>
          <a:solidFill>
            <a:srgbClr val="294D3C"/>
          </a:solidFill>
          <a:ln w="19050">
            <a:solidFill>
              <a:srgbClr val="294D3C"/>
            </a:solidFill>
            <a:prstDash val="solid"/>
          </a:ln>
        </p:spPr>
      </p:sp>
      <p:sp>
        <p:nvSpPr>
          <p:cNvPr id="35" name="Shape 33"/>
          <p:cNvSpPr/>
          <p:nvPr/>
        </p:nvSpPr>
        <p:spPr>
          <a:xfrm>
            <a:off x="1321308" y="2592324"/>
            <a:ext cx="100584" cy="100584"/>
          </a:xfrm>
          <a:prstGeom prst="ellipse">
            <a:avLst/>
          </a:prstGeom>
          <a:solidFill>
            <a:srgbClr val="294D3C"/>
          </a:solidFill>
          <a:ln w="19050">
            <a:solidFill>
              <a:srgbClr val="294D3C"/>
            </a:solidFill>
            <a:prstDash val="solid"/>
          </a:ln>
        </p:spPr>
      </p:sp>
      <p:sp>
        <p:nvSpPr>
          <p:cNvPr id="36" name="Shape 34"/>
          <p:cNvSpPr/>
          <p:nvPr/>
        </p:nvSpPr>
        <p:spPr>
          <a:xfrm>
            <a:off x="1321308" y="2921508"/>
            <a:ext cx="100584" cy="100584"/>
          </a:xfrm>
          <a:prstGeom prst="ellipse">
            <a:avLst/>
          </a:prstGeom>
          <a:solidFill>
            <a:srgbClr val="294D3C"/>
          </a:solidFill>
          <a:ln w="19050">
            <a:solidFill>
              <a:srgbClr val="294D3C"/>
            </a:solidFill>
            <a:prstDash val="solid"/>
          </a:ln>
        </p:spPr>
      </p:sp>
      <p:sp>
        <p:nvSpPr>
          <p:cNvPr id="37" name="Shape 35"/>
          <p:cNvSpPr/>
          <p:nvPr/>
        </p:nvSpPr>
        <p:spPr>
          <a:xfrm>
            <a:off x="1650492" y="3250692"/>
            <a:ext cx="100584" cy="100584"/>
          </a:xfrm>
          <a:prstGeom prst="ellipse">
            <a:avLst/>
          </a:prstGeom>
          <a:solidFill>
            <a:srgbClr val="294D3C"/>
          </a:solidFill>
          <a:ln w="19050">
            <a:solidFill>
              <a:srgbClr val="294D3C"/>
            </a:solidFill>
            <a:prstDash val="solid"/>
          </a:ln>
        </p:spPr>
      </p:sp>
      <p:sp>
        <p:nvSpPr>
          <p:cNvPr id="38" name="Shape 36"/>
          <p:cNvSpPr/>
          <p:nvPr/>
        </p:nvSpPr>
        <p:spPr>
          <a:xfrm>
            <a:off x="4399178" y="2331720"/>
            <a:ext cx="219456" cy="219456"/>
          </a:xfrm>
          <a:prstGeom prst="rect">
            <a:avLst/>
          </a:prstGeom>
          <a:solidFill>
            <a:srgbClr val="E8ECE9"/>
          </a:solidFill>
          <a:ln w="9525">
            <a:solidFill>
              <a:srgbClr val="FFFFFF"/>
            </a:solidFill>
            <a:prstDash val="solid"/>
          </a:ln>
        </p:spPr>
      </p:sp>
      <p:sp>
        <p:nvSpPr>
          <p:cNvPr id="39" name="Shape 37"/>
          <p:cNvSpPr/>
          <p:nvPr/>
        </p:nvSpPr>
        <p:spPr>
          <a:xfrm>
            <a:off x="4618634" y="2331720"/>
            <a:ext cx="219456" cy="219456"/>
          </a:xfrm>
          <a:prstGeom prst="rect">
            <a:avLst/>
          </a:prstGeom>
          <a:solidFill>
            <a:srgbClr val="D3DDD6"/>
          </a:solidFill>
          <a:ln w="9525">
            <a:solidFill>
              <a:srgbClr val="FFFFFF"/>
            </a:solidFill>
            <a:prstDash val="solid"/>
          </a:ln>
        </p:spPr>
      </p:sp>
      <p:sp>
        <p:nvSpPr>
          <p:cNvPr id="40" name="Shape 38"/>
          <p:cNvSpPr/>
          <p:nvPr/>
        </p:nvSpPr>
        <p:spPr>
          <a:xfrm>
            <a:off x="4838090" y="2331720"/>
            <a:ext cx="219456" cy="219456"/>
          </a:xfrm>
          <a:prstGeom prst="rect">
            <a:avLst/>
          </a:prstGeom>
          <a:solidFill>
            <a:srgbClr val="E8ECE9"/>
          </a:solidFill>
          <a:ln w="9525">
            <a:solidFill>
              <a:srgbClr val="FFFFFF"/>
            </a:solidFill>
            <a:prstDash val="solid"/>
          </a:ln>
        </p:spPr>
      </p:sp>
      <p:sp>
        <p:nvSpPr>
          <p:cNvPr id="41" name="Shape 39"/>
          <p:cNvSpPr/>
          <p:nvPr/>
        </p:nvSpPr>
        <p:spPr>
          <a:xfrm>
            <a:off x="5057546" y="2331720"/>
            <a:ext cx="219456" cy="219456"/>
          </a:xfrm>
          <a:prstGeom prst="rect">
            <a:avLst/>
          </a:prstGeom>
          <a:solidFill>
            <a:srgbClr val="BCCDC2"/>
          </a:solidFill>
          <a:ln w="9525">
            <a:solidFill>
              <a:srgbClr val="FFFFFF"/>
            </a:solidFill>
            <a:prstDash val="solid"/>
          </a:ln>
        </p:spPr>
      </p:sp>
      <p:sp>
        <p:nvSpPr>
          <p:cNvPr id="42" name="Shape 40"/>
          <p:cNvSpPr/>
          <p:nvPr/>
        </p:nvSpPr>
        <p:spPr>
          <a:xfrm>
            <a:off x="4399178" y="2551176"/>
            <a:ext cx="219456" cy="219456"/>
          </a:xfrm>
          <a:prstGeom prst="rect">
            <a:avLst/>
          </a:prstGeom>
          <a:solidFill>
            <a:srgbClr val="BCCDC2"/>
          </a:solidFill>
          <a:ln w="9525">
            <a:solidFill>
              <a:srgbClr val="FFFFFF"/>
            </a:solidFill>
            <a:prstDash val="solid"/>
          </a:ln>
        </p:spPr>
      </p:sp>
      <p:sp>
        <p:nvSpPr>
          <p:cNvPr id="43" name="Shape 41"/>
          <p:cNvSpPr/>
          <p:nvPr/>
        </p:nvSpPr>
        <p:spPr>
          <a:xfrm>
            <a:off x="4618634" y="2551176"/>
            <a:ext cx="219456" cy="219456"/>
          </a:xfrm>
          <a:prstGeom prst="rect">
            <a:avLst/>
          </a:prstGeom>
          <a:solidFill>
            <a:srgbClr val="E8ECE9"/>
          </a:solidFill>
          <a:ln w="9525">
            <a:solidFill>
              <a:srgbClr val="FFFFFF"/>
            </a:solidFill>
            <a:prstDash val="solid"/>
          </a:ln>
        </p:spPr>
      </p:sp>
      <p:sp>
        <p:nvSpPr>
          <p:cNvPr id="44" name="Shape 42"/>
          <p:cNvSpPr/>
          <p:nvPr/>
        </p:nvSpPr>
        <p:spPr>
          <a:xfrm>
            <a:off x="4838090" y="2551176"/>
            <a:ext cx="219456" cy="219456"/>
          </a:xfrm>
          <a:prstGeom prst="rect">
            <a:avLst/>
          </a:prstGeom>
          <a:solidFill>
            <a:srgbClr val="D3DDD6"/>
          </a:solidFill>
          <a:ln w="9525">
            <a:solidFill>
              <a:srgbClr val="FFFFFF"/>
            </a:solidFill>
            <a:prstDash val="solid"/>
          </a:ln>
        </p:spPr>
      </p:sp>
      <p:sp>
        <p:nvSpPr>
          <p:cNvPr id="45" name="Shape 43"/>
          <p:cNvSpPr/>
          <p:nvPr/>
        </p:nvSpPr>
        <p:spPr>
          <a:xfrm>
            <a:off x="5057546" y="2551176"/>
            <a:ext cx="219456" cy="219456"/>
          </a:xfrm>
          <a:prstGeom prst="rect">
            <a:avLst/>
          </a:prstGeom>
          <a:solidFill>
            <a:srgbClr val="E8ECE9"/>
          </a:solidFill>
          <a:ln w="9525">
            <a:solidFill>
              <a:srgbClr val="FFFFFF"/>
            </a:solidFill>
            <a:prstDash val="solid"/>
          </a:ln>
        </p:spPr>
      </p:sp>
      <p:sp>
        <p:nvSpPr>
          <p:cNvPr id="46" name="Shape 44"/>
          <p:cNvSpPr/>
          <p:nvPr/>
        </p:nvSpPr>
        <p:spPr>
          <a:xfrm>
            <a:off x="4399178" y="2770632"/>
            <a:ext cx="219456" cy="219456"/>
          </a:xfrm>
          <a:prstGeom prst="rect">
            <a:avLst/>
          </a:prstGeom>
          <a:solidFill>
            <a:srgbClr val="E8ECE9"/>
          </a:solidFill>
          <a:ln w="9525">
            <a:solidFill>
              <a:srgbClr val="FFFFFF"/>
            </a:solidFill>
            <a:prstDash val="solid"/>
          </a:ln>
        </p:spPr>
      </p:sp>
      <p:sp>
        <p:nvSpPr>
          <p:cNvPr id="47" name="Shape 45"/>
          <p:cNvSpPr/>
          <p:nvPr/>
        </p:nvSpPr>
        <p:spPr>
          <a:xfrm>
            <a:off x="4618634" y="2770632"/>
            <a:ext cx="219456" cy="219456"/>
          </a:xfrm>
          <a:prstGeom prst="rect">
            <a:avLst/>
          </a:prstGeom>
          <a:solidFill>
            <a:srgbClr val="BCCDC2"/>
          </a:solidFill>
          <a:ln w="9525">
            <a:solidFill>
              <a:srgbClr val="FFFFFF"/>
            </a:solidFill>
            <a:prstDash val="solid"/>
          </a:ln>
        </p:spPr>
      </p:sp>
      <p:sp>
        <p:nvSpPr>
          <p:cNvPr id="48" name="Shape 46"/>
          <p:cNvSpPr/>
          <p:nvPr/>
        </p:nvSpPr>
        <p:spPr>
          <a:xfrm>
            <a:off x="4838090" y="2770632"/>
            <a:ext cx="219456" cy="219456"/>
          </a:xfrm>
          <a:prstGeom prst="rect">
            <a:avLst/>
          </a:prstGeom>
          <a:solidFill>
            <a:srgbClr val="E8ECE9"/>
          </a:solidFill>
          <a:ln w="9525">
            <a:solidFill>
              <a:srgbClr val="FFFFFF"/>
            </a:solidFill>
            <a:prstDash val="solid"/>
          </a:ln>
        </p:spPr>
      </p:sp>
      <p:sp>
        <p:nvSpPr>
          <p:cNvPr id="49" name="Shape 47"/>
          <p:cNvSpPr/>
          <p:nvPr/>
        </p:nvSpPr>
        <p:spPr>
          <a:xfrm>
            <a:off x="5057546" y="2770632"/>
            <a:ext cx="219456" cy="219456"/>
          </a:xfrm>
          <a:prstGeom prst="rect">
            <a:avLst/>
          </a:prstGeom>
          <a:solidFill>
            <a:srgbClr val="D3DDD6"/>
          </a:solidFill>
          <a:ln w="9525">
            <a:solidFill>
              <a:srgbClr val="FFFFFF"/>
            </a:solidFill>
            <a:prstDash val="solid"/>
          </a:ln>
        </p:spPr>
      </p:sp>
      <p:sp>
        <p:nvSpPr>
          <p:cNvPr id="50" name="Shape 48"/>
          <p:cNvSpPr/>
          <p:nvPr/>
        </p:nvSpPr>
        <p:spPr>
          <a:xfrm>
            <a:off x="4399178" y="2990088"/>
            <a:ext cx="219456" cy="219456"/>
          </a:xfrm>
          <a:prstGeom prst="rect">
            <a:avLst/>
          </a:prstGeom>
          <a:solidFill>
            <a:srgbClr val="D3DDD6"/>
          </a:solidFill>
          <a:ln w="9525">
            <a:solidFill>
              <a:srgbClr val="FFFFFF"/>
            </a:solidFill>
            <a:prstDash val="solid"/>
          </a:ln>
        </p:spPr>
      </p:sp>
      <p:sp>
        <p:nvSpPr>
          <p:cNvPr id="51" name="Shape 49"/>
          <p:cNvSpPr/>
          <p:nvPr/>
        </p:nvSpPr>
        <p:spPr>
          <a:xfrm>
            <a:off x="4618634" y="2990088"/>
            <a:ext cx="219456" cy="219456"/>
          </a:xfrm>
          <a:prstGeom prst="rect">
            <a:avLst/>
          </a:prstGeom>
          <a:solidFill>
            <a:srgbClr val="E8ECE9"/>
          </a:solidFill>
          <a:ln w="9525">
            <a:solidFill>
              <a:srgbClr val="FFFFFF"/>
            </a:solidFill>
            <a:prstDash val="solid"/>
          </a:ln>
        </p:spPr>
      </p:sp>
      <p:sp>
        <p:nvSpPr>
          <p:cNvPr id="52" name="Shape 50"/>
          <p:cNvSpPr/>
          <p:nvPr/>
        </p:nvSpPr>
        <p:spPr>
          <a:xfrm>
            <a:off x="4838090" y="2990088"/>
            <a:ext cx="219456" cy="219456"/>
          </a:xfrm>
          <a:prstGeom prst="rect">
            <a:avLst/>
          </a:prstGeom>
          <a:solidFill>
            <a:srgbClr val="BCCDC2"/>
          </a:solidFill>
          <a:ln w="9525">
            <a:solidFill>
              <a:srgbClr val="FFFFFF"/>
            </a:solidFill>
            <a:prstDash val="solid"/>
          </a:ln>
        </p:spPr>
      </p:sp>
      <p:sp>
        <p:nvSpPr>
          <p:cNvPr id="53" name="Shape 51"/>
          <p:cNvSpPr/>
          <p:nvPr/>
        </p:nvSpPr>
        <p:spPr>
          <a:xfrm>
            <a:off x="5057546" y="2990088"/>
            <a:ext cx="219456" cy="219456"/>
          </a:xfrm>
          <a:prstGeom prst="rect">
            <a:avLst/>
          </a:prstGeom>
          <a:solidFill>
            <a:srgbClr val="E8ECE9"/>
          </a:solidFill>
          <a:ln w="9525">
            <a:solidFill>
              <a:srgbClr val="FFFFFF"/>
            </a:solidFill>
            <a:prstDash val="solid"/>
          </a:ln>
        </p:spPr>
      </p:sp>
      <p:sp>
        <p:nvSpPr>
          <p:cNvPr id="54" name="Text 52"/>
          <p:cNvSpPr txBox="1"/>
          <p:nvPr/>
        </p:nvSpPr>
        <p:spPr>
          <a:xfrm>
            <a:off x="4399178" y="3300984"/>
            <a:ext cx="914400" cy="228600"/>
          </a:xfrm>
          <a:prstGeom prst="rect">
            <a:avLst/>
          </a:prstGeom>
          <a:noFill/>
          <a:ln/>
        </p:spPr>
        <p:txBody>
          <a:bodyPr wrap="square" lIns="0" tIns="0" rIns="0" bIns="0" rtlCol="0" anchor="t"/>
          <a:lstStyle/>
          <a:p>
            <a:pPr indent="0" marL="0">
              <a:buNone/>
            </a:pPr>
            <a:r>
              <a:rPr lang="en-US" sz="1200" dirty="0">
                <a:solidFill>
                  <a:srgbClr val="68736D"/>
                </a:solidFill>
                <a:latin typeface="Arial" pitchFamily="34" charset="0"/>
                <a:ea typeface="Arial" pitchFamily="34" charset="-122"/>
                <a:cs typeface="Arial" pitchFamily="34" charset="-120"/>
              </a:rPr>
              <a:t>Period 1</a:t>
            </a:r>
            <a:endParaRPr lang="en-US" sz="1200" dirty="0"/>
          </a:p>
        </p:txBody>
      </p:sp>
      <p:sp>
        <p:nvSpPr>
          <p:cNvPr id="55" name="Shape 53"/>
          <p:cNvSpPr/>
          <p:nvPr/>
        </p:nvSpPr>
        <p:spPr>
          <a:xfrm>
            <a:off x="5505602" y="2331720"/>
            <a:ext cx="219456" cy="219456"/>
          </a:xfrm>
          <a:prstGeom prst="rect">
            <a:avLst/>
          </a:prstGeom>
          <a:solidFill>
            <a:srgbClr val="D3DDD6"/>
          </a:solidFill>
          <a:ln w="9525">
            <a:solidFill>
              <a:srgbClr val="FFFFFF"/>
            </a:solidFill>
            <a:prstDash val="solid"/>
          </a:ln>
        </p:spPr>
      </p:sp>
      <p:sp>
        <p:nvSpPr>
          <p:cNvPr id="56" name="Shape 54"/>
          <p:cNvSpPr/>
          <p:nvPr/>
        </p:nvSpPr>
        <p:spPr>
          <a:xfrm>
            <a:off x="5725058" y="2331720"/>
            <a:ext cx="219456" cy="219456"/>
          </a:xfrm>
          <a:prstGeom prst="rect">
            <a:avLst/>
          </a:prstGeom>
          <a:solidFill>
            <a:srgbClr val="BCCDC2"/>
          </a:solidFill>
          <a:ln w="9525">
            <a:solidFill>
              <a:srgbClr val="FFFFFF"/>
            </a:solidFill>
            <a:prstDash val="solid"/>
          </a:ln>
        </p:spPr>
      </p:sp>
      <p:sp>
        <p:nvSpPr>
          <p:cNvPr id="57" name="Shape 55"/>
          <p:cNvSpPr/>
          <p:nvPr/>
        </p:nvSpPr>
        <p:spPr>
          <a:xfrm>
            <a:off x="5944514" y="2331720"/>
            <a:ext cx="219456" cy="219456"/>
          </a:xfrm>
          <a:prstGeom prst="rect">
            <a:avLst/>
          </a:prstGeom>
          <a:solidFill>
            <a:srgbClr val="D3DDD6"/>
          </a:solidFill>
          <a:ln w="9525">
            <a:solidFill>
              <a:srgbClr val="FFFFFF"/>
            </a:solidFill>
            <a:prstDash val="solid"/>
          </a:ln>
        </p:spPr>
      </p:sp>
      <p:sp>
        <p:nvSpPr>
          <p:cNvPr id="58" name="Shape 56"/>
          <p:cNvSpPr/>
          <p:nvPr/>
        </p:nvSpPr>
        <p:spPr>
          <a:xfrm>
            <a:off x="6163970" y="2331720"/>
            <a:ext cx="219456" cy="219456"/>
          </a:xfrm>
          <a:prstGeom prst="rect">
            <a:avLst/>
          </a:prstGeom>
          <a:solidFill>
            <a:srgbClr val="9FB6A8"/>
          </a:solidFill>
          <a:ln w="9525">
            <a:solidFill>
              <a:srgbClr val="FFFFFF"/>
            </a:solidFill>
            <a:prstDash val="solid"/>
          </a:ln>
        </p:spPr>
      </p:sp>
      <p:sp>
        <p:nvSpPr>
          <p:cNvPr id="59" name="Shape 57"/>
          <p:cNvSpPr/>
          <p:nvPr/>
        </p:nvSpPr>
        <p:spPr>
          <a:xfrm>
            <a:off x="5505602" y="2551176"/>
            <a:ext cx="219456" cy="219456"/>
          </a:xfrm>
          <a:prstGeom prst="rect">
            <a:avLst/>
          </a:prstGeom>
          <a:solidFill>
            <a:srgbClr val="9FB6A8"/>
          </a:solidFill>
          <a:ln w="9525">
            <a:solidFill>
              <a:srgbClr val="FFFFFF"/>
            </a:solidFill>
            <a:prstDash val="solid"/>
          </a:ln>
        </p:spPr>
      </p:sp>
      <p:sp>
        <p:nvSpPr>
          <p:cNvPr id="60" name="Shape 58"/>
          <p:cNvSpPr/>
          <p:nvPr/>
        </p:nvSpPr>
        <p:spPr>
          <a:xfrm>
            <a:off x="5725058" y="2551176"/>
            <a:ext cx="219456" cy="219456"/>
          </a:xfrm>
          <a:prstGeom prst="rect">
            <a:avLst/>
          </a:prstGeom>
          <a:solidFill>
            <a:srgbClr val="D3DDD6"/>
          </a:solidFill>
          <a:ln w="9525">
            <a:solidFill>
              <a:srgbClr val="FFFFFF"/>
            </a:solidFill>
            <a:prstDash val="solid"/>
          </a:ln>
        </p:spPr>
      </p:sp>
      <p:sp>
        <p:nvSpPr>
          <p:cNvPr id="61" name="Shape 59"/>
          <p:cNvSpPr/>
          <p:nvPr/>
        </p:nvSpPr>
        <p:spPr>
          <a:xfrm>
            <a:off x="5944514" y="2551176"/>
            <a:ext cx="219456" cy="219456"/>
          </a:xfrm>
          <a:prstGeom prst="rect">
            <a:avLst/>
          </a:prstGeom>
          <a:solidFill>
            <a:srgbClr val="BCCDC2"/>
          </a:solidFill>
          <a:ln w="9525">
            <a:solidFill>
              <a:srgbClr val="FFFFFF"/>
            </a:solidFill>
            <a:prstDash val="solid"/>
          </a:ln>
        </p:spPr>
      </p:sp>
      <p:sp>
        <p:nvSpPr>
          <p:cNvPr id="62" name="Shape 60"/>
          <p:cNvSpPr/>
          <p:nvPr/>
        </p:nvSpPr>
        <p:spPr>
          <a:xfrm>
            <a:off x="6163970" y="2551176"/>
            <a:ext cx="219456" cy="219456"/>
          </a:xfrm>
          <a:prstGeom prst="rect">
            <a:avLst/>
          </a:prstGeom>
          <a:solidFill>
            <a:srgbClr val="D3DDD6"/>
          </a:solidFill>
          <a:ln w="9525">
            <a:solidFill>
              <a:srgbClr val="FFFFFF"/>
            </a:solidFill>
            <a:prstDash val="solid"/>
          </a:ln>
        </p:spPr>
      </p:sp>
      <p:sp>
        <p:nvSpPr>
          <p:cNvPr id="63" name="Shape 61"/>
          <p:cNvSpPr/>
          <p:nvPr/>
        </p:nvSpPr>
        <p:spPr>
          <a:xfrm>
            <a:off x="5505602" y="2770632"/>
            <a:ext cx="219456" cy="219456"/>
          </a:xfrm>
          <a:prstGeom prst="rect">
            <a:avLst/>
          </a:prstGeom>
          <a:solidFill>
            <a:srgbClr val="D3DDD6"/>
          </a:solidFill>
          <a:ln w="9525">
            <a:solidFill>
              <a:srgbClr val="FFFFFF"/>
            </a:solidFill>
            <a:prstDash val="solid"/>
          </a:ln>
        </p:spPr>
      </p:sp>
      <p:sp>
        <p:nvSpPr>
          <p:cNvPr id="64" name="Shape 62"/>
          <p:cNvSpPr/>
          <p:nvPr/>
        </p:nvSpPr>
        <p:spPr>
          <a:xfrm>
            <a:off x="5725058" y="2770632"/>
            <a:ext cx="219456" cy="219456"/>
          </a:xfrm>
          <a:prstGeom prst="rect">
            <a:avLst/>
          </a:prstGeom>
          <a:solidFill>
            <a:srgbClr val="9FB6A8"/>
          </a:solidFill>
          <a:ln w="9525">
            <a:solidFill>
              <a:srgbClr val="FFFFFF"/>
            </a:solidFill>
            <a:prstDash val="solid"/>
          </a:ln>
        </p:spPr>
      </p:sp>
      <p:sp>
        <p:nvSpPr>
          <p:cNvPr id="65" name="Shape 63"/>
          <p:cNvSpPr/>
          <p:nvPr/>
        </p:nvSpPr>
        <p:spPr>
          <a:xfrm>
            <a:off x="5944514" y="2770632"/>
            <a:ext cx="219456" cy="219456"/>
          </a:xfrm>
          <a:prstGeom prst="rect">
            <a:avLst/>
          </a:prstGeom>
          <a:solidFill>
            <a:srgbClr val="D3DDD6"/>
          </a:solidFill>
          <a:ln w="9525">
            <a:solidFill>
              <a:srgbClr val="FFFFFF"/>
            </a:solidFill>
            <a:prstDash val="solid"/>
          </a:ln>
        </p:spPr>
      </p:sp>
      <p:sp>
        <p:nvSpPr>
          <p:cNvPr id="66" name="Shape 64"/>
          <p:cNvSpPr/>
          <p:nvPr/>
        </p:nvSpPr>
        <p:spPr>
          <a:xfrm>
            <a:off x="6163970" y="2770632"/>
            <a:ext cx="219456" cy="219456"/>
          </a:xfrm>
          <a:prstGeom prst="rect">
            <a:avLst/>
          </a:prstGeom>
          <a:solidFill>
            <a:srgbClr val="BCCDC2"/>
          </a:solidFill>
          <a:ln w="9525">
            <a:solidFill>
              <a:srgbClr val="FFFFFF"/>
            </a:solidFill>
            <a:prstDash val="solid"/>
          </a:ln>
        </p:spPr>
      </p:sp>
      <p:sp>
        <p:nvSpPr>
          <p:cNvPr id="67" name="Shape 65"/>
          <p:cNvSpPr/>
          <p:nvPr/>
        </p:nvSpPr>
        <p:spPr>
          <a:xfrm>
            <a:off x="5505602" y="2990088"/>
            <a:ext cx="219456" cy="219456"/>
          </a:xfrm>
          <a:prstGeom prst="rect">
            <a:avLst/>
          </a:prstGeom>
          <a:solidFill>
            <a:srgbClr val="BCCDC2"/>
          </a:solidFill>
          <a:ln w="9525">
            <a:solidFill>
              <a:srgbClr val="FFFFFF"/>
            </a:solidFill>
            <a:prstDash val="solid"/>
          </a:ln>
        </p:spPr>
      </p:sp>
      <p:sp>
        <p:nvSpPr>
          <p:cNvPr id="68" name="Shape 66"/>
          <p:cNvSpPr/>
          <p:nvPr/>
        </p:nvSpPr>
        <p:spPr>
          <a:xfrm>
            <a:off x="5725058" y="2990088"/>
            <a:ext cx="219456" cy="219456"/>
          </a:xfrm>
          <a:prstGeom prst="rect">
            <a:avLst/>
          </a:prstGeom>
          <a:solidFill>
            <a:srgbClr val="D3DDD6"/>
          </a:solidFill>
          <a:ln w="9525">
            <a:solidFill>
              <a:srgbClr val="FFFFFF"/>
            </a:solidFill>
            <a:prstDash val="solid"/>
          </a:ln>
        </p:spPr>
      </p:sp>
      <p:sp>
        <p:nvSpPr>
          <p:cNvPr id="69" name="Shape 67"/>
          <p:cNvSpPr/>
          <p:nvPr/>
        </p:nvSpPr>
        <p:spPr>
          <a:xfrm>
            <a:off x="5944514" y="2990088"/>
            <a:ext cx="219456" cy="219456"/>
          </a:xfrm>
          <a:prstGeom prst="rect">
            <a:avLst/>
          </a:prstGeom>
          <a:solidFill>
            <a:srgbClr val="9FB6A8"/>
          </a:solidFill>
          <a:ln w="9525">
            <a:solidFill>
              <a:srgbClr val="FFFFFF"/>
            </a:solidFill>
            <a:prstDash val="solid"/>
          </a:ln>
        </p:spPr>
      </p:sp>
      <p:sp>
        <p:nvSpPr>
          <p:cNvPr id="70" name="Shape 68"/>
          <p:cNvSpPr/>
          <p:nvPr/>
        </p:nvSpPr>
        <p:spPr>
          <a:xfrm>
            <a:off x="6163970" y="2990088"/>
            <a:ext cx="219456" cy="219456"/>
          </a:xfrm>
          <a:prstGeom prst="rect">
            <a:avLst/>
          </a:prstGeom>
          <a:solidFill>
            <a:srgbClr val="D3DDD6"/>
          </a:solidFill>
          <a:ln w="9525">
            <a:solidFill>
              <a:srgbClr val="FFFFFF"/>
            </a:solidFill>
            <a:prstDash val="solid"/>
          </a:ln>
        </p:spPr>
      </p:sp>
      <p:sp>
        <p:nvSpPr>
          <p:cNvPr id="71" name="Text 69"/>
          <p:cNvSpPr txBox="1"/>
          <p:nvPr/>
        </p:nvSpPr>
        <p:spPr>
          <a:xfrm>
            <a:off x="5505602" y="3300984"/>
            <a:ext cx="914400" cy="228600"/>
          </a:xfrm>
          <a:prstGeom prst="rect">
            <a:avLst/>
          </a:prstGeom>
          <a:noFill/>
          <a:ln/>
        </p:spPr>
        <p:txBody>
          <a:bodyPr wrap="square" lIns="0" tIns="0" rIns="0" bIns="0" rtlCol="0" anchor="t"/>
          <a:lstStyle/>
          <a:p>
            <a:pPr indent="0" marL="0">
              <a:buNone/>
            </a:pPr>
            <a:r>
              <a:rPr lang="en-US" sz="1200" dirty="0">
                <a:solidFill>
                  <a:srgbClr val="68736D"/>
                </a:solidFill>
                <a:latin typeface="Arial" pitchFamily="34" charset="0"/>
                <a:ea typeface="Arial" pitchFamily="34" charset="-122"/>
                <a:cs typeface="Arial" pitchFamily="34" charset="-120"/>
              </a:rPr>
              <a:t>Period 2</a:t>
            </a:r>
            <a:endParaRPr lang="en-US" sz="1200" dirty="0"/>
          </a:p>
        </p:txBody>
      </p:sp>
      <p:sp>
        <p:nvSpPr>
          <p:cNvPr id="72" name="Shape 70"/>
          <p:cNvSpPr/>
          <p:nvPr/>
        </p:nvSpPr>
        <p:spPr>
          <a:xfrm>
            <a:off x="6612026" y="2331720"/>
            <a:ext cx="219456" cy="219456"/>
          </a:xfrm>
          <a:prstGeom prst="rect">
            <a:avLst/>
          </a:prstGeom>
          <a:solidFill>
            <a:srgbClr val="BCCDC2"/>
          </a:solidFill>
          <a:ln w="9525">
            <a:solidFill>
              <a:srgbClr val="FFFFFF"/>
            </a:solidFill>
            <a:prstDash val="solid"/>
          </a:ln>
        </p:spPr>
      </p:sp>
      <p:sp>
        <p:nvSpPr>
          <p:cNvPr id="73" name="Shape 71"/>
          <p:cNvSpPr/>
          <p:nvPr/>
        </p:nvSpPr>
        <p:spPr>
          <a:xfrm>
            <a:off x="6831482" y="2331720"/>
            <a:ext cx="219456" cy="219456"/>
          </a:xfrm>
          <a:prstGeom prst="rect">
            <a:avLst/>
          </a:prstGeom>
          <a:solidFill>
            <a:srgbClr val="9FB6A8"/>
          </a:solidFill>
          <a:ln w="9525">
            <a:solidFill>
              <a:srgbClr val="FFFFFF"/>
            </a:solidFill>
            <a:prstDash val="solid"/>
          </a:ln>
        </p:spPr>
      </p:sp>
      <p:sp>
        <p:nvSpPr>
          <p:cNvPr id="74" name="Shape 72"/>
          <p:cNvSpPr/>
          <p:nvPr/>
        </p:nvSpPr>
        <p:spPr>
          <a:xfrm>
            <a:off x="7050938" y="2331720"/>
            <a:ext cx="219456" cy="219456"/>
          </a:xfrm>
          <a:prstGeom prst="rect">
            <a:avLst/>
          </a:prstGeom>
          <a:solidFill>
            <a:srgbClr val="BCCDC2"/>
          </a:solidFill>
          <a:ln w="9525">
            <a:solidFill>
              <a:srgbClr val="FFFFFF"/>
            </a:solidFill>
            <a:prstDash val="solid"/>
          </a:ln>
        </p:spPr>
      </p:sp>
      <p:sp>
        <p:nvSpPr>
          <p:cNvPr id="75" name="Shape 73"/>
          <p:cNvSpPr/>
          <p:nvPr/>
        </p:nvSpPr>
        <p:spPr>
          <a:xfrm>
            <a:off x="7270394" y="2331720"/>
            <a:ext cx="219456" cy="219456"/>
          </a:xfrm>
          <a:prstGeom prst="rect">
            <a:avLst/>
          </a:prstGeom>
          <a:solidFill>
            <a:srgbClr val="7D9A88"/>
          </a:solidFill>
          <a:ln w="9525">
            <a:solidFill>
              <a:srgbClr val="FFFFFF"/>
            </a:solidFill>
            <a:prstDash val="solid"/>
          </a:ln>
        </p:spPr>
      </p:sp>
      <p:sp>
        <p:nvSpPr>
          <p:cNvPr id="76" name="Shape 74"/>
          <p:cNvSpPr/>
          <p:nvPr/>
        </p:nvSpPr>
        <p:spPr>
          <a:xfrm>
            <a:off x="6612026" y="2551176"/>
            <a:ext cx="219456" cy="219456"/>
          </a:xfrm>
          <a:prstGeom prst="rect">
            <a:avLst/>
          </a:prstGeom>
          <a:solidFill>
            <a:srgbClr val="7D9A88"/>
          </a:solidFill>
          <a:ln w="9525">
            <a:solidFill>
              <a:srgbClr val="FFFFFF"/>
            </a:solidFill>
            <a:prstDash val="solid"/>
          </a:ln>
        </p:spPr>
      </p:sp>
      <p:sp>
        <p:nvSpPr>
          <p:cNvPr id="77" name="Shape 75"/>
          <p:cNvSpPr/>
          <p:nvPr/>
        </p:nvSpPr>
        <p:spPr>
          <a:xfrm>
            <a:off x="6831482" y="2551176"/>
            <a:ext cx="219456" cy="219456"/>
          </a:xfrm>
          <a:prstGeom prst="rect">
            <a:avLst/>
          </a:prstGeom>
          <a:solidFill>
            <a:srgbClr val="BCCDC2"/>
          </a:solidFill>
          <a:ln w="9525">
            <a:solidFill>
              <a:srgbClr val="FFFFFF"/>
            </a:solidFill>
            <a:prstDash val="solid"/>
          </a:ln>
        </p:spPr>
      </p:sp>
      <p:sp>
        <p:nvSpPr>
          <p:cNvPr id="78" name="Shape 76"/>
          <p:cNvSpPr/>
          <p:nvPr/>
        </p:nvSpPr>
        <p:spPr>
          <a:xfrm>
            <a:off x="7050938" y="2551176"/>
            <a:ext cx="219456" cy="219456"/>
          </a:xfrm>
          <a:prstGeom prst="rect">
            <a:avLst/>
          </a:prstGeom>
          <a:solidFill>
            <a:srgbClr val="9FB6A8"/>
          </a:solidFill>
          <a:ln w="9525">
            <a:solidFill>
              <a:srgbClr val="FFFFFF"/>
            </a:solidFill>
            <a:prstDash val="solid"/>
          </a:ln>
        </p:spPr>
      </p:sp>
      <p:sp>
        <p:nvSpPr>
          <p:cNvPr id="79" name="Shape 77"/>
          <p:cNvSpPr/>
          <p:nvPr/>
        </p:nvSpPr>
        <p:spPr>
          <a:xfrm>
            <a:off x="7270394" y="2551176"/>
            <a:ext cx="219456" cy="219456"/>
          </a:xfrm>
          <a:prstGeom prst="rect">
            <a:avLst/>
          </a:prstGeom>
          <a:solidFill>
            <a:srgbClr val="BCCDC2"/>
          </a:solidFill>
          <a:ln w="9525">
            <a:solidFill>
              <a:srgbClr val="FFFFFF"/>
            </a:solidFill>
            <a:prstDash val="solid"/>
          </a:ln>
        </p:spPr>
      </p:sp>
      <p:sp>
        <p:nvSpPr>
          <p:cNvPr id="80" name="Shape 78"/>
          <p:cNvSpPr/>
          <p:nvPr/>
        </p:nvSpPr>
        <p:spPr>
          <a:xfrm>
            <a:off x="6612026" y="2770632"/>
            <a:ext cx="219456" cy="219456"/>
          </a:xfrm>
          <a:prstGeom prst="rect">
            <a:avLst/>
          </a:prstGeom>
          <a:solidFill>
            <a:srgbClr val="BCCDC2"/>
          </a:solidFill>
          <a:ln w="9525">
            <a:solidFill>
              <a:srgbClr val="FFFFFF"/>
            </a:solidFill>
            <a:prstDash val="solid"/>
          </a:ln>
        </p:spPr>
      </p:sp>
      <p:sp>
        <p:nvSpPr>
          <p:cNvPr id="81" name="Shape 79"/>
          <p:cNvSpPr/>
          <p:nvPr/>
        </p:nvSpPr>
        <p:spPr>
          <a:xfrm>
            <a:off x="6831482" y="2770632"/>
            <a:ext cx="219456" cy="219456"/>
          </a:xfrm>
          <a:prstGeom prst="rect">
            <a:avLst/>
          </a:prstGeom>
          <a:solidFill>
            <a:srgbClr val="7D9A88"/>
          </a:solidFill>
          <a:ln w="9525">
            <a:solidFill>
              <a:srgbClr val="FFFFFF"/>
            </a:solidFill>
            <a:prstDash val="solid"/>
          </a:ln>
        </p:spPr>
      </p:sp>
      <p:sp>
        <p:nvSpPr>
          <p:cNvPr id="82" name="Shape 80"/>
          <p:cNvSpPr/>
          <p:nvPr/>
        </p:nvSpPr>
        <p:spPr>
          <a:xfrm>
            <a:off x="7050938" y="2770632"/>
            <a:ext cx="219456" cy="219456"/>
          </a:xfrm>
          <a:prstGeom prst="rect">
            <a:avLst/>
          </a:prstGeom>
          <a:solidFill>
            <a:srgbClr val="BCCDC2"/>
          </a:solidFill>
          <a:ln w="9525">
            <a:solidFill>
              <a:srgbClr val="FFFFFF"/>
            </a:solidFill>
            <a:prstDash val="solid"/>
          </a:ln>
        </p:spPr>
      </p:sp>
      <p:sp>
        <p:nvSpPr>
          <p:cNvPr id="83" name="Shape 81"/>
          <p:cNvSpPr/>
          <p:nvPr/>
        </p:nvSpPr>
        <p:spPr>
          <a:xfrm>
            <a:off x="7270394" y="2770632"/>
            <a:ext cx="219456" cy="219456"/>
          </a:xfrm>
          <a:prstGeom prst="rect">
            <a:avLst/>
          </a:prstGeom>
          <a:solidFill>
            <a:srgbClr val="9FB6A8"/>
          </a:solidFill>
          <a:ln w="9525">
            <a:solidFill>
              <a:srgbClr val="FFFFFF"/>
            </a:solidFill>
            <a:prstDash val="solid"/>
          </a:ln>
        </p:spPr>
      </p:sp>
      <p:sp>
        <p:nvSpPr>
          <p:cNvPr id="84" name="Shape 82"/>
          <p:cNvSpPr/>
          <p:nvPr/>
        </p:nvSpPr>
        <p:spPr>
          <a:xfrm>
            <a:off x="6612026" y="2990088"/>
            <a:ext cx="219456" cy="219456"/>
          </a:xfrm>
          <a:prstGeom prst="rect">
            <a:avLst/>
          </a:prstGeom>
          <a:solidFill>
            <a:srgbClr val="9FB6A8"/>
          </a:solidFill>
          <a:ln w="9525">
            <a:solidFill>
              <a:srgbClr val="FFFFFF"/>
            </a:solidFill>
            <a:prstDash val="solid"/>
          </a:ln>
        </p:spPr>
      </p:sp>
      <p:sp>
        <p:nvSpPr>
          <p:cNvPr id="85" name="Shape 83"/>
          <p:cNvSpPr/>
          <p:nvPr/>
        </p:nvSpPr>
        <p:spPr>
          <a:xfrm>
            <a:off x="6831482" y="2990088"/>
            <a:ext cx="219456" cy="219456"/>
          </a:xfrm>
          <a:prstGeom prst="rect">
            <a:avLst/>
          </a:prstGeom>
          <a:solidFill>
            <a:srgbClr val="BCCDC2"/>
          </a:solidFill>
          <a:ln w="9525">
            <a:solidFill>
              <a:srgbClr val="FFFFFF"/>
            </a:solidFill>
            <a:prstDash val="solid"/>
          </a:ln>
        </p:spPr>
      </p:sp>
      <p:sp>
        <p:nvSpPr>
          <p:cNvPr id="86" name="Shape 84"/>
          <p:cNvSpPr/>
          <p:nvPr/>
        </p:nvSpPr>
        <p:spPr>
          <a:xfrm>
            <a:off x="7050938" y="2990088"/>
            <a:ext cx="219456" cy="219456"/>
          </a:xfrm>
          <a:prstGeom prst="rect">
            <a:avLst/>
          </a:prstGeom>
          <a:solidFill>
            <a:srgbClr val="7D9A88"/>
          </a:solidFill>
          <a:ln w="9525">
            <a:solidFill>
              <a:srgbClr val="FFFFFF"/>
            </a:solidFill>
            <a:prstDash val="solid"/>
          </a:ln>
        </p:spPr>
      </p:sp>
      <p:sp>
        <p:nvSpPr>
          <p:cNvPr id="87" name="Shape 85"/>
          <p:cNvSpPr/>
          <p:nvPr/>
        </p:nvSpPr>
        <p:spPr>
          <a:xfrm>
            <a:off x="7270394" y="2990088"/>
            <a:ext cx="219456" cy="219456"/>
          </a:xfrm>
          <a:prstGeom prst="rect">
            <a:avLst/>
          </a:prstGeom>
          <a:solidFill>
            <a:srgbClr val="BCCDC2"/>
          </a:solidFill>
          <a:ln w="9525">
            <a:solidFill>
              <a:srgbClr val="FFFFFF"/>
            </a:solidFill>
            <a:prstDash val="solid"/>
          </a:ln>
        </p:spPr>
      </p:sp>
      <p:sp>
        <p:nvSpPr>
          <p:cNvPr id="88" name="Text 86"/>
          <p:cNvSpPr txBox="1"/>
          <p:nvPr/>
        </p:nvSpPr>
        <p:spPr>
          <a:xfrm>
            <a:off x="6612026" y="3300984"/>
            <a:ext cx="914400" cy="228600"/>
          </a:xfrm>
          <a:prstGeom prst="rect">
            <a:avLst/>
          </a:prstGeom>
          <a:noFill/>
          <a:ln/>
        </p:spPr>
        <p:txBody>
          <a:bodyPr wrap="square" lIns="0" tIns="0" rIns="0" bIns="0" rtlCol="0" anchor="t"/>
          <a:lstStyle/>
          <a:p>
            <a:pPr indent="0" marL="0">
              <a:buNone/>
            </a:pPr>
            <a:r>
              <a:rPr lang="en-US" sz="1200" dirty="0">
                <a:solidFill>
                  <a:srgbClr val="68736D"/>
                </a:solidFill>
                <a:latin typeface="Arial" pitchFamily="34" charset="0"/>
                <a:ea typeface="Arial" pitchFamily="34" charset="-122"/>
                <a:cs typeface="Arial" pitchFamily="34" charset="-120"/>
              </a:rPr>
              <a:t>Period 3</a:t>
            </a:r>
            <a:endParaRPr lang="en-US" sz="1200" dirty="0"/>
          </a:p>
        </p:txBody>
      </p:sp>
      <p:sp>
        <p:nvSpPr>
          <p:cNvPr id="89" name="Shape 87"/>
          <p:cNvSpPr/>
          <p:nvPr/>
        </p:nvSpPr>
        <p:spPr>
          <a:xfrm>
            <a:off x="8249717" y="2148840"/>
            <a:ext cx="2377440" cy="1325880"/>
          </a:xfrm>
          <a:custGeom>
            <a:avLst/>
            <a:gdLst/>
            <a:ahLst/>
            <a:cxnLst/>
            <a:rect l="l" t="t" r="r" b="b"/>
            <a:pathLst>
              <a:path w="2377440" h="1325880">
                <a:moveTo>
                  <a:pt x="91440" y="228600"/>
                </a:moveTo>
                <a:lnTo>
                  <a:pt x="1280160" y="0"/>
                </a:lnTo>
                <a:lnTo>
                  <a:pt x="2286000" y="320040"/>
                </a:lnTo>
                <a:lnTo>
                  <a:pt x="2103120" y="1188720"/>
                </a:lnTo>
                <a:lnTo>
                  <a:pt x="822960" y="1325880"/>
                </a:lnTo>
                <a:lnTo>
                  <a:pt x="0" y="822960"/>
                </a:lnTo>
                <a:close/>
              </a:path>
            </a:pathLst>
          </a:custGeom>
          <a:solidFill>
            <a:srgbClr val="FFFFFF"/>
          </a:solidFill>
          <a:ln w="19050">
            <a:solidFill>
              <a:srgbClr val="68736D"/>
            </a:solidFill>
            <a:prstDash val="dash"/>
          </a:ln>
        </p:spPr>
      </p:sp>
      <p:sp>
        <p:nvSpPr>
          <p:cNvPr id="90" name="Shape 88"/>
          <p:cNvSpPr/>
          <p:nvPr/>
        </p:nvSpPr>
        <p:spPr>
          <a:xfrm>
            <a:off x="8798357" y="2560320"/>
            <a:ext cx="146304" cy="146304"/>
          </a:xfrm>
          <a:prstGeom prst="rect">
            <a:avLst/>
          </a:prstGeom>
          <a:solidFill>
            <a:srgbClr val="FFFFFF"/>
          </a:solidFill>
          <a:ln w="15875">
            <a:solidFill>
              <a:srgbClr val="202723"/>
            </a:solidFill>
            <a:prstDash val="solid"/>
          </a:ln>
        </p:spPr>
      </p:sp>
      <p:sp>
        <p:nvSpPr>
          <p:cNvPr id="91" name="Shape 89"/>
          <p:cNvSpPr/>
          <p:nvPr/>
        </p:nvSpPr>
        <p:spPr>
          <a:xfrm>
            <a:off x="9621317" y="2468880"/>
            <a:ext cx="146304" cy="146304"/>
          </a:xfrm>
          <a:prstGeom prst="rect">
            <a:avLst/>
          </a:prstGeom>
          <a:solidFill>
            <a:srgbClr val="FFFFFF"/>
          </a:solidFill>
          <a:ln w="15875">
            <a:solidFill>
              <a:srgbClr val="202723"/>
            </a:solidFill>
            <a:prstDash val="solid"/>
          </a:ln>
        </p:spPr>
      </p:sp>
      <p:sp>
        <p:nvSpPr>
          <p:cNvPr id="92" name="Shape 90"/>
          <p:cNvSpPr/>
          <p:nvPr/>
        </p:nvSpPr>
        <p:spPr>
          <a:xfrm>
            <a:off x="9987077" y="2971800"/>
            <a:ext cx="146304" cy="146304"/>
          </a:xfrm>
          <a:prstGeom prst="rect">
            <a:avLst/>
          </a:prstGeom>
          <a:solidFill>
            <a:srgbClr val="FFFFFF"/>
          </a:solidFill>
          <a:ln w="15875">
            <a:solidFill>
              <a:srgbClr val="202723"/>
            </a:solidFill>
            <a:prstDash val="solid"/>
          </a:ln>
        </p:spPr>
      </p:sp>
      <p:sp>
        <p:nvSpPr>
          <p:cNvPr id="93" name="Shape 91"/>
          <p:cNvSpPr/>
          <p:nvPr/>
        </p:nvSpPr>
        <p:spPr>
          <a:xfrm>
            <a:off x="9072677" y="3017520"/>
            <a:ext cx="146304" cy="146304"/>
          </a:xfrm>
          <a:prstGeom prst="rect">
            <a:avLst/>
          </a:prstGeom>
          <a:solidFill>
            <a:srgbClr val="FFFFFF"/>
          </a:solidFill>
          <a:ln w="15875">
            <a:solidFill>
              <a:srgbClr val="202723"/>
            </a:solidFill>
            <a:prstDash val="solid"/>
          </a:ln>
        </p:spPr>
      </p:sp>
      <p:sp>
        <p:nvSpPr>
          <p:cNvPr id="94" name="Text 92"/>
          <p:cNvSpPr txBox="1"/>
          <p:nvPr/>
        </p:nvSpPr>
        <p:spPr>
          <a:xfrm>
            <a:off x="548640" y="5989320"/>
            <a:ext cx="5486400" cy="256032"/>
          </a:xfrm>
          <a:prstGeom prst="rect">
            <a:avLst/>
          </a:prstGeom>
          <a:noFill/>
          <a:ln/>
        </p:spPr>
        <p:txBody>
          <a:bodyPr wrap="square" lIns="0" tIns="0" rIns="0" bIns="0" rtlCol="0" anchor="t"/>
          <a:lstStyle/>
          <a:p>
            <a:pPr indent="0" marL="0">
              <a:buNone/>
            </a:pPr>
            <a:r>
              <a:rPr lang="en-US" sz="1200" dirty="0">
                <a:solidFill>
                  <a:srgbClr val="68736D"/>
                </a:solidFill>
                <a:latin typeface="Arial" pitchFamily="34" charset="0"/>
                <a:ea typeface="Arial" pitchFamily="34" charset="-122"/>
                <a:cs typeface="Arial" pitchFamily="34" charset="-120"/>
              </a:rPr>
              <a:t>Schematic illustrations. No measured data.</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8736D"/>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777240"/>
            <a:ext cx="6949440" cy="1371600"/>
          </a:xfrm>
          <a:prstGeom prst="rect">
            <a:avLst/>
          </a:prstGeom>
          <a:noFill/>
          <a:ln/>
        </p:spPr>
        <p:txBody>
          <a:bodyPr wrap="square" lIns="0" tIns="0" rIns="0" bIns="0" rtlCol="0" anchor="t"/>
          <a:lstStyle/>
          <a:p>
            <a:pPr indent="0" marL="0">
              <a:buNone/>
            </a:pPr>
            <a:r>
              <a:rPr lang="en-US" sz="4000" dirty="0">
                <a:solidFill>
                  <a:srgbClr val="202723"/>
                </a:solidFill>
                <a:latin typeface="Cambria" pitchFamily="34" charset="0"/>
                <a:ea typeface="Cambria" pitchFamily="34" charset="-122"/>
                <a:cs typeface="Cambria" pitchFamily="34" charset="-120"/>
              </a:rPr>
              <a:t>Build a continuous record of environmental change</a:t>
            </a:r>
            <a:endParaRPr lang="en-US" sz="4000" dirty="0"/>
          </a:p>
        </p:txBody>
      </p:sp>
      <p:sp>
        <p:nvSpPr>
          <p:cNvPr id="3" name="Text 1"/>
          <p:cNvSpPr txBox="1"/>
          <p:nvPr/>
        </p:nvSpPr>
        <p:spPr>
          <a:xfrm>
            <a:off x="548640" y="2514600"/>
            <a:ext cx="6949440" cy="1508760"/>
          </a:xfrm>
          <a:prstGeom prst="rect">
            <a:avLst/>
          </a:prstGeom>
          <a:noFill/>
          <a:ln/>
        </p:spPr>
        <p:txBody>
          <a:bodyPr wrap="square" lIns="0" tIns="0" rIns="0" bIns="0" rtlCol="0" anchor="t"/>
          <a:lstStyle/>
          <a:p>
            <a:pPr indent="0" marL="0">
              <a:lnSpc>
                <a:spcPct val="105000"/>
              </a:lnSpc>
              <a:buNone/>
            </a:pPr>
            <a:r>
              <a:rPr lang="en-US" sz="3200" dirty="0">
                <a:solidFill>
                  <a:srgbClr val="294D3C"/>
                </a:solidFill>
                <a:latin typeface="Cambria" pitchFamily="34" charset="0"/>
                <a:ea typeface="Cambria" pitchFamily="34" charset="-122"/>
                <a:cs typeface="Cambria" pitchFamily="34" charset="-120"/>
              </a:rPr>
              <a:t>One ecological question.</a:t>
            </a:r>
            <a:endParaRPr lang="en-US" sz="3200" dirty="0"/>
          </a:p>
          <a:p>
            <a:pPr indent="0" marL="0">
              <a:lnSpc>
                <a:spcPct val="105000"/>
              </a:lnSpc>
              <a:buNone/>
            </a:pPr>
            <a:r>
              <a:rPr lang="en-US" sz="3200" dirty="0">
                <a:solidFill>
                  <a:srgbClr val="294D3C"/>
                </a:solidFill>
                <a:latin typeface="Cambria" pitchFamily="34" charset="0"/>
                <a:ea typeface="Cambria" pitchFamily="34" charset="-122"/>
                <a:cs typeface="Cambria" pitchFamily="34" charset="-120"/>
              </a:rPr>
              <a:t>Multiple data sources.</a:t>
            </a:r>
            <a:endParaRPr lang="en-US" sz="3200" dirty="0"/>
          </a:p>
          <a:p>
            <a:pPr indent="0" marL="0">
              <a:lnSpc>
                <a:spcPct val="105000"/>
              </a:lnSpc>
              <a:buNone/>
            </a:pPr>
            <a:r>
              <a:rPr lang="en-US" sz="3200" dirty="0">
                <a:solidFill>
                  <a:srgbClr val="294D3C"/>
                </a:solidFill>
                <a:latin typeface="Cambria" pitchFamily="34" charset="0"/>
                <a:ea typeface="Cambria" pitchFamily="34" charset="-122"/>
                <a:cs typeface="Cambria" pitchFamily="34" charset="-120"/>
              </a:rPr>
              <a:t>One reproducible workflow.</a:t>
            </a:r>
            <a:endParaRPr lang="en-US" sz="3200" dirty="0"/>
          </a:p>
        </p:txBody>
      </p:sp>
      <p:sp>
        <p:nvSpPr>
          <p:cNvPr id="4" name="Text 2"/>
          <p:cNvSpPr txBox="1"/>
          <p:nvPr/>
        </p:nvSpPr>
        <p:spPr>
          <a:xfrm>
            <a:off x="548640" y="4434840"/>
            <a:ext cx="2743200" cy="274320"/>
          </a:xfrm>
          <a:prstGeom prst="rect">
            <a:avLst/>
          </a:prstGeom>
          <a:noFill/>
          <a:ln/>
        </p:spPr>
        <p:txBody>
          <a:bodyPr wrap="square" lIns="0" tIns="0" rIns="0" bIns="0" rtlCol="0" anchor="t"/>
          <a:lstStyle/>
          <a:p>
            <a:pPr indent="0" marL="0">
              <a:buNone/>
            </a:pPr>
            <a:r>
              <a:rPr lang="en-US" sz="1400" b="1" spc="200" kern="0" dirty="0">
                <a:solidFill>
                  <a:srgbClr val="B68638"/>
                </a:solidFill>
                <a:latin typeface="Arial" pitchFamily="34" charset="0"/>
                <a:ea typeface="Arial" pitchFamily="34" charset="-122"/>
                <a:cs typeface="Arial" pitchFamily="34" charset="-120"/>
              </a:rPr>
              <a:t>NEXT STEP</a:t>
            </a:r>
            <a:endParaRPr lang="en-US" sz="1400" dirty="0"/>
          </a:p>
        </p:txBody>
      </p:sp>
      <p:sp>
        <p:nvSpPr>
          <p:cNvPr id="5" name="Text 3"/>
          <p:cNvSpPr txBox="1"/>
          <p:nvPr/>
        </p:nvSpPr>
        <p:spPr>
          <a:xfrm>
            <a:off x="548640" y="4754880"/>
            <a:ext cx="7680960" cy="411480"/>
          </a:xfrm>
          <a:prstGeom prst="rect">
            <a:avLst/>
          </a:prstGeom>
          <a:noFill/>
          <a:ln/>
        </p:spPr>
        <p:txBody>
          <a:bodyPr wrap="square" lIns="0" tIns="0" rIns="0" bIns="0" rtlCol="0" anchor="t"/>
          <a:lstStyle/>
          <a:p>
            <a:pPr indent="0" marL="0">
              <a:buNone/>
            </a:pPr>
            <a:r>
              <a:rPr lang="en-US" sz="2200" b="1" dirty="0">
                <a:solidFill>
                  <a:srgbClr val="202723"/>
                </a:solidFill>
                <a:latin typeface="Arial" pitchFamily="34" charset="0"/>
                <a:ea typeface="Arial" pitchFamily="34" charset="-122"/>
                <a:cs typeface="Arial" pitchFamily="34" charset="-120"/>
              </a:rPr>
              <a:t>Validate a complete historical workflow with researchers.</a:t>
            </a:r>
            <a:endParaRPr lang="en-US" sz="2200" dirty="0"/>
          </a:p>
        </p:txBody>
      </p:sp>
      <p:sp>
        <p:nvSpPr>
          <p:cNvPr id="6" name="Text 4"/>
          <p:cNvSpPr txBox="1"/>
          <p:nvPr/>
        </p:nvSpPr>
        <p:spPr>
          <a:xfrm>
            <a:off x="548640" y="5303520"/>
            <a:ext cx="7680960" cy="365760"/>
          </a:xfrm>
          <a:prstGeom prst="rect">
            <a:avLst/>
          </a:prstGeom>
          <a:noFill/>
          <a:ln/>
        </p:spPr>
        <p:txBody>
          <a:bodyPr wrap="square" lIns="0" tIns="0" rIns="0" bIns="0" rtlCol="0" anchor="t"/>
          <a:lstStyle/>
          <a:p>
            <a:pPr indent="0" marL="0">
              <a:buNone/>
            </a:pPr>
            <a:r>
              <a:rPr lang="en-US" sz="1600" dirty="0">
                <a:solidFill>
                  <a:srgbClr val="68736D"/>
                </a:solidFill>
                <a:latin typeface="Arial" pitchFamily="34" charset="0"/>
                <a:ea typeface="Arial" pitchFamily="34" charset="-122"/>
                <a:cs typeface="Arial" pitchFamily="34" charset="-120"/>
              </a:rPr>
              <a:t>Extend from public datasets to field observations and recurring monitoring.</a:t>
            </a:r>
            <a:endParaRPr lang="en-US" sz="1600" dirty="0"/>
          </a:p>
        </p:txBody>
      </p:sp>
      <p:sp>
        <p:nvSpPr>
          <p:cNvPr id="7" name="Shape 5"/>
          <p:cNvSpPr/>
          <p:nvPr/>
        </p:nvSpPr>
        <p:spPr>
          <a:xfrm>
            <a:off x="8503920" y="2514600"/>
            <a:ext cx="3108960" cy="2429124"/>
          </a:xfrm>
          <a:prstGeom prst="rect">
            <a:avLst/>
          </a:prstGeom>
          <a:ln w="15875">
            <a:solidFill>
              <a:srgbClr val="202723"/>
            </a:solidFill>
            <a:prstDash val="solid"/>
          </a:ln>
        </p:spPr>
      </p:sp>
      <p:sp>
        <p:nvSpPr>
          <p:cNvPr id="8" name="Shape 6"/>
          <p:cNvSpPr/>
          <p:nvPr/>
        </p:nvSpPr>
        <p:spPr>
          <a:xfrm>
            <a:off x="8637161" y="3243337"/>
            <a:ext cx="910481" cy="1366382"/>
          </a:xfrm>
          <a:prstGeom prst="rect">
            <a:avLst/>
          </a:prstGeom>
          <a:solidFill>
            <a:srgbClr val="294D3C">
              <a:alpha val="18000"/>
            </a:srgbClr>
          </a:solidFill>
          <a:ln w="22225">
            <a:solidFill>
              <a:srgbClr val="294D3C"/>
            </a:solidFill>
            <a:prstDash val="solid"/>
          </a:ln>
        </p:spPr>
      </p:sp>
      <p:sp>
        <p:nvSpPr>
          <p:cNvPr id="9" name="Shape 7"/>
          <p:cNvSpPr/>
          <p:nvPr/>
        </p:nvSpPr>
        <p:spPr>
          <a:xfrm>
            <a:off x="8973007" y="3748672"/>
            <a:ext cx="118872" cy="118872"/>
          </a:xfrm>
          <a:prstGeom prst="ellipse">
            <a:avLst/>
          </a:prstGeom>
          <a:solidFill>
            <a:srgbClr val="B68638"/>
          </a:solidFill>
          <a:ln w="19050">
            <a:solidFill>
              <a:srgbClr val="B68638"/>
            </a:solidFill>
            <a:prstDash val="solid"/>
          </a:ln>
        </p:spPr>
      </p:sp>
      <p:sp>
        <p:nvSpPr>
          <p:cNvPr id="10" name="Text 8"/>
          <p:cNvSpPr txBox="1"/>
          <p:nvPr/>
        </p:nvSpPr>
        <p:spPr>
          <a:xfrm>
            <a:off x="8503920" y="5074920"/>
            <a:ext cx="3108960" cy="274320"/>
          </a:xfrm>
          <a:prstGeom prst="rect">
            <a:avLst/>
          </a:prstGeom>
          <a:noFill/>
          <a:ln/>
        </p:spPr>
        <p:txBody>
          <a:bodyPr wrap="square" lIns="0" tIns="0" rIns="0" bIns="0" rtlCol="0" anchor="t"/>
          <a:lstStyle/>
          <a:p>
            <a:pPr indent="0" marL="0">
              <a:buNone/>
            </a:pPr>
            <a:r>
              <a:rPr lang="en-US" sz="1400" dirty="0">
                <a:solidFill>
                  <a:srgbClr val="68736D"/>
                </a:solidFill>
                <a:latin typeface="Arial" pitchFamily="34" charset="0"/>
                <a:ea typeface="Arial" pitchFamily="34" charset="-122"/>
                <a:cs typeface="Arial" pitchFamily="34" charset="-120"/>
              </a:rPr>
              <a:t>Wyoming · study region</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566928"/>
            <a:ext cx="11094415" cy="548640"/>
          </a:xfrm>
          <a:prstGeom prst="rect">
            <a:avLst/>
          </a:prstGeom>
          <a:noFill/>
          <a:ln/>
        </p:spPr>
        <p:txBody>
          <a:bodyPr wrap="square" lIns="0" tIns="0" rIns="0" bIns="0" rtlCol="0" anchor="t"/>
          <a:lstStyle/>
          <a:p>
            <a:pPr algn="l" indent="0" marL="0">
              <a:buNone/>
            </a:pPr>
            <a:r>
              <a:rPr lang="en-US" sz="2800" b="1" dirty="0">
                <a:solidFill>
                  <a:srgbClr val="202723"/>
                </a:solidFill>
                <a:latin typeface="Arial" pitchFamily="34" charset="0"/>
                <a:ea typeface="Arial" pitchFamily="34" charset="-122"/>
                <a:cs typeface="Arial" pitchFamily="34" charset="-120"/>
              </a:rPr>
              <a:t>Data sources and study references</a:t>
            </a:r>
            <a:endParaRPr lang="en-US" sz="2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651760"/>
                <a:gridCol w="2926080"/>
                <a:gridCol w="2560320"/>
                <a:gridCol w="2926080"/>
              </a:tblGrid>
              <a:tr h="438912">
                <a:tc>
                  <a:txBody>
                    <a:bodyPr/>
                    <a:lstStyle/>
                    <a:p>
                      <a:pPr indent="0" marL="0">
                        <a:buNone/>
                      </a:pPr>
                      <a:r>
                        <a:rPr lang="en-US" sz="1300" b="1" dirty="0">
                          <a:solidFill>
                            <a:srgbClr val="FFFFFF"/>
                          </a:solidFill>
                          <a:latin typeface="Arial" pitchFamily="34" charset="0"/>
                          <a:ea typeface="Arial" pitchFamily="34" charset="-122"/>
                          <a:cs typeface="Arial" pitchFamily="34" charset="-120"/>
                        </a:rPr>
                        <a:t>Source</a:t>
                      </a:r>
                      <a:endParaRPr lang="en-US" sz="1300" dirty="0">
                        <a:latin typeface="Arial" charset="0"/>
                        <a:ea typeface="Arial" charset="0"/>
                        <a:cs typeface="Arial" charset="0"/>
                      </a:endParaRPr>
                    </a:p>
                  </a:txBody>
                  <a:tcPr marL="91440" marR="91440" marT="36576" marB="36576" anchor="ctr">
                    <a:lnL w="9525" cap="flat" cmpd="sng" algn="ctr">
                      <a:solidFill>
                        <a:srgbClr val="E8ECE9"/>
                      </a:solidFill>
                      <a:prstDash val="solid"/>
                      <a:round/>
                      <a:headEnd type="none" w="med" len="med"/>
                      <a:tailEnd type="none" w="med" len="med"/>
                    </a:lnL>
                    <a:lnR w="9525" cap="flat" cmpd="sng" algn="ctr">
                      <a:solidFill>
                        <a:srgbClr val="E8ECE9"/>
                      </a:solidFill>
                      <a:prstDash val="solid"/>
                      <a:round/>
                      <a:headEnd type="none" w="med" len="med"/>
                      <a:tailEnd type="none" w="med" len="med"/>
                    </a:lnR>
                    <a:lnT w="9525" cap="flat" cmpd="sng" algn="ctr">
                      <a:solidFill>
                        <a:srgbClr val="E8ECE9"/>
                      </a:solidFill>
                      <a:prstDash val="solid"/>
                      <a:round/>
                      <a:headEnd type="none" w="med" len="med"/>
                      <a:tailEnd type="none" w="med" len="med"/>
                    </a:lnT>
                    <a:lnB w="9525" cap="flat" cmpd="sng" algn="ctr">
                      <a:solidFill>
                        <a:srgbClr val="E8ECE9"/>
                      </a:solidFill>
                      <a:prstDash val="solid"/>
                      <a:round/>
                      <a:headEnd type="none" w="med" len="med"/>
                      <a:tailEnd type="none" w="med" len="med"/>
                    </a:lnB>
                    <a:solidFill>
                      <a:srgbClr val="294D3C"/>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Provides</a:t>
                      </a:r>
                      <a:endParaRPr lang="en-US" sz="1300" dirty="0">
                        <a:latin typeface="Arial" charset="0"/>
                        <a:ea typeface="Arial" charset="0"/>
                        <a:cs typeface="Arial" charset="0"/>
                      </a:endParaRPr>
                    </a:p>
                  </a:txBody>
                  <a:tcPr marL="91440" marR="91440" marT="36576" marB="36576" anchor="ctr">
                    <a:lnL w="9525" cap="flat" cmpd="sng" algn="ctr">
                      <a:solidFill>
                        <a:srgbClr val="E8ECE9"/>
                      </a:solidFill>
                      <a:prstDash val="solid"/>
                      <a:round/>
                      <a:headEnd type="none" w="med" len="med"/>
                      <a:tailEnd type="none" w="med" len="med"/>
                    </a:lnL>
                    <a:lnR w="9525" cap="flat" cmpd="sng" algn="ctr">
                      <a:solidFill>
                        <a:srgbClr val="E8ECE9"/>
                      </a:solidFill>
                      <a:prstDash val="solid"/>
                      <a:round/>
                      <a:headEnd type="none" w="med" len="med"/>
                      <a:tailEnd type="none" w="med" len="med"/>
                    </a:lnR>
                    <a:lnT w="9525" cap="flat" cmpd="sng" algn="ctr">
                      <a:solidFill>
                        <a:srgbClr val="E8ECE9"/>
                      </a:solidFill>
                      <a:prstDash val="solid"/>
                      <a:round/>
                      <a:headEnd type="none" w="med" len="med"/>
                      <a:tailEnd type="none" w="med" len="med"/>
                    </a:lnT>
                    <a:lnB w="9525" cap="flat" cmpd="sng" algn="ctr">
                      <a:solidFill>
                        <a:srgbClr val="E8ECE9"/>
                      </a:solidFill>
                      <a:prstDash val="solid"/>
                      <a:round/>
                      <a:headEnd type="none" w="med" len="med"/>
                      <a:tailEnd type="none" w="med" len="med"/>
                    </a:lnB>
                    <a:solidFill>
                      <a:srgbClr val="294D3C"/>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Spatial / temporal</a:t>
                      </a:r>
                      <a:endParaRPr lang="en-US" sz="1300" dirty="0">
                        <a:latin typeface="Arial" charset="0"/>
                        <a:ea typeface="Arial" charset="0"/>
                        <a:cs typeface="Arial" charset="0"/>
                      </a:endParaRPr>
                    </a:p>
                  </a:txBody>
                  <a:tcPr marL="91440" marR="91440" marT="36576" marB="36576" anchor="ctr">
                    <a:lnL w="9525" cap="flat" cmpd="sng" algn="ctr">
                      <a:solidFill>
                        <a:srgbClr val="E8ECE9"/>
                      </a:solidFill>
                      <a:prstDash val="solid"/>
                      <a:round/>
                      <a:headEnd type="none" w="med" len="med"/>
                      <a:tailEnd type="none" w="med" len="med"/>
                    </a:lnL>
                    <a:lnR w="9525" cap="flat" cmpd="sng" algn="ctr">
                      <a:solidFill>
                        <a:srgbClr val="E8ECE9"/>
                      </a:solidFill>
                      <a:prstDash val="solid"/>
                      <a:round/>
                      <a:headEnd type="none" w="med" len="med"/>
                      <a:tailEnd type="none" w="med" len="med"/>
                    </a:lnR>
                    <a:lnT w="9525" cap="flat" cmpd="sng" algn="ctr">
                      <a:solidFill>
                        <a:srgbClr val="E8ECE9"/>
                      </a:solidFill>
                      <a:prstDash val="solid"/>
                      <a:round/>
                      <a:headEnd type="none" w="med" len="med"/>
                      <a:tailEnd type="none" w="med" len="med"/>
                    </a:lnT>
                    <a:lnB w="9525" cap="flat" cmpd="sng" algn="ctr">
                      <a:solidFill>
                        <a:srgbClr val="E8ECE9"/>
                      </a:solidFill>
                      <a:prstDash val="solid"/>
                      <a:round/>
                      <a:headEnd type="none" w="med" len="med"/>
                      <a:tailEnd type="none" w="med" len="med"/>
                    </a:lnB>
                    <a:solidFill>
                      <a:srgbClr val="294D3C"/>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Access and terms</a:t>
                      </a:r>
                      <a:endParaRPr lang="en-US" sz="1300" dirty="0">
                        <a:latin typeface="Arial" charset="0"/>
                        <a:ea typeface="Arial" charset="0"/>
                        <a:cs typeface="Arial" charset="0"/>
                      </a:endParaRPr>
                    </a:p>
                  </a:txBody>
                  <a:tcPr marL="91440" marR="91440" marT="36576" marB="36576" anchor="ctr">
                    <a:lnL w="9525" cap="flat" cmpd="sng" algn="ctr">
                      <a:solidFill>
                        <a:srgbClr val="E8ECE9"/>
                      </a:solidFill>
                      <a:prstDash val="solid"/>
                      <a:round/>
                      <a:headEnd type="none" w="med" len="med"/>
                      <a:tailEnd type="none" w="med" len="med"/>
                    </a:lnL>
                    <a:lnR w="9525" cap="flat" cmpd="sng" algn="ctr">
                      <a:solidFill>
                        <a:srgbClr val="E8ECE9"/>
                      </a:solidFill>
                      <a:prstDash val="solid"/>
                      <a:round/>
                      <a:headEnd type="none" w="med" len="med"/>
                      <a:tailEnd type="none" w="med" len="med"/>
                    </a:lnR>
                    <a:lnT w="9525" cap="flat" cmpd="sng" algn="ctr">
                      <a:solidFill>
                        <a:srgbClr val="E8ECE9"/>
                      </a:solidFill>
                      <a:prstDash val="solid"/>
                      <a:round/>
                      <a:headEnd type="none" w="med" len="med"/>
                      <a:tailEnd type="none" w="med" len="med"/>
                    </a:lnT>
                    <a:lnB w="9525" cap="flat" cmpd="sng" algn="ctr">
                      <a:solidFill>
                        <a:srgbClr val="E8ECE9"/>
                      </a:solidFill>
                      <a:prstDash val="solid"/>
                      <a:round/>
                      <a:headEnd type="none" w="med" len="med"/>
                      <a:tailEnd type="none" w="med" len="med"/>
                    </a:lnB>
                    <a:solidFill>
                      <a:srgbClr val="294D3C"/>
                    </a:solidFill>
                  </a:tcPr>
                </a:tc>
              </a:tr>
              <a:tr h="438912">
                <a:tc>
                  <a:txBody>
                    <a:bodyPr/>
                    <a:lstStyle/>
                    <a:p>
                      <a:pPr indent="0" marL="0">
                        <a:buNone/>
                      </a:pPr>
                      <a:r>
                        <a:rPr lang="en-US" sz="1300" dirty="0">
                          <a:solidFill>
                            <a:srgbClr val="202723"/>
                          </a:solidFill>
                          <a:latin typeface="Arial" pitchFamily="34" charset="0"/>
                          <a:ea typeface="Arial" pitchFamily="34" charset="-122"/>
                          <a:cs typeface="Arial" pitchFamily="34" charset="-120"/>
                        </a:rPr>
                        <a:t>Movebank Data Repository</a:t>
                      </a:r>
                      <a:endParaRPr lang="en-US" sz="1300" dirty="0">
                        <a:latin typeface="Arial" charset="0"/>
                        <a:ea typeface="Arial" charset="0"/>
                        <a:cs typeface="Arial" charset="0"/>
                      </a:endParaRPr>
                    </a:p>
                  </a:txBody>
                  <a:tcPr marL="91440" marR="91440" marT="36576" marB="36576" anchor="ctr">
                    <a:lnL w="9525" cap="flat" cmpd="sng" algn="ctr">
                      <a:solidFill>
                        <a:srgbClr val="E8ECE9"/>
                      </a:solidFill>
                      <a:prstDash val="solid"/>
                      <a:round/>
                      <a:headEnd type="none" w="med" len="med"/>
                      <a:tailEnd type="none" w="med" len="med"/>
                    </a:lnL>
                    <a:lnR w="9525" cap="flat" cmpd="sng" algn="ctr">
                      <a:solidFill>
                        <a:srgbClr val="E8ECE9"/>
                      </a:solidFill>
                      <a:prstDash val="solid"/>
                      <a:round/>
                      <a:headEnd type="none" w="med" len="med"/>
                      <a:tailEnd type="none" w="med" len="med"/>
                    </a:lnR>
                    <a:lnT w="9525" cap="flat" cmpd="sng" algn="ctr">
                      <a:solidFill>
                        <a:srgbClr val="E8ECE9"/>
                      </a:solidFill>
                      <a:prstDash val="solid"/>
                      <a:round/>
                      <a:headEnd type="none" w="med" len="med"/>
                      <a:tailEnd type="none" w="med" len="med"/>
                    </a:lnT>
                    <a:lnB w="9525" cap="flat" cmpd="sng" algn="ctr">
                      <a:solidFill>
                        <a:srgbClr val="E8ECE9"/>
                      </a:solidFill>
                      <a:prstDash val="solid"/>
                      <a:round/>
                      <a:headEnd type="none" w="med" len="med"/>
                      <a:tailEnd type="none" w="med" len="med"/>
                    </a:lnB>
                  </a:tcPr>
                </a:tc>
                <a:tc>
                  <a:txBody>
                    <a:bodyPr/>
                    <a:lstStyle/>
                    <a:p>
                      <a:pPr indent="0" marL="0">
                        <a:buNone/>
                      </a:pPr>
                      <a:r>
                        <a:rPr lang="en-US" sz="1300" dirty="0">
                          <a:solidFill>
                            <a:srgbClr val="202723"/>
                          </a:solidFill>
                          <a:latin typeface="Arial" pitchFamily="34" charset="0"/>
                          <a:ea typeface="Arial" pitchFamily="34" charset="-122"/>
                          <a:cs typeface="Arial" pitchFamily="34" charset="-120"/>
                        </a:rPr>
                        <a:t>Published animal tracking packages</a:t>
                      </a:r>
                      <a:endParaRPr lang="en-US" sz="1300" dirty="0">
                        <a:latin typeface="Arial" charset="0"/>
                        <a:ea typeface="Arial" charset="0"/>
                        <a:cs typeface="Arial" charset="0"/>
                      </a:endParaRPr>
                    </a:p>
                  </a:txBody>
                  <a:tcPr marL="91440" marR="91440" marT="36576" marB="36576" anchor="ctr">
                    <a:lnL w="9525" cap="flat" cmpd="sng" algn="ctr">
                      <a:solidFill>
                        <a:srgbClr val="E8ECE9"/>
                      </a:solidFill>
                      <a:prstDash val="solid"/>
                      <a:round/>
                      <a:headEnd type="none" w="med" len="med"/>
                      <a:tailEnd type="none" w="med" len="med"/>
                    </a:lnL>
                    <a:lnR w="9525" cap="flat" cmpd="sng" algn="ctr">
                      <a:solidFill>
                        <a:srgbClr val="E8ECE9"/>
                      </a:solidFill>
                      <a:prstDash val="solid"/>
                      <a:round/>
                      <a:headEnd type="none" w="med" len="med"/>
                      <a:tailEnd type="none" w="med" len="med"/>
                    </a:lnR>
                    <a:lnT w="9525" cap="flat" cmpd="sng" algn="ctr">
                      <a:solidFill>
                        <a:srgbClr val="E8ECE9"/>
                      </a:solidFill>
                      <a:prstDash val="solid"/>
                      <a:round/>
                      <a:headEnd type="none" w="med" len="med"/>
                      <a:tailEnd type="none" w="med" len="med"/>
                    </a:lnT>
                    <a:lnB w="9525" cap="flat" cmpd="sng" algn="ctr">
                      <a:solidFill>
                        <a:srgbClr val="E8ECE9"/>
                      </a:solidFill>
                      <a:prstDash val="solid"/>
                      <a:round/>
                      <a:headEnd type="none" w="med" len="med"/>
                      <a:tailEnd type="none" w="med" len="med"/>
                    </a:lnB>
                  </a:tcPr>
                </a:tc>
                <a:tc>
                  <a:txBody>
                    <a:bodyPr/>
                    <a:lstStyle/>
                    <a:p>
                      <a:pPr indent="0" marL="0">
                        <a:buNone/>
                      </a:pPr>
                      <a:r>
                        <a:rPr lang="en-US" sz="1300" dirty="0">
                          <a:solidFill>
                            <a:srgbClr val="202723"/>
                          </a:solidFill>
                          <a:latin typeface="Arial" pitchFamily="34" charset="0"/>
                          <a:ea typeface="Arial" pitchFamily="34" charset="-122"/>
                          <a:cs typeface="Arial" pitchFamily="34" charset="-120"/>
                        </a:rPr>
                        <a:t>GPS fixes; interval set by each study</a:t>
                      </a:r>
                      <a:endParaRPr lang="en-US" sz="1300" dirty="0">
                        <a:latin typeface="Arial" charset="0"/>
                        <a:ea typeface="Arial" charset="0"/>
                        <a:cs typeface="Arial" charset="0"/>
                      </a:endParaRPr>
                    </a:p>
                  </a:txBody>
                  <a:tcPr marL="91440" marR="91440" marT="36576" marB="36576" anchor="ctr">
                    <a:lnL w="9525" cap="flat" cmpd="sng" algn="ctr">
                      <a:solidFill>
                        <a:srgbClr val="E8ECE9"/>
                      </a:solidFill>
                      <a:prstDash val="solid"/>
                      <a:round/>
                      <a:headEnd type="none" w="med" len="med"/>
                      <a:tailEnd type="none" w="med" len="med"/>
                    </a:lnL>
                    <a:lnR w="9525" cap="flat" cmpd="sng" algn="ctr">
                      <a:solidFill>
                        <a:srgbClr val="E8ECE9"/>
                      </a:solidFill>
                      <a:prstDash val="solid"/>
                      <a:round/>
                      <a:headEnd type="none" w="med" len="med"/>
                      <a:tailEnd type="none" w="med" len="med"/>
                    </a:lnR>
                    <a:lnT w="9525" cap="flat" cmpd="sng" algn="ctr">
                      <a:solidFill>
                        <a:srgbClr val="E8ECE9"/>
                      </a:solidFill>
                      <a:prstDash val="solid"/>
                      <a:round/>
                      <a:headEnd type="none" w="med" len="med"/>
                      <a:tailEnd type="none" w="med" len="med"/>
                    </a:lnT>
                    <a:lnB w="9525" cap="flat" cmpd="sng" algn="ctr">
                      <a:solidFill>
                        <a:srgbClr val="E8ECE9"/>
                      </a:solidFill>
                      <a:prstDash val="solid"/>
                      <a:round/>
                      <a:headEnd type="none" w="med" len="med"/>
                      <a:tailEnd type="none" w="med" len="med"/>
                    </a:lnB>
                  </a:tcPr>
                </a:tc>
                <a:tc>
                  <a:txBody>
                    <a:bodyPr/>
                    <a:lstStyle/>
                    <a:p>
                      <a:pPr indent="0" marL="0">
                        <a:buNone/>
                      </a:pPr>
                      <a:r>
                        <a:rPr lang="en-US" sz="1300" dirty="0">
                          <a:solidFill>
                            <a:srgbClr val="202723"/>
                          </a:solidFill>
                          <a:latin typeface="Arial" pitchFamily="34" charset="0"/>
                          <a:ea typeface="Arial" pitchFamily="34" charset="-122"/>
                          <a:cs typeface="Arial" pitchFamily="34" charset="-120"/>
                        </a:rPr>
                        <a:t>Public packages with DOI, license and citation; no login</a:t>
                      </a:r>
                      <a:endParaRPr lang="en-US" sz="1300" dirty="0">
                        <a:latin typeface="Arial" charset="0"/>
                        <a:ea typeface="Arial" charset="0"/>
                        <a:cs typeface="Arial" charset="0"/>
                      </a:endParaRPr>
                    </a:p>
                  </a:txBody>
                  <a:tcPr marL="91440" marR="91440" marT="36576" marB="36576" anchor="ctr">
                    <a:lnL w="9525" cap="flat" cmpd="sng" algn="ctr">
                      <a:solidFill>
                        <a:srgbClr val="E8ECE9"/>
                      </a:solidFill>
                      <a:prstDash val="solid"/>
                      <a:round/>
                      <a:headEnd type="none" w="med" len="med"/>
                      <a:tailEnd type="none" w="med" len="med"/>
                    </a:lnL>
                    <a:lnR w="9525" cap="flat" cmpd="sng" algn="ctr">
                      <a:solidFill>
                        <a:srgbClr val="E8ECE9"/>
                      </a:solidFill>
                      <a:prstDash val="solid"/>
                      <a:round/>
                      <a:headEnd type="none" w="med" len="med"/>
                      <a:tailEnd type="none" w="med" len="med"/>
                    </a:lnR>
                    <a:lnT w="9525" cap="flat" cmpd="sng" algn="ctr">
                      <a:solidFill>
                        <a:srgbClr val="E8ECE9"/>
                      </a:solidFill>
                      <a:prstDash val="solid"/>
                      <a:round/>
                      <a:headEnd type="none" w="med" len="med"/>
                      <a:tailEnd type="none" w="med" len="med"/>
                    </a:lnT>
                    <a:lnB w="9525" cap="flat" cmpd="sng" algn="ctr">
                      <a:solidFill>
                        <a:srgbClr val="E8ECE9"/>
                      </a:solidFill>
                      <a:prstDash val="solid"/>
                      <a:round/>
                      <a:headEnd type="none" w="med" len="med"/>
                      <a:tailEnd type="none" w="med" len="med"/>
                    </a:lnB>
                  </a:tcPr>
                </a:tc>
              </a:tr>
              <a:tr h="438912">
                <a:tc>
                  <a:txBody>
                    <a:bodyPr/>
                    <a:lstStyle/>
                    <a:p>
                      <a:pPr indent="0" marL="0">
                        <a:buNone/>
                      </a:pPr>
                      <a:r>
                        <a:rPr lang="en-US" sz="1300" dirty="0">
                          <a:solidFill>
                            <a:srgbClr val="202723"/>
                          </a:solidFill>
                          <a:latin typeface="Arial" pitchFamily="34" charset="0"/>
                          <a:ea typeface="Arial" pitchFamily="34" charset="-122"/>
                          <a:cs typeface="Arial" pitchFamily="34" charset="-120"/>
                        </a:rPr>
                        <a:t>Movebank direct-read API</a:t>
                      </a:r>
                      <a:endParaRPr lang="en-US" sz="1300" dirty="0">
                        <a:latin typeface="Arial" charset="0"/>
                        <a:ea typeface="Arial" charset="0"/>
                        <a:cs typeface="Arial" charset="0"/>
                      </a:endParaRPr>
                    </a:p>
                  </a:txBody>
                  <a:tcPr marL="91440" marR="91440" marT="36576" marB="36576" anchor="ctr">
                    <a:lnL w="9525" cap="flat" cmpd="sng" algn="ctr">
                      <a:solidFill>
                        <a:srgbClr val="E8ECE9"/>
                      </a:solidFill>
                      <a:prstDash val="solid"/>
                      <a:round/>
                      <a:headEnd type="none" w="med" len="med"/>
                      <a:tailEnd type="none" w="med" len="med"/>
                    </a:lnL>
                    <a:lnR w="9525" cap="flat" cmpd="sng" algn="ctr">
                      <a:solidFill>
                        <a:srgbClr val="E8ECE9"/>
                      </a:solidFill>
                      <a:prstDash val="solid"/>
                      <a:round/>
                      <a:headEnd type="none" w="med" len="med"/>
                      <a:tailEnd type="none" w="med" len="med"/>
                    </a:lnR>
                    <a:lnT w="9525" cap="flat" cmpd="sng" algn="ctr">
                      <a:solidFill>
                        <a:srgbClr val="E8ECE9"/>
                      </a:solidFill>
                      <a:prstDash val="solid"/>
                      <a:round/>
                      <a:headEnd type="none" w="med" len="med"/>
                      <a:tailEnd type="none" w="med" len="med"/>
                    </a:lnT>
                    <a:lnB w="9525" cap="flat" cmpd="sng" algn="ctr">
                      <a:solidFill>
                        <a:srgbClr val="E8ECE9"/>
                      </a:solidFill>
                      <a:prstDash val="solid"/>
                      <a:round/>
                      <a:headEnd type="none" w="med" len="med"/>
                      <a:tailEnd type="none" w="med" len="med"/>
                    </a:lnB>
                  </a:tcPr>
                </a:tc>
                <a:tc>
                  <a:txBody>
                    <a:bodyPr/>
                    <a:lstStyle/>
                    <a:p>
                      <a:pPr indent="0" marL="0">
                        <a:buNone/>
                      </a:pPr>
                      <a:r>
                        <a:rPr lang="en-US" sz="1300" dirty="0">
                          <a:solidFill>
                            <a:srgbClr val="202723"/>
                          </a:solidFill>
                          <a:latin typeface="Arial" pitchFamily="34" charset="0"/>
                          <a:ea typeface="Arial" pitchFamily="34" charset="-122"/>
                          <a:cs typeface="Arial" pitchFamily="34" charset="-120"/>
                        </a:rPr>
                        <a:t>Study-based tracking access</a:t>
                      </a:r>
                      <a:endParaRPr lang="en-US" sz="1300" dirty="0">
                        <a:latin typeface="Arial" charset="0"/>
                        <a:ea typeface="Arial" charset="0"/>
                        <a:cs typeface="Arial" charset="0"/>
                      </a:endParaRPr>
                    </a:p>
                  </a:txBody>
                  <a:tcPr marL="91440" marR="91440" marT="36576" marB="36576" anchor="ctr">
                    <a:lnL w="9525" cap="flat" cmpd="sng" algn="ctr">
                      <a:solidFill>
                        <a:srgbClr val="E8ECE9"/>
                      </a:solidFill>
                      <a:prstDash val="solid"/>
                      <a:round/>
                      <a:headEnd type="none" w="med" len="med"/>
                      <a:tailEnd type="none" w="med" len="med"/>
                    </a:lnL>
                    <a:lnR w="9525" cap="flat" cmpd="sng" algn="ctr">
                      <a:solidFill>
                        <a:srgbClr val="E8ECE9"/>
                      </a:solidFill>
                      <a:prstDash val="solid"/>
                      <a:round/>
                      <a:headEnd type="none" w="med" len="med"/>
                      <a:tailEnd type="none" w="med" len="med"/>
                    </a:lnR>
                    <a:lnT w="9525" cap="flat" cmpd="sng" algn="ctr">
                      <a:solidFill>
                        <a:srgbClr val="E8ECE9"/>
                      </a:solidFill>
                      <a:prstDash val="solid"/>
                      <a:round/>
                      <a:headEnd type="none" w="med" len="med"/>
                      <a:tailEnd type="none" w="med" len="med"/>
                    </a:lnT>
                    <a:lnB w="9525" cap="flat" cmpd="sng" algn="ctr">
                      <a:solidFill>
                        <a:srgbClr val="E8ECE9"/>
                      </a:solidFill>
                      <a:prstDash val="solid"/>
                      <a:round/>
                      <a:headEnd type="none" w="med" len="med"/>
                      <a:tailEnd type="none" w="med" len="med"/>
                    </a:lnB>
                  </a:tcPr>
                </a:tc>
                <a:tc>
                  <a:txBody>
                    <a:bodyPr/>
                    <a:lstStyle/>
                    <a:p>
                      <a:pPr indent="0" marL="0">
                        <a:buNone/>
                      </a:pPr>
                      <a:r>
                        <a:rPr lang="en-US" sz="1300" dirty="0">
                          <a:solidFill>
                            <a:srgbClr val="202723"/>
                          </a:solidFill>
                          <a:latin typeface="Arial" pitchFamily="34" charset="0"/>
                          <a:ea typeface="Arial" pitchFamily="34" charset="-122"/>
                          <a:cs typeface="Arial" pitchFamily="34" charset="-120"/>
                        </a:rPr>
                        <a:t>As set by each study</a:t>
                      </a:r>
                      <a:endParaRPr lang="en-US" sz="1300" dirty="0">
                        <a:latin typeface="Arial" charset="0"/>
                        <a:ea typeface="Arial" charset="0"/>
                        <a:cs typeface="Arial" charset="0"/>
                      </a:endParaRPr>
                    </a:p>
                  </a:txBody>
                  <a:tcPr marL="91440" marR="91440" marT="36576" marB="36576" anchor="ctr">
                    <a:lnL w="9525" cap="flat" cmpd="sng" algn="ctr">
                      <a:solidFill>
                        <a:srgbClr val="E8ECE9"/>
                      </a:solidFill>
                      <a:prstDash val="solid"/>
                      <a:round/>
                      <a:headEnd type="none" w="med" len="med"/>
                      <a:tailEnd type="none" w="med" len="med"/>
                    </a:lnL>
                    <a:lnR w="9525" cap="flat" cmpd="sng" algn="ctr">
                      <a:solidFill>
                        <a:srgbClr val="E8ECE9"/>
                      </a:solidFill>
                      <a:prstDash val="solid"/>
                      <a:round/>
                      <a:headEnd type="none" w="med" len="med"/>
                      <a:tailEnd type="none" w="med" len="med"/>
                    </a:lnR>
                    <a:lnT w="9525" cap="flat" cmpd="sng" algn="ctr">
                      <a:solidFill>
                        <a:srgbClr val="E8ECE9"/>
                      </a:solidFill>
                      <a:prstDash val="solid"/>
                      <a:round/>
                      <a:headEnd type="none" w="med" len="med"/>
                      <a:tailEnd type="none" w="med" len="med"/>
                    </a:lnT>
                    <a:lnB w="9525" cap="flat" cmpd="sng" algn="ctr">
                      <a:solidFill>
                        <a:srgbClr val="E8ECE9"/>
                      </a:solidFill>
                      <a:prstDash val="solid"/>
                      <a:round/>
                      <a:headEnd type="none" w="med" len="med"/>
                      <a:tailEnd type="none" w="med" len="med"/>
                    </a:lnB>
                  </a:tcPr>
                </a:tc>
                <a:tc>
                  <a:txBody>
                    <a:bodyPr/>
                    <a:lstStyle/>
                    <a:p>
                      <a:pPr indent="0" marL="0">
                        <a:buNone/>
                      </a:pPr>
                      <a:r>
                        <a:rPr lang="en-US" sz="1300" dirty="0">
                          <a:solidFill>
                            <a:srgbClr val="202723"/>
                          </a:solidFill>
                          <a:latin typeface="Arial" pitchFamily="34" charset="0"/>
                          <a:ea typeface="Arial" pitchFamily="34" charset="-122"/>
                          <a:cs typeface="Arial" pitchFamily="34" charset="-120"/>
                        </a:rPr>
                        <a:t>Credentials permit an attempt; owner permission or license acceptance can be required</a:t>
                      </a:r>
                      <a:endParaRPr lang="en-US" sz="1300" dirty="0">
                        <a:latin typeface="Arial" charset="0"/>
                        <a:ea typeface="Arial" charset="0"/>
                        <a:cs typeface="Arial" charset="0"/>
                      </a:endParaRPr>
                    </a:p>
                  </a:txBody>
                  <a:tcPr marL="91440" marR="91440" marT="36576" marB="36576" anchor="ctr">
                    <a:lnL w="9525" cap="flat" cmpd="sng" algn="ctr">
                      <a:solidFill>
                        <a:srgbClr val="E8ECE9"/>
                      </a:solidFill>
                      <a:prstDash val="solid"/>
                      <a:round/>
                      <a:headEnd type="none" w="med" len="med"/>
                      <a:tailEnd type="none" w="med" len="med"/>
                    </a:lnL>
                    <a:lnR w="9525" cap="flat" cmpd="sng" algn="ctr">
                      <a:solidFill>
                        <a:srgbClr val="E8ECE9"/>
                      </a:solidFill>
                      <a:prstDash val="solid"/>
                      <a:round/>
                      <a:headEnd type="none" w="med" len="med"/>
                      <a:tailEnd type="none" w="med" len="med"/>
                    </a:lnR>
                    <a:lnT w="9525" cap="flat" cmpd="sng" algn="ctr">
                      <a:solidFill>
                        <a:srgbClr val="E8ECE9"/>
                      </a:solidFill>
                      <a:prstDash val="solid"/>
                      <a:round/>
                      <a:headEnd type="none" w="med" len="med"/>
                      <a:tailEnd type="none" w="med" len="med"/>
                    </a:lnT>
                    <a:lnB w="9525" cap="flat" cmpd="sng" algn="ctr">
                      <a:solidFill>
                        <a:srgbClr val="E8ECE9"/>
                      </a:solidFill>
                      <a:prstDash val="solid"/>
                      <a:round/>
                      <a:headEnd type="none" w="med" len="med"/>
                      <a:tailEnd type="none" w="med" len="med"/>
                    </a:lnB>
                  </a:tcPr>
                </a:tc>
              </a:tr>
              <a:tr h="438912">
                <a:tc>
                  <a:txBody>
                    <a:bodyPr/>
                    <a:lstStyle/>
                    <a:p>
                      <a:pPr indent="0" marL="0">
                        <a:buNone/>
                      </a:pPr>
                      <a:r>
                        <a:rPr lang="en-US" sz="1300" dirty="0">
                          <a:solidFill>
                            <a:srgbClr val="202723"/>
                          </a:solidFill>
                          <a:latin typeface="Arial" pitchFamily="34" charset="0"/>
                          <a:ea typeface="Arial" pitchFamily="34" charset="-122"/>
                          <a:cs typeface="Arial" pitchFamily="34" charset="-120"/>
                        </a:rPr>
                        <a:t>MODIS MOD13Q1 v061 (Terra)</a:t>
                      </a:r>
                      <a:endParaRPr lang="en-US" sz="1300" dirty="0">
                        <a:latin typeface="Arial" charset="0"/>
                        <a:ea typeface="Arial" charset="0"/>
                        <a:cs typeface="Arial" charset="0"/>
                      </a:endParaRPr>
                    </a:p>
                  </a:txBody>
                  <a:tcPr marL="91440" marR="91440" marT="36576" marB="36576" anchor="ctr">
                    <a:lnL w="9525" cap="flat" cmpd="sng" algn="ctr">
                      <a:solidFill>
                        <a:srgbClr val="E8ECE9"/>
                      </a:solidFill>
                      <a:prstDash val="solid"/>
                      <a:round/>
                      <a:headEnd type="none" w="med" len="med"/>
                      <a:tailEnd type="none" w="med" len="med"/>
                    </a:lnL>
                    <a:lnR w="9525" cap="flat" cmpd="sng" algn="ctr">
                      <a:solidFill>
                        <a:srgbClr val="E8ECE9"/>
                      </a:solidFill>
                      <a:prstDash val="solid"/>
                      <a:round/>
                      <a:headEnd type="none" w="med" len="med"/>
                      <a:tailEnd type="none" w="med" len="med"/>
                    </a:lnR>
                    <a:lnT w="9525" cap="flat" cmpd="sng" algn="ctr">
                      <a:solidFill>
                        <a:srgbClr val="E8ECE9"/>
                      </a:solidFill>
                      <a:prstDash val="solid"/>
                      <a:round/>
                      <a:headEnd type="none" w="med" len="med"/>
                      <a:tailEnd type="none" w="med" len="med"/>
                    </a:lnT>
                    <a:lnB w="9525" cap="flat" cmpd="sng" algn="ctr">
                      <a:solidFill>
                        <a:srgbClr val="E8ECE9"/>
                      </a:solidFill>
                      <a:prstDash val="solid"/>
                      <a:round/>
                      <a:headEnd type="none" w="med" len="med"/>
                      <a:tailEnd type="none" w="med" len="med"/>
                    </a:lnB>
                  </a:tcPr>
                </a:tc>
                <a:tc>
                  <a:txBody>
                    <a:bodyPr/>
                    <a:lstStyle/>
                    <a:p>
                      <a:pPr indent="0" marL="0">
                        <a:buNone/>
                      </a:pPr>
                      <a:r>
                        <a:rPr lang="en-US" sz="1300" dirty="0">
                          <a:solidFill>
                            <a:srgbClr val="202723"/>
                          </a:solidFill>
                          <a:latin typeface="Arial" pitchFamily="34" charset="0"/>
                          <a:ea typeface="Arial" pitchFamily="34" charset="-122"/>
                          <a:cs typeface="Arial" pitchFamily="34" charset="-120"/>
                        </a:rPr>
                        <a:t>NDVI, EVI, pixel reliability</a:t>
                      </a:r>
                      <a:endParaRPr lang="en-US" sz="1300" dirty="0">
                        <a:latin typeface="Arial" charset="0"/>
                        <a:ea typeface="Arial" charset="0"/>
                        <a:cs typeface="Arial" charset="0"/>
                      </a:endParaRPr>
                    </a:p>
                  </a:txBody>
                  <a:tcPr marL="91440" marR="91440" marT="36576" marB="36576" anchor="ctr">
                    <a:lnL w="9525" cap="flat" cmpd="sng" algn="ctr">
                      <a:solidFill>
                        <a:srgbClr val="E8ECE9"/>
                      </a:solidFill>
                      <a:prstDash val="solid"/>
                      <a:round/>
                      <a:headEnd type="none" w="med" len="med"/>
                      <a:tailEnd type="none" w="med" len="med"/>
                    </a:lnL>
                    <a:lnR w="9525" cap="flat" cmpd="sng" algn="ctr">
                      <a:solidFill>
                        <a:srgbClr val="E8ECE9"/>
                      </a:solidFill>
                      <a:prstDash val="solid"/>
                      <a:round/>
                      <a:headEnd type="none" w="med" len="med"/>
                      <a:tailEnd type="none" w="med" len="med"/>
                    </a:lnR>
                    <a:lnT w="9525" cap="flat" cmpd="sng" algn="ctr">
                      <a:solidFill>
                        <a:srgbClr val="E8ECE9"/>
                      </a:solidFill>
                      <a:prstDash val="solid"/>
                      <a:round/>
                      <a:headEnd type="none" w="med" len="med"/>
                      <a:tailEnd type="none" w="med" len="med"/>
                    </a:lnT>
                    <a:lnB w="9525" cap="flat" cmpd="sng" algn="ctr">
                      <a:solidFill>
                        <a:srgbClr val="E8ECE9"/>
                      </a:solidFill>
                      <a:prstDash val="solid"/>
                      <a:round/>
                      <a:headEnd type="none" w="med" len="med"/>
                      <a:tailEnd type="none" w="med" len="med"/>
                    </a:lnB>
                  </a:tcPr>
                </a:tc>
                <a:tc>
                  <a:txBody>
                    <a:bodyPr/>
                    <a:lstStyle/>
                    <a:p>
                      <a:pPr indent="0" marL="0">
                        <a:buNone/>
                      </a:pPr>
                      <a:r>
                        <a:rPr lang="en-US" sz="1300" dirty="0">
                          <a:solidFill>
                            <a:srgbClr val="202723"/>
                          </a:solidFill>
                          <a:latin typeface="Arial" pitchFamily="34" charset="0"/>
                          <a:ea typeface="Arial" pitchFamily="34" charset="-122"/>
                          <a:cs typeface="Arial" pitchFamily="34" charset="-120"/>
                        </a:rPr>
                        <a:t>250 m; 16-day composites</a:t>
                      </a:r>
                      <a:endParaRPr lang="en-US" sz="1300" dirty="0">
                        <a:latin typeface="Arial" charset="0"/>
                        <a:ea typeface="Arial" charset="0"/>
                        <a:cs typeface="Arial" charset="0"/>
                      </a:endParaRPr>
                    </a:p>
                  </a:txBody>
                  <a:tcPr marL="91440" marR="91440" marT="36576" marB="36576" anchor="ctr">
                    <a:lnL w="9525" cap="flat" cmpd="sng" algn="ctr">
                      <a:solidFill>
                        <a:srgbClr val="E8ECE9"/>
                      </a:solidFill>
                      <a:prstDash val="solid"/>
                      <a:round/>
                      <a:headEnd type="none" w="med" len="med"/>
                      <a:tailEnd type="none" w="med" len="med"/>
                    </a:lnL>
                    <a:lnR w="9525" cap="flat" cmpd="sng" algn="ctr">
                      <a:solidFill>
                        <a:srgbClr val="E8ECE9"/>
                      </a:solidFill>
                      <a:prstDash val="solid"/>
                      <a:round/>
                      <a:headEnd type="none" w="med" len="med"/>
                      <a:tailEnd type="none" w="med" len="med"/>
                    </a:lnR>
                    <a:lnT w="9525" cap="flat" cmpd="sng" algn="ctr">
                      <a:solidFill>
                        <a:srgbClr val="E8ECE9"/>
                      </a:solidFill>
                      <a:prstDash val="solid"/>
                      <a:round/>
                      <a:headEnd type="none" w="med" len="med"/>
                      <a:tailEnd type="none" w="med" len="med"/>
                    </a:lnT>
                    <a:lnB w="9525" cap="flat" cmpd="sng" algn="ctr">
                      <a:solidFill>
                        <a:srgbClr val="E8ECE9"/>
                      </a:solidFill>
                      <a:prstDash val="solid"/>
                      <a:round/>
                      <a:headEnd type="none" w="med" len="med"/>
                      <a:tailEnd type="none" w="med" len="med"/>
                    </a:lnB>
                  </a:tcPr>
                </a:tc>
                <a:tc>
                  <a:txBody>
                    <a:bodyPr/>
                    <a:lstStyle/>
                    <a:p>
                      <a:pPr indent="0" marL="0">
                        <a:buNone/>
                      </a:pPr>
                      <a:r>
                        <a:rPr lang="en-US" sz="1300" dirty="0">
                          <a:solidFill>
                            <a:srgbClr val="202723"/>
                          </a:solidFill>
                          <a:latin typeface="Arial" pitchFamily="34" charset="0"/>
                          <a:ea typeface="Arial" pitchFamily="34" charset="-122"/>
                          <a:cs typeface="Arial" pitchFamily="34" charset="-120"/>
                        </a:rPr>
                        <a:t>Microsoft Planetary Computer STAC</a:t>
                      </a:r>
                      <a:endParaRPr lang="en-US" sz="1300" dirty="0">
                        <a:latin typeface="Arial" charset="0"/>
                        <a:ea typeface="Arial" charset="0"/>
                        <a:cs typeface="Arial" charset="0"/>
                      </a:endParaRPr>
                    </a:p>
                  </a:txBody>
                  <a:tcPr marL="91440" marR="91440" marT="36576" marB="36576" anchor="ctr">
                    <a:lnL w="9525" cap="flat" cmpd="sng" algn="ctr">
                      <a:solidFill>
                        <a:srgbClr val="E8ECE9"/>
                      </a:solidFill>
                      <a:prstDash val="solid"/>
                      <a:round/>
                      <a:headEnd type="none" w="med" len="med"/>
                      <a:tailEnd type="none" w="med" len="med"/>
                    </a:lnL>
                    <a:lnR w="9525" cap="flat" cmpd="sng" algn="ctr">
                      <a:solidFill>
                        <a:srgbClr val="E8ECE9"/>
                      </a:solidFill>
                      <a:prstDash val="solid"/>
                      <a:round/>
                      <a:headEnd type="none" w="med" len="med"/>
                      <a:tailEnd type="none" w="med" len="med"/>
                    </a:lnR>
                    <a:lnT w="9525" cap="flat" cmpd="sng" algn="ctr">
                      <a:solidFill>
                        <a:srgbClr val="E8ECE9"/>
                      </a:solidFill>
                      <a:prstDash val="solid"/>
                      <a:round/>
                      <a:headEnd type="none" w="med" len="med"/>
                      <a:tailEnd type="none" w="med" len="med"/>
                    </a:lnT>
                    <a:lnB w="9525" cap="flat" cmpd="sng" algn="ctr">
                      <a:solidFill>
                        <a:srgbClr val="E8ECE9"/>
                      </a:solidFill>
                      <a:prstDash val="solid"/>
                      <a:round/>
                      <a:headEnd type="none" w="med" len="med"/>
                      <a:tailEnd type="none" w="med" len="med"/>
                    </a:lnB>
                  </a:tcPr>
                </a:tc>
              </a:tr>
              <a:tr h="438912">
                <a:tc>
                  <a:txBody>
                    <a:bodyPr/>
                    <a:lstStyle/>
                    <a:p>
                      <a:pPr indent="0" marL="0">
                        <a:buNone/>
                      </a:pPr>
                      <a:r>
                        <a:rPr lang="en-US" sz="1300" dirty="0">
                          <a:solidFill>
                            <a:srgbClr val="202723"/>
                          </a:solidFill>
                          <a:latin typeface="Arial" pitchFamily="34" charset="0"/>
                          <a:ea typeface="Arial" pitchFamily="34" charset="-122"/>
                          <a:cs typeface="Arial" pitchFamily="34" charset="-120"/>
                        </a:rPr>
                        <a:t>Sentinel-2 L2A</a:t>
                      </a:r>
                      <a:endParaRPr lang="en-US" sz="1300" dirty="0">
                        <a:latin typeface="Arial" charset="0"/>
                        <a:ea typeface="Arial" charset="0"/>
                        <a:cs typeface="Arial" charset="0"/>
                      </a:endParaRPr>
                    </a:p>
                  </a:txBody>
                  <a:tcPr marL="91440" marR="91440" marT="36576" marB="36576" anchor="ctr">
                    <a:lnL w="9525" cap="flat" cmpd="sng" algn="ctr">
                      <a:solidFill>
                        <a:srgbClr val="E8ECE9"/>
                      </a:solidFill>
                      <a:prstDash val="solid"/>
                      <a:round/>
                      <a:headEnd type="none" w="med" len="med"/>
                      <a:tailEnd type="none" w="med" len="med"/>
                    </a:lnL>
                    <a:lnR w="9525" cap="flat" cmpd="sng" algn="ctr">
                      <a:solidFill>
                        <a:srgbClr val="E8ECE9"/>
                      </a:solidFill>
                      <a:prstDash val="solid"/>
                      <a:round/>
                      <a:headEnd type="none" w="med" len="med"/>
                      <a:tailEnd type="none" w="med" len="med"/>
                    </a:lnR>
                    <a:lnT w="9525" cap="flat" cmpd="sng" algn="ctr">
                      <a:solidFill>
                        <a:srgbClr val="E8ECE9"/>
                      </a:solidFill>
                      <a:prstDash val="solid"/>
                      <a:round/>
                      <a:headEnd type="none" w="med" len="med"/>
                      <a:tailEnd type="none" w="med" len="med"/>
                    </a:lnT>
                    <a:lnB w="9525" cap="flat" cmpd="sng" algn="ctr">
                      <a:solidFill>
                        <a:srgbClr val="E8ECE9"/>
                      </a:solidFill>
                      <a:prstDash val="solid"/>
                      <a:round/>
                      <a:headEnd type="none" w="med" len="med"/>
                      <a:tailEnd type="none" w="med" len="med"/>
                    </a:lnB>
                  </a:tcPr>
                </a:tc>
                <a:tc>
                  <a:txBody>
                    <a:bodyPr/>
                    <a:lstStyle/>
                    <a:p>
                      <a:pPr indent="0" marL="0">
                        <a:buNone/>
                      </a:pPr>
                      <a:r>
                        <a:rPr lang="en-US" sz="1300" dirty="0">
                          <a:solidFill>
                            <a:srgbClr val="202723"/>
                          </a:solidFill>
                          <a:latin typeface="Arial" pitchFamily="34" charset="0"/>
                          <a:ea typeface="Arial" pitchFamily="34" charset="-122"/>
                          <a:cs typeface="Arial" pitchFamily="34" charset="-120"/>
                        </a:rPr>
                        <a:t>Vegetation (NDVI), water (MNDWI), moisture (NDMI)</a:t>
                      </a:r>
                      <a:endParaRPr lang="en-US" sz="1300" dirty="0">
                        <a:latin typeface="Arial" charset="0"/>
                        <a:ea typeface="Arial" charset="0"/>
                        <a:cs typeface="Arial" charset="0"/>
                      </a:endParaRPr>
                    </a:p>
                  </a:txBody>
                  <a:tcPr marL="91440" marR="91440" marT="36576" marB="36576" anchor="ctr">
                    <a:lnL w="9525" cap="flat" cmpd="sng" algn="ctr">
                      <a:solidFill>
                        <a:srgbClr val="E8ECE9"/>
                      </a:solidFill>
                      <a:prstDash val="solid"/>
                      <a:round/>
                      <a:headEnd type="none" w="med" len="med"/>
                      <a:tailEnd type="none" w="med" len="med"/>
                    </a:lnL>
                    <a:lnR w="9525" cap="flat" cmpd="sng" algn="ctr">
                      <a:solidFill>
                        <a:srgbClr val="E8ECE9"/>
                      </a:solidFill>
                      <a:prstDash val="solid"/>
                      <a:round/>
                      <a:headEnd type="none" w="med" len="med"/>
                      <a:tailEnd type="none" w="med" len="med"/>
                    </a:lnR>
                    <a:lnT w="9525" cap="flat" cmpd="sng" algn="ctr">
                      <a:solidFill>
                        <a:srgbClr val="E8ECE9"/>
                      </a:solidFill>
                      <a:prstDash val="solid"/>
                      <a:round/>
                      <a:headEnd type="none" w="med" len="med"/>
                      <a:tailEnd type="none" w="med" len="med"/>
                    </a:lnT>
                    <a:lnB w="9525" cap="flat" cmpd="sng" algn="ctr">
                      <a:solidFill>
                        <a:srgbClr val="E8ECE9"/>
                      </a:solidFill>
                      <a:prstDash val="solid"/>
                      <a:round/>
                      <a:headEnd type="none" w="med" len="med"/>
                      <a:tailEnd type="none" w="med" len="med"/>
                    </a:lnB>
                  </a:tcPr>
                </a:tc>
                <a:tc>
                  <a:txBody>
                    <a:bodyPr/>
                    <a:lstStyle/>
                    <a:p>
                      <a:pPr indent="0" marL="0">
                        <a:buNone/>
                      </a:pPr>
                      <a:r>
                        <a:rPr lang="en-US" sz="1300" dirty="0">
                          <a:solidFill>
                            <a:srgbClr val="202723"/>
                          </a:solidFill>
                          <a:latin typeface="Arial" pitchFamily="34" charset="0"/>
                          <a:ea typeface="Arial" pitchFamily="34" charset="-122"/>
                          <a:cs typeface="Arial" pitchFamily="34" charset="-120"/>
                        </a:rPr>
                        <a:t>10–20 m bands; revisit of several days</a:t>
                      </a:r>
                      <a:endParaRPr lang="en-US" sz="1300" dirty="0">
                        <a:latin typeface="Arial" charset="0"/>
                        <a:ea typeface="Arial" charset="0"/>
                        <a:cs typeface="Arial" charset="0"/>
                      </a:endParaRPr>
                    </a:p>
                  </a:txBody>
                  <a:tcPr marL="91440" marR="91440" marT="36576" marB="36576" anchor="ctr">
                    <a:lnL w="9525" cap="flat" cmpd="sng" algn="ctr">
                      <a:solidFill>
                        <a:srgbClr val="E8ECE9"/>
                      </a:solidFill>
                      <a:prstDash val="solid"/>
                      <a:round/>
                      <a:headEnd type="none" w="med" len="med"/>
                      <a:tailEnd type="none" w="med" len="med"/>
                    </a:lnL>
                    <a:lnR w="9525" cap="flat" cmpd="sng" algn="ctr">
                      <a:solidFill>
                        <a:srgbClr val="E8ECE9"/>
                      </a:solidFill>
                      <a:prstDash val="solid"/>
                      <a:round/>
                      <a:headEnd type="none" w="med" len="med"/>
                      <a:tailEnd type="none" w="med" len="med"/>
                    </a:lnR>
                    <a:lnT w="9525" cap="flat" cmpd="sng" algn="ctr">
                      <a:solidFill>
                        <a:srgbClr val="E8ECE9"/>
                      </a:solidFill>
                      <a:prstDash val="solid"/>
                      <a:round/>
                      <a:headEnd type="none" w="med" len="med"/>
                      <a:tailEnd type="none" w="med" len="med"/>
                    </a:lnT>
                    <a:lnB w="9525" cap="flat" cmpd="sng" algn="ctr">
                      <a:solidFill>
                        <a:srgbClr val="E8ECE9"/>
                      </a:solidFill>
                      <a:prstDash val="solid"/>
                      <a:round/>
                      <a:headEnd type="none" w="med" len="med"/>
                      <a:tailEnd type="none" w="med" len="med"/>
                    </a:lnB>
                  </a:tcPr>
                </a:tc>
                <a:tc>
                  <a:txBody>
                    <a:bodyPr/>
                    <a:lstStyle/>
                    <a:p>
                      <a:pPr indent="0" marL="0">
                        <a:buNone/>
                      </a:pPr>
                      <a:r>
                        <a:rPr lang="en-US" sz="1300" dirty="0">
                          <a:solidFill>
                            <a:srgbClr val="202723"/>
                          </a:solidFill>
                          <a:latin typeface="Arial" pitchFamily="34" charset="0"/>
                          <a:ea typeface="Arial" pitchFamily="34" charset="-122"/>
                          <a:cs typeface="Arial" pitchFamily="34" charset="-120"/>
                        </a:rPr>
                        <a:t>Microsoft Planetary Computer STAC; cloud filter ≤ 80%</a:t>
                      </a:r>
                      <a:endParaRPr lang="en-US" sz="1300" dirty="0">
                        <a:latin typeface="Arial" charset="0"/>
                        <a:ea typeface="Arial" charset="0"/>
                        <a:cs typeface="Arial" charset="0"/>
                      </a:endParaRPr>
                    </a:p>
                  </a:txBody>
                  <a:tcPr marL="91440" marR="91440" marT="36576" marB="36576" anchor="ctr">
                    <a:lnL w="9525" cap="flat" cmpd="sng" algn="ctr">
                      <a:solidFill>
                        <a:srgbClr val="E8ECE9"/>
                      </a:solidFill>
                      <a:prstDash val="solid"/>
                      <a:round/>
                      <a:headEnd type="none" w="med" len="med"/>
                      <a:tailEnd type="none" w="med" len="med"/>
                    </a:lnL>
                    <a:lnR w="9525" cap="flat" cmpd="sng" algn="ctr">
                      <a:solidFill>
                        <a:srgbClr val="E8ECE9"/>
                      </a:solidFill>
                      <a:prstDash val="solid"/>
                      <a:round/>
                      <a:headEnd type="none" w="med" len="med"/>
                      <a:tailEnd type="none" w="med" len="med"/>
                    </a:lnR>
                    <a:lnT w="9525" cap="flat" cmpd="sng" algn="ctr">
                      <a:solidFill>
                        <a:srgbClr val="E8ECE9"/>
                      </a:solidFill>
                      <a:prstDash val="solid"/>
                      <a:round/>
                      <a:headEnd type="none" w="med" len="med"/>
                      <a:tailEnd type="none" w="med" len="med"/>
                    </a:lnT>
                    <a:lnB w="9525" cap="flat" cmpd="sng" algn="ctr">
                      <a:solidFill>
                        <a:srgbClr val="E8ECE9"/>
                      </a:solidFill>
                      <a:prstDash val="solid"/>
                      <a:round/>
                      <a:headEnd type="none" w="med" len="med"/>
                      <a:tailEnd type="none" w="med" len="med"/>
                    </a:lnB>
                  </a:tcPr>
                </a:tc>
              </a:tr>
              <a:tr h="438912">
                <a:tc>
                  <a:txBody>
                    <a:bodyPr/>
                    <a:lstStyle/>
                    <a:p>
                      <a:pPr indent="0" marL="0">
                        <a:buNone/>
                      </a:pPr>
                      <a:r>
                        <a:rPr lang="en-US" sz="1300" dirty="0">
                          <a:solidFill>
                            <a:srgbClr val="202723"/>
                          </a:solidFill>
                          <a:latin typeface="Arial" pitchFamily="34" charset="0"/>
                          <a:ea typeface="Arial" pitchFamily="34" charset="-122"/>
                          <a:cs typeface="Arial" pitchFamily="34" charset="-120"/>
                        </a:rPr>
                        <a:t>CHIRPS v2.0</a:t>
                      </a:r>
                      <a:endParaRPr lang="en-US" sz="1300" dirty="0">
                        <a:latin typeface="Arial" charset="0"/>
                        <a:ea typeface="Arial" charset="0"/>
                        <a:cs typeface="Arial" charset="0"/>
                      </a:endParaRPr>
                    </a:p>
                  </a:txBody>
                  <a:tcPr marL="91440" marR="91440" marT="36576" marB="36576" anchor="ctr">
                    <a:lnL w="9525" cap="flat" cmpd="sng" algn="ctr">
                      <a:solidFill>
                        <a:srgbClr val="E8ECE9"/>
                      </a:solidFill>
                      <a:prstDash val="solid"/>
                      <a:round/>
                      <a:headEnd type="none" w="med" len="med"/>
                      <a:tailEnd type="none" w="med" len="med"/>
                    </a:lnL>
                    <a:lnR w="9525" cap="flat" cmpd="sng" algn="ctr">
                      <a:solidFill>
                        <a:srgbClr val="E8ECE9"/>
                      </a:solidFill>
                      <a:prstDash val="solid"/>
                      <a:round/>
                      <a:headEnd type="none" w="med" len="med"/>
                      <a:tailEnd type="none" w="med" len="med"/>
                    </a:lnR>
                    <a:lnT w="9525" cap="flat" cmpd="sng" algn="ctr">
                      <a:solidFill>
                        <a:srgbClr val="E8ECE9"/>
                      </a:solidFill>
                      <a:prstDash val="solid"/>
                      <a:round/>
                      <a:headEnd type="none" w="med" len="med"/>
                      <a:tailEnd type="none" w="med" len="med"/>
                    </a:lnT>
                    <a:lnB w="9525" cap="flat" cmpd="sng" algn="ctr">
                      <a:solidFill>
                        <a:srgbClr val="E8ECE9"/>
                      </a:solidFill>
                      <a:prstDash val="solid"/>
                      <a:round/>
                      <a:headEnd type="none" w="med" len="med"/>
                      <a:tailEnd type="none" w="med" len="med"/>
                    </a:lnB>
                  </a:tcPr>
                </a:tc>
                <a:tc>
                  <a:txBody>
                    <a:bodyPr/>
                    <a:lstStyle/>
                    <a:p>
                      <a:pPr indent="0" marL="0">
                        <a:buNone/>
                      </a:pPr>
                      <a:r>
                        <a:rPr lang="en-US" sz="1300" dirty="0">
                          <a:solidFill>
                            <a:srgbClr val="202723"/>
                          </a:solidFill>
                          <a:latin typeface="Arial" pitchFamily="34" charset="0"/>
                          <a:ea typeface="Arial" pitchFamily="34" charset="-122"/>
                          <a:cs typeface="Arial" pitchFamily="34" charset="-120"/>
                        </a:rPr>
                        <a:t>Daily rainfall</a:t>
                      </a:r>
                      <a:endParaRPr lang="en-US" sz="1300" dirty="0">
                        <a:latin typeface="Arial" charset="0"/>
                        <a:ea typeface="Arial" charset="0"/>
                        <a:cs typeface="Arial" charset="0"/>
                      </a:endParaRPr>
                    </a:p>
                  </a:txBody>
                  <a:tcPr marL="91440" marR="91440" marT="36576" marB="36576" anchor="ctr">
                    <a:lnL w="9525" cap="flat" cmpd="sng" algn="ctr">
                      <a:solidFill>
                        <a:srgbClr val="E8ECE9"/>
                      </a:solidFill>
                      <a:prstDash val="solid"/>
                      <a:round/>
                      <a:headEnd type="none" w="med" len="med"/>
                      <a:tailEnd type="none" w="med" len="med"/>
                    </a:lnL>
                    <a:lnR w="9525" cap="flat" cmpd="sng" algn="ctr">
                      <a:solidFill>
                        <a:srgbClr val="E8ECE9"/>
                      </a:solidFill>
                      <a:prstDash val="solid"/>
                      <a:round/>
                      <a:headEnd type="none" w="med" len="med"/>
                      <a:tailEnd type="none" w="med" len="med"/>
                    </a:lnR>
                    <a:lnT w="9525" cap="flat" cmpd="sng" algn="ctr">
                      <a:solidFill>
                        <a:srgbClr val="E8ECE9"/>
                      </a:solidFill>
                      <a:prstDash val="solid"/>
                      <a:round/>
                      <a:headEnd type="none" w="med" len="med"/>
                      <a:tailEnd type="none" w="med" len="med"/>
                    </a:lnT>
                    <a:lnB w="9525" cap="flat" cmpd="sng" algn="ctr">
                      <a:solidFill>
                        <a:srgbClr val="E8ECE9"/>
                      </a:solidFill>
                      <a:prstDash val="solid"/>
                      <a:round/>
                      <a:headEnd type="none" w="med" len="med"/>
                      <a:tailEnd type="none" w="med" len="med"/>
                    </a:lnB>
                  </a:tcPr>
                </a:tc>
                <a:tc>
                  <a:txBody>
                    <a:bodyPr/>
                    <a:lstStyle/>
                    <a:p>
                      <a:pPr indent="0" marL="0">
                        <a:buNone/>
                      </a:pPr>
                      <a:r>
                        <a:rPr lang="en-US" sz="1300" dirty="0">
                          <a:solidFill>
                            <a:srgbClr val="202723"/>
                          </a:solidFill>
                          <a:latin typeface="Arial" pitchFamily="34" charset="0"/>
                          <a:ea typeface="Arial" pitchFamily="34" charset="-122"/>
                          <a:cs typeface="Arial" pitchFamily="34" charset="-120"/>
                        </a:rPr>
                        <a:t>0.05°; daily; 50°S–50°N</a:t>
                      </a:r>
                      <a:endParaRPr lang="en-US" sz="1300" dirty="0">
                        <a:latin typeface="Arial" charset="0"/>
                        <a:ea typeface="Arial" charset="0"/>
                        <a:cs typeface="Arial" charset="0"/>
                      </a:endParaRPr>
                    </a:p>
                  </a:txBody>
                  <a:tcPr marL="91440" marR="91440" marT="36576" marB="36576" anchor="ctr">
                    <a:lnL w="9525" cap="flat" cmpd="sng" algn="ctr">
                      <a:solidFill>
                        <a:srgbClr val="E8ECE9"/>
                      </a:solidFill>
                      <a:prstDash val="solid"/>
                      <a:round/>
                      <a:headEnd type="none" w="med" len="med"/>
                      <a:tailEnd type="none" w="med" len="med"/>
                    </a:lnL>
                    <a:lnR w="9525" cap="flat" cmpd="sng" algn="ctr">
                      <a:solidFill>
                        <a:srgbClr val="E8ECE9"/>
                      </a:solidFill>
                      <a:prstDash val="solid"/>
                      <a:round/>
                      <a:headEnd type="none" w="med" len="med"/>
                      <a:tailEnd type="none" w="med" len="med"/>
                    </a:lnR>
                    <a:lnT w="9525" cap="flat" cmpd="sng" algn="ctr">
                      <a:solidFill>
                        <a:srgbClr val="E8ECE9"/>
                      </a:solidFill>
                      <a:prstDash val="solid"/>
                      <a:round/>
                      <a:headEnd type="none" w="med" len="med"/>
                      <a:tailEnd type="none" w="med" len="med"/>
                    </a:lnT>
                    <a:lnB w="9525" cap="flat" cmpd="sng" algn="ctr">
                      <a:solidFill>
                        <a:srgbClr val="E8ECE9"/>
                      </a:solidFill>
                      <a:prstDash val="solid"/>
                      <a:round/>
                      <a:headEnd type="none" w="med" len="med"/>
                      <a:tailEnd type="none" w="med" len="med"/>
                    </a:lnB>
                  </a:tcPr>
                </a:tc>
                <a:tc>
                  <a:txBody>
                    <a:bodyPr/>
                    <a:lstStyle/>
                    <a:p>
                      <a:pPr indent="0" marL="0">
                        <a:buNone/>
                      </a:pPr>
                      <a:r>
                        <a:rPr lang="en-US" sz="1300" dirty="0">
                          <a:solidFill>
                            <a:srgbClr val="202723"/>
                          </a:solidFill>
                          <a:latin typeface="Arial" pitchFamily="34" charset="0"/>
                          <a:ea typeface="Arial" pitchFamily="34" charset="-122"/>
                          <a:cs typeface="Arial" pitchFamily="34" charset="-120"/>
                        </a:rPr>
                        <a:t>CC-BY-4.0; cite Funk et al. 2015</a:t>
                      </a:r>
                      <a:endParaRPr lang="en-US" sz="1300" dirty="0">
                        <a:latin typeface="Arial" charset="0"/>
                        <a:ea typeface="Arial" charset="0"/>
                        <a:cs typeface="Arial" charset="0"/>
                      </a:endParaRPr>
                    </a:p>
                  </a:txBody>
                  <a:tcPr marL="91440" marR="91440" marT="36576" marB="36576" anchor="ctr">
                    <a:lnL w="9525" cap="flat" cmpd="sng" algn="ctr">
                      <a:solidFill>
                        <a:srgbClr val="E8ECE9"/>
                      </a:solidFill>
                      <a:prstDash val="solid"/>
                      <a:round/>
                      <a:headEnd type="none" w="med" len="med"/>
                      <a:tailEnd type="none" w="med" len="med"/>
                    </a:lnL>
                    <a:lnR w="9525" cap="flat" cmpd="sng" algn="ctr">
                      <a:solidFill>
                        <a:srgbClr val="E8ECE9"/>
                      </a:solidFill>
                      <a:prstDash val="solid"/>
                      <a:round/>
                      <a:headEnd type="none" w="med" len="med"/>
                      <a:tailEnd type="none" w="med" len="med"/>
                    </a:lnR>
                    <a:lnT w="9525" cap="flat" cmpd="sng" algn="ctr">
                      <a:solidFill>
                        <a:srgbClr val="E8ECE9"/>
                      </a:solidFill>
                      <a:prstDash val="solid"/>
                      <a:round/>
                      <a:headEnd type="none" w="med" len="med"/>
                      <a:tailEnd type="none" w="med" len="med"/>
                    </a:lnT>
                    <a:lnB w="9525" cap="flat" cmpd="sng" algn="ctr">
                      <a:solidFill>
                        <a:srgbClr val="E8ECE9"/>
                      </a:solidFill>
                      <a:prstDash val="solid"/>
                      <a:round/>
                      <a:headEnd type="none" w="med" len="med"/>
                      <a:tailEnd type="none" w="med" len="med"/>
                    </a:lnB>
                  </a:tcPr>
                </a:tc>
              </a:tr>
            </a:tbl>
          </a:graphicData>
        </a:graphic>
      </p:graphicFrame>
      <p:sp>
        <p:nvSpPr>
          <p:cNvPr id="4" name="Text 1"/>
          <p:cNvSpPr txBox="1"/>
          <p:nvPr/>
        </p:nvSpPr>
        <p:spPr>
          <a:xfrm>
            <a:off x="548640" y="4343400"/>
            <a:ext cx="5486400" cy="292608"/>
          </a:xfrm>
          <a:prstGeom prst="rect">
            <a:avLst/>
          </a:prstGeom>
          <a:noFill/>
          <a:ln/>
        </p:spPr>
        <p:txBody>
          <a:bodyPr wrap="square" lIns="0" tIns="0" rIns="0" bIns="0" rtlCol="0" anchor="t"/>
          <a:lstStyle/>
          <a:p>
            <a:pPr indent="0" marL="0">
              <a:buNone/>
            </a:pPr>
            <a:r>
              <a:rPr lang="en-US" sz="1600" b="1" dirty="0">
                <a:solidFill>
                  <a:srgbClr val="202723"/>
                </a:solidFill>
                <a:latin typeface="Arial" pitchFamily="34" charset="0"/>
                <a:ea typeface="Arial" pitchFamily="34" charset="-122"/>
                <a:cs typeface="Arial" pitchFamily="34" charset="-120"/>
              </a:rPr>
              <a:t>Case-study references</a:t>
            </a:r>
            <a:endParaRPr lang="en-US" sz="1600" dirty="0"/>
          </a:p>
        </p:txBody>
      </p:sp>
      <p:sp>
        <p:nvSpPr>
          <p:cNvPr id="5" name="Text 2"/>
          <p:cNvSpPr txBox="1"/>
          <p:nvPr/>
        </p:nvSpPr>
        <p:spPr>
          <a:xfrm>
            <a:off x="548640" y="4681728"/>
            <a:ext cx="11094415" cy="15544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202723"/>
                </a:solidFill>
                <a:latin typeface="Arial" pitchFamily="34" charset="0"/>
                <a:ea typeface="Arial" pitchFamily="34" charset="-122"/>
                <a:cs typeface="Arial" pitchFamily="34" charset="-120"/>
              </a:rPr>
              <a:t>Tracking package: “Wyoming Sublette Mule Deer (2018-2020)”, Movebank Data Repository handle 10255/move.3619, package UUID 0e3a4577-b063-47d9-9d6b-edec949aa5fa.</a:t>
            </a:r>
            <a:endParaRPr lang="en-US" sz="1300" dirty="0"/>
          </a:p>
          <a:p>
            <a:pPr marL="342900" indent="-342900">
              <a:spcAft>
                <a:spcPts val="400"/>
              </a:spcAft>
              <a:buSzPct val="100000"/>
              <a:buChar char="•"/>
            </a:pPr>
            <a:r>
              <a:rPr lang="en-US" sz="1300" dirty="0">
                <a:solidFill>
                  <a:srgbClr val="202723"/>
                </a:solidFill>
                <a:latin typeface="Arial" pitchFamily="34" charset="0"/>
                <a:ea typeface="Arial" pitchFamily="34" charset="-122"/>
                <a:cs typeface="Arial" pitchFamily="34" charset="-120"/>
              </a:rPr>
              <a:t>Query: Odocoileus hemionus; bounding box 110.75°W–108.70°W, 41.55°N–43.80°N; 1 March–30 June 2019 (UTC).</a:t>
            </a:r>
            <a:endParaRPr lang="en-US" sz="1300" dirty="0"/>
          </a:p>
          <a:p>
            <a:pPr marL="342900" indent="-342900">
              <a:spcAft>
                <a:spcPts val="400"/>
              </a:spcAft>
              <a:buSzPct val="100000"/>
              <a:buChar char="•"/>
            </a:pPr>
            <a:r>
              <a:rPr lang="en-US" sz="1300" dirty="0">
                <a:solidFill>
                  <a:srgbClr val="202723"/>
                </a:solidFill>
                <a:latin typeface="Arial" pitchFamily="34" charset="0"/>
                <a:ea typeface="Arial" pitchFamily="34" charset="-122"/>
                <a:cs typeface="Arial" pitchFamily="34" charset="-120"/>
              </a:rPr>
              <a:t>Common grid: EASE-Grid 2.0 global, 1 km. Matching to a common grid does not increase the resolution of the source measurements.</a:t>
            </a:r>
            <a:endParaRPr lang="en-US" sz="1300" dirty="0"/>
          </a:p>
          <a:p>
            <a:pPr marL="342900" indent="-342900">
              <a:spcAft>
                <a:spcPts val="400"/>
              </a:spcAft>
              <a:buSzPct val="100000"/>
              <a:buChar char="•"/>
            </a:pPr>
            <a:r>
              <a:rPr lang="en-US" sz="1300" dirty="0">
                <a:solidFill>
                  <a:srgbClr val="202723"/>
                </a:solidFill>
                <a:latin typeface="Arial" pitchFamily="34" charset="0"/>
                <a:ea typeface="Arial" pitchFamily="34" charset="-122"/>
                <a:cs typeface="Arial" pitchFamily="34" charset="-120"/>
              </a:rPr>
              <a:t>Provider links: datarepository.movebank.org · planetarycomputer.microsoft.com · chc.ucsb.edu/data/chirps · github.com/movebank/movebank-api-doc</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8736D"/>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566928"/>
            <a:ext cx="11094415" cy="548640"/>
          </a:xfrm>
          <a:prstGeom prst="rect">
            <a:avLst/>
          </a:prstGeom>
          <a:noFill/>
          <a:ln/>
        </p:spPr>
        <p:txBody>
          <a:bodyPr wrap="square" lIns="0" tIns="0" rIns="0" bIns="0" rtlCol="0" anchor="t"/>
          <a:lstStyle/>
          <a:p>
            <a:pPr algn="l" indent="0" marL="0">
              <a:buNone/>
            </a:pPr>
            <a:r>
              <a:rPr lang="en-US" sz="2800" b="1" dirty="0">
                <a:solidFill>
                  <a:srgbClr val="202723"/>
                </a:solidFill>
                <a:latin typeface="Arial" pitchFamily="34" charset="0"/>
                <a:ea typeface="Arial" pitchFamily="34" charset="-122"/>
                <a:cs typeface="Arial" pitchFamily="34" charset="-120"/>
              </a:rPr>
              <a:t>Technical architecture and current implementation scope</a:t>
            </a:r>
            <a:endParaRPr lang="en-US" sz="2800" dirty="0"/>
          </a:p>
        </p:txBody>
      </p:sp>
      <p:sp>
        <p:nvSpPr>
          <p:cNvPr id="3" name="Text 1"/>
          <p:cNvSpPr txBox="1"/>
          <p:nvPr/>
        </p:nvSpPr>
        <p:spPr>
          <a:xfrm>
            <a:off x="548640" y="1371600"/>
            <a:ext cx="4937760" cy="274320"/>
          </a:xfrm>
          <a:prstGeom prst="rect">
            <a:avLst/>
          </a:prstGeom>
          <a:noFill/>
          <a:ln/>
        </p:spPr>
        <p:txBody>
          <a:bodyPr wrap="square" lIns="0" tIns="0" rIns="0" bIns="0" rtlCol="0" anchor="t"/>
          <a:lstStyle/>
          <a:p>
            <a:pPr indent="0" marL="0">
              <a:buNone/>
            </a:pPr>
            <a:r>
              <a:rPr lang="en-US" sz="1300" b="1" spc="100" kern="0" dirty="0">
                <a:solidFill>
                  <a:srgbClr val="68736D"/>
                </a:solidFill>
                <a:latin typeface="Arial" pitchFamily="34" charset="0"/>
                <a:ea typeface="Arial" pitchFamily="34" charset="-122"/>
                <a:cs typeface="Arial" pitchFamily="34" charset="-120"/>
              </a:rPr>
              <a:t>PIPELINE · Python, durable job coordinator</a:t>
            </a:r>
            <a:endParaRPr lang="en-US" sz="1300" dirty="0"/>
          </a:p>
        </p:txBody>
      </p:sp>
      <p:sp>
        <p:nvSpPr>
          <p:cNvPr id="4" name="Shape 2"/>
          <p:cNvSpPr/>
          <p:nvPr/>
        </p:nvSpPr>
        <p:spPr>
          <a:xfrm>
            <a:off x="548640" y="1783080"/>
            <a:ext cx="4937760" cy="777240"/>
          </a:xfrm>
          <a:prstGeom prst="rect">
            <a:avLst/>
          </a:prstGeom>
          <a:solidFill>
            <a:srgbClr val="FFFFFF"/>
          </a:solidFill>
          <a:ln w="12700">
            <a:solidFill>
              <a:srgbClr val="B9C1BC"/>
            </a:solidFill>
            <a:prstDash val="solid"/>
          </a:ln>
        </p:spPr>
      </p:sp>
      <p:sp>
        <p:nvSpPr>
          <p:cNvPr id="5" name="Text 3"/>
          <p:cNvSpPr txBox="1"/>
          <p:nvPr/>
        </p:nvSpPr>
        <p:spPr>
          <a:xfrm>
            <a:off x="685800" y="1892808"/>
            <a:ext cx="1371600" cy="274320"/>
          </a:xfrm>
          <a:prstGeom prst="rect">
            <a:avLst/>
          </a:prstGeom>
          <a:noFill/>
          <a:ln/>
        </p:spPr>
        <p:txBody>
          <a:bodyPr wrap="square" lIns="0" tIns="0" rIns="0" bIns="0" rtlCol="0" anchor="t"/>
          <a:lstStyle/>
          <a:p>
            <a:pPr indent="0" marL="0">
              <a:buNone/>
            </a:pPr>
            <a:r>
              <a:rPr lang="en-US" sz="1600" b="1" dirty="0">
                <a:solidFill>
                  <a:srgbClr val="294D3C"/>
                </a:solidFill>
                <a:latin typeface="Arial" pitchFamily="34" charset="0"/>
                <a:ea typeface="Arial" pitchFamily="34" charset="-122"/>
                <a:cs typeface="Arial" pitchFamily="34" charset="-120"/>
              </a:rPr>
              <a:t>Fetch</a:t>
            </a:r>
            <a:endParaRPr lang="en-US" sz="1600" dirty="0"/>
          </a:p>
        </p:txBody>
      </p:sp>
      <p:sp>
        <p:nvSpPr>
          <p:cNvPr id="6" name="Text 4"/>
          <p:cNvSpPr txBox="1"/>
          <p:nvPr/>
        </p:nvSpPr>
        <p:spPr>
          <a:xfrm>
            <a:off x="2057400" y="1892808"/>
            <a:ext cx="3291840" cy="594360"/>
          </a:xfrm>
          <a:prstGeom prst="rect">
            <a:avLst/>
          </a:prstGeom>
          <a:noFill/>
          <a:ln/>
        </p:spPr>
        <p:txBody>
          <a:bodyPr wrap="square" lIns="0" tIns="0" rIns="0" bIns="0" rtlCol="0" anchor="t"/>
          <a:lstStyle/>
          <a:p>
            <a:pPr indent="0" marL="0">
              <a:buNone/>
            </a:pPr>
            <a:r>
              <a:rPr lang="en-US" sz="1300" dirty="0">
                <a:solidFill>
                  <a:srgbClr val="202723"/>
                </a:solidFill>
                <a:latin typeface="Arial" pitchFamily="34" charset="0"/>
                <a:ea typeface="Arial" pitchFamily="34" charset="-122"/>
                <a:cs typeface="Arial" pitchFamily="34" charset="-120"/>
              </a:rPr>
              <a:t>Connectors → raw-file archive with manifests and checksums</a:t>
            </a:r>
            <a:endParaRPr lang="en-US" sz="1300" dirty="0"/>
          </a:p>
        </p:txBody>
      </p:sp>
      <p:sp>
        <p:nvSpPr>
          <p:cNvPr id="7" name="Shape 5"/>
          <p:cNvSpPr/>
          <p:nvPr/>
        </p:nvSpPr>
        <p:spPr>
          <a:xfrm>
            <a:off x="1005840" y="2560320"/>
            <a:ext cx="0" cy="274320"/>
          </a:xfrm>
          <a:prstGeom prst="line">
            <a:avLst/>
          </a:prstGeom>
          <a:noFill/>
          <a:ln w="15875">
            <a:solidFill>
              <a:srgbClr val="294D3C"/>
            </a:solidFill>
            <a:prstDash val="solid"/>
            <a:tailEnd type="triangle"/>
          </a:ln>
        </p:spPr>
      </p:sp>
      <p:sp>
        <p:nvSpPr>
          <p:cNvPr id="8" name="Shape 6"/>
          <p:cNvSpPr/>
          <p:nvPr/>
        </p:nvSpPr>
        <p:spPr>
          <a:xfrm>
            <a:off x="548640" y="2834640"/>
            <a:ext cx="4937760" cy="777240"/>
          </a:xfrm>
          <a:prstGeom prst="rect">
            <a:avLst/>
          </a:prstGeom>
          <a:solidFill>
            <a:srgbClr val="FFFFFF"/>
          </a:solidFill>
          <a:ln w="12700">
            <a:solidFill>
              <a:srgbClr val="B9C1BC"/>
            </a:solidFill>
            <a:prstDash val="solid"/>
          </a:ln>
        </p:spPr>
      </p:sp>
      <p:sp>
        <p:nvSpPr>
          <p:cNvPr id="9" name="Text 7"/>
          <p:cNvSpPr txBox="1"/>
          <p:nvPr/>
        </p:nvSpPr>
        <p:spPr>
          <a:xfrm>
            <a:off x="685800" y="2944368"/>
            <a:ext cx="1371600" cy="274320"/>
          </a:xfrm>
          <a:prstGeom prst="rect">
            <a:avLst/>
          </a:prstGeom>
          <a:noFill/>
          <a:ln/>
        </p:spPr>
        <p:txBody>
          <a:bodyPr wrap="square" lIns="0" tIns="0" rIns="0" bIns="0" rtlCol="0" anchor="t"/>
          <a:lstStyle/>
          <a:p>
            <a:pPr indent="0" marL="0">
              <a:buNone/>
            </a:pPr>
            <a:r>
              <a:rPr lang="en-US" sz="1600" b="1" dirty="0">
                <a:solidFill>
                  <a:srgbClr val="294D3C"/>
                </a:solidFill>
                <a:latin typeface="Arial" pitchFamily="34" charset="0"/>
                <a:ea typeface="Arial" pitchFamily="34" charset="-122"/>
                <a:cs typeface="Arial" pitchFamily="34" charset="-120"/>
              </a:rPr>
              <a:t>Normalize</a:t>
            </a:r>
            <a:endParaRPr lang="en-US" sz="1600" dirty="0"/>
          </a:p>
        </p:txBody>
      </p:sp>
      <p:sp>
        <p:nvSpPr>
          <p:cNvPr id="10" name="Text 8"/>
          <p:cNvSpPr txBox="1"/>
          <p:nvPr/>
        </p:nvSpPr>
        <p:spPr>
          <a:xfrm>
            <a:off x="2057400" y="2944368"/>
            <a:ext cx="3291840" cy="594360"/>
          </a:xfrm>
          <a:prstGeom prst="rect">
            <a:avLst/>
          </a:prstGeom>
          <a:noFill/>
          <a:ln/>
        </p:spPr>
        <p:txBody>
          <a:bodyPr wrap="square" lIns="0" tIns="0" rIns="0" bIns="0" rtlCol="0" anchor="t"/>
          <a:lstStyle/>
          <a:p>
            <a:pPr indent="0" marL="0">
              <a:buNone/>
            </a:pPr>
            <a:r>
              <a:rPr lang="en-US" sz="1300" dirty="0">
                <a:solidFill>
                  <a:srgbClr val="202723"/>
                </a:solidFill>
                <a:latin typeface="Arial" pitchFamily="34" charset="0"/>
                <a:ea typeface="Arial" pitchFamily="34" charset="-122"/>
                <a:cs typeface="Arial" pitchFamily="34" charset="-120"/>
              </a:rPr>
              <a:t>PostgreSQL / PostGIS catalog and canonical observations</a:t>
            </a:r>
            <a:endParaRPr lang="en-US" sz="1300" dirty="0"/>
          </a:p>
        </p:txBody>
      </p:sp>
      <p:sp>
        <p:nvSpPr>
          <p:cNvPr id="11" name="Shape 9"/>
          <p:cNvSpPr/>
          <p:nvPr/>
        </p:nvSpPr>
        <p:spPr>
          <a:xfrm>
            <a:off x="1005840" y="3611880"/>
            <a:ext cx="0" cy="274320"/>
          </a:xfrm>
          <a:prstGeom prst="line">
            <a:avLst/>
          </a:prstGeom>
          <a:noFill/>
          <a:ln w="15875">
            <a:solidFill>
              <a:srgbClr val="294D3C"/>
            </a:solidFill>
            <a:prstDash val="solid"/>
            <a:tailEnd type="triangle"/>
          </a:ln>
        </p:spPr>
      </p:sp>
      <p:sp>
        <p:nvSpPr>
          <p:cNvPr id="12" name="Shape 10"/>
          <p:cNvSpPr/>
          <p:nvPr/>
        </p:nvSpPr>
        <p:spPr>
          <a:xfrm>
            <a:off x="548640" y="3886200"/>
            <a:ext cx="4937760" cy="777240"/>
          </a:xfrm>
          <a:prstGeom prst="rect">
            <a:avLst/>
          </a:prstGeom>
          <a:solidFill>
            <a:srgbClr val="E8ECE9"/>
          </a:solidFill>
          <a:ln w="12700">
            <a:solidFill>
              <a:srgbClr val="B9C1BC"/>
            </a:solidFill>
            <a:prstDash val="solid"/>
          </a:ln>
        </p:spPr>
      </p:sp>
      <p:sp>
        <p:nvSpPr>
          <p:cNvPr id="13" name="Text 11"/>
          <p:cNvSpPr txBox="1"/>
          <p:nvPr/>
        </p:nvSpPr>
        <p:spPr>
          <a:xfrm>
            <a:off x="685800" y="3995928"/>
            <a:ext cx="1371600" cy="274320"/>
          </a:xfrm>
          <a:prstGeom prst="rect">
            <a:avLst/>
          </a:prstGeom>
          <a:noFill/>
          <a:ln/>
        </p:spPr>
        <p:txBody>
          <a:bodyPr wrap="square" lIns="0" tIns="0" rIns="0" bIns="0" rtlCol="0" anchor="t"/>
          <a:lstStyle/>
          <a:p>
            <a:pPr indent="0" marL="0">
              <a:buNone/>
            </a:pPr>
            <a:r>
              <a:rPr lang="en-US" sz="1600" b="1" dirty="0">
                <a:solidFill>
                  <a:srgbClr val="294D3C"/>
                </a:solidFill>
                <a:latin typeface="Arial" pitchFamily="34" charset="0"/>
                <a:ea typeface="Arial" pitchFamily="34" charset="-122"/>
                <a:cs typeface="Arial" pitchFamily="34" charset="-120"/>
              </a:rPr>
              <a:t>Recipe</a:t>
            </a:r>
            <a:endParaRPr lang="en-US" sz="1600" dirty="0"/>
          </a:p>
        </p:txBody>
      </p:sp>
      <p:sp>
        <p:nvSpPr>
          <p:cNvPr id="14" name="Text 12"/>
          <p:cNvSpPr txBox="1"/>
          <p:nvPr/>
        </p:nvSpPr>
        <p:spPr>
          <a:xfrm>
            <a:off x="2057400" y="3995928"/>
            <a:ext cx="3291840" cy="594360"/>
          </a:xfrm>
          <a:prstGeom prst="rect">
            <a:avLst/>
          </a:prstGeom>
          <a:noFill/>
          <a:ln/>
        </p:spPr>
        <p:txBody>
          <a:bodyPr wrap="square" lIns="0" tIns="0" rIns="0" bIns="0" rtlCol="0" anchor="t"/>
          <a:lstStyle/>
          <a:p>
            <a:pPr indent="0" marL="0">
              <a:buNone/>
            </a:pPr>
            <a:r>
              <a:rPr lang="en-US" sz="1300" dirty="0">
                <a:solidFill>
                  <a:srgbClr val="202723"/>
                </a:solidFill>
                <a:latin typeface="Arial" pitchFamily="34" charset="0"/>
                <a:ea typeface="Arial" pitchFamily="34" charset="-122"/>
                <a:cs typeface="Arial" pitchFamily="34" charset="-120"/>
              </a:rPr>
              <a:t>Typed recipe → compiled SQL → Parquet feature artifact</a:t>
            </a:r>
            <a:endParaRPr lang="en-US" sz="1300" dirty="0"/>
          </a:p>
        </p:txBody>
      </p:sp>
      <p:sp>
        <p:nvSpPr>
          <p:cNvPr id="15" name="Shape 13"/>
          <p:cNvSpPr/>
          <p:nvPr/>
        </p:nvSpPr>
        <p:spPr>
          <a:xfrm>
            <a:off x="1005840" y="4663440"/>
            <a:ext cx="0" cy="274320"/>
          </a:xfrm>
          <a:prstGeom prst="line">
            <a:avLst/>
          </a:prstGeom>
          <a:noFill/>
          <a:ln w="15875">
            <a:solidFill>
              <a:srgbClr val="294D3C"/>
            </a:solidFill>
            <a:prstDash val="solid"/>
            <a:tailEnd type="triangle"/>
          </a:ln>
        </p:spPr>
      </p:sp>
      <p:sp>
        <p:nvSpPr>
          <p:cNvPr id="16" name="Shape 14"/>
          <p:cNvSpPr/>
          <p:nvPr/>
        </p:nvSpPr>
        <p:spPr>
          <a:xfrm>
            <a:off x="548640" y="4937760"/>
            <a:ext cx="4937760" cy="777240"/>
          </a:xfrm>
          <a:prstGeom prst="rect">
            <a:avLst/>
          </a:prstGeom>
          <a:solidFill>
            <a:srgbClr val="FFFFFF"/>
          </a:solidFill>
          <a:ln w="12700">
            <a:solidFill>
              <a:srgbClr val="B9C1BC"/>
            </a:solidFill>
            <a:prstDash val="solid"/>
          </a:ln>
        </p:spPr>
      </p:sp>
      <p:sp>
        <p:nvSpPr>
          <p:cNvPr id="17" name="Text 15"/>
          <p:cNvSpPr txBox="1"/>
          <p:nvPr/>
        </p:nvSpPr>
        <p:spPr>
          <a:xfrm>
            <a:off x="685800" y="5047488"/>
            <a:ext cx="1371600" cy="274320"/>
          </a:xfrm>
          <a:prstGeom prst="rect">
            <a:avLst/>
          </a:prstGeom>
          <a:noFill/>
          <a:ln/>
        </p:spPr>
        <p:txBody>
          <a:bodyPr wrap="square" lIns="0" tIns="0" rIns="0" bIns="0" rtlCol="0" anchor="t"/>
          <a:lstStyle/>
          <a:p>
            <a:pPr indent="0" marL="0">
              <a:buNone/>
            </a:pPr>
            <a:r>
              <a:rPr lang="en-US" sz="1600" b="1" dirty="0">
                <a:solidFill>
                  <a:srgbClr val="294D3C"/>
                </a:solidFill>
                <a:latin typeface="Arial" pitchFamily="34" charset="0"/>
                <a:ea typeface="Arial" pitchFamily="34" charset="-122"/>
                <a:cs typeface="Arial" pitchFamily="34" charset="-120"/>
              </a:rPr>
              <a:t>Analysis</a:t>
            </a:r>
            <a:endParaRPr lang="en-US" sz="1600" dirty="0"/>
          </a:p>
        </p:txBody>
      </p:sp>
      <p:sp>
        <p:nvSpPr>
          <p:cNvPr id="18" name="Text 16"/>
          <p:cNvSpPr txBox="1"/>
          <p:nvPr/>
        </p:nvSpPr>
        <p:spPr>
          <a:xfrm>
            <a:off x="2057400" y="5047488"/>
            <a:ext cx="3291840" cy="594360"/>
          </a:xfrm>
          <a:prstGeom prst="rect">
            <a:avLst/>
          </a:prstGeom>
          <a:noFill/>
          <a:ln/>
        </p:spPr>
        <p:txBody>
          <a:bodyPr wrap="square" lIns="0" tIns="0" rIns="0" bIns="0" rtlCol="0" anchor="t"/>
          <a:lstStyle/>
          <a:p>
            <a:pPr indent="0" marL="0">
              <a:buNone/>
            </a:pPr>
            <a:r>
              <a:rPr lang="en-US" sz="1300" dirty="0">
                <a:solidFill>
                  <a:srgbClr val="202723"/>
                </a:solidFill>
                <a:latin typeface="Arial" pitchFamily="34" charset="0"/>
                <a:ea typeface="Arial" pitchFamily="34" charset="-122"/>
                <a:cs typeface="Arial" pitchFamily="34" charset="-120"/>
              </a:rPr>
              <a:t>Historical summaries, findings, evidence references</a:t>
            </a:r>
            <a:endParaRPr lang="en-US" sz="1300" dirty="0"/>
          </a:p>
        </p:txBody>
      </p:sp>
      <p:sp>
        <p:nvSpPr>
          <p:cNvPr id="19" name="Text 17"/>
          <p:cNvSpPr txBox="1"/>
          <p:nvPr/>
        </p:nvSpPr>
        <p:spPr>
          <a:xfrm>
            <a:off x="548640" y="5989320"/>
            <a:ext cx="4937760" cy="411480"/>
          </a:xfrm>
          <a:prstGeom prst="rect">
            <a:avLst/>
          </a:prstGeom>
          <a:noFill/>
          <a:ln/>
        </p:spPr>
        <p:txBody>
          <a:bodyPr wrap="square" lIns="0" tIns="0" rIns="0" bIns="0" rtlCol="0" anchor="t"/>
          <a:lstStyle/>
          <a:p>
            <a:pPr indent="0" marL="0">
              <a:buNone/>
            </a:pPr>
            <a:r>
              <a:rPr lang="en-US" sz="1200" dirty="0">
                <a:solidFill>
                  <a:srgbClr val="68736D"/>
                </a:solidFill>
                <a:latin typeface="Arial" pitchFamily="34" charset="0"/>
                <a:ea typeface="Arial" pitchFamily="34" charset="-122"/>
                <a:cs typeface="Arial" pitchFamily="34" charset="-120"/>
              </a:rPr>
              <a:t>Agents propose sources, mappings and recipes. Validation and deterministic code execute them.</a:t>
            </a:r>
            <a:endParaRPr lang="en-US" sz="1200" dirty="0"/>
          </a:p>
        </p:txBody>
      </p:sp>
      <p:sp>
        <p:nvSpPr>
          <p:cNvPr id="20" name="Text 18"/>
          <p:cNvSpPr txBox="1"/>
          <p:nvPr/>
        </p:nvSpPr>
        <p:spPr>
          <a:xfrm>
            <a:off x="6035040" y="1371600"/>
            <a:ext cx="5608015" cy="274320"/>
          </a:xfrm>
          <a:prstGeom prst="rect">
            <a:avLst/>
          </a:prstGeom>
          <a:noFill/>
          <a:ln/>
        </p:spPr>
        <p:txBody>
          <a:bodyPr wrap="square" lIns="0" tIns="0" rIns="0" bIns="0" rtlCol="0" anchor="t"/>
          <a:lstStyle/>
          <a:p>
            <a:pPr indent="0" marL="0">
              <a:buNone/>
            </a:pPr>
            <a:r>
              <a:rPr lang="en-US" sz="1500" b="1" dirty="0">
                <a:solidFill>
                  <a:srgbClr val="294D3C"/>
                </a:solidFill>
                <a:latin typeface="Arial" pitchFamily="34" charset="0"/>
                <a:ea typeface="Arial" pitchFamily="34" charset="-122"/>
                <a:cs typeface="Arial" pitchFamily="34" charset="-120"/>
              </a:rPr>
              <a:t>In code and integration tests</a:t>
            </a:r>
            <a:endParaRPr lang="en-US" sz="1500" dirty="0"/>
          </a:p>
        </p:txBody>
      </p:sp>
      <p:sp>
        <p:nvSpPr>
          <p:cNvPr id="21" name="Text 19"/>
          <p:cNvSpPr txBox="1"/>
          <p:nvPr/>
        </p:nvSpPr>
        <p:spPr>
          <a:xfrm>
            <a:off x="6035040" y="1673352"/>
            <a:ext cx="5608015" cy="868680"/>
          </a:xfrm>
          <a:prstGeom prst="rect">
            <a:avLst/>
          </a:prstGeom>
          <a:noFill/>
          <a:ln/>
        </p:spPr>
        <p:txBody>
          <a:bodyPr wrap="square" lIns="0" tIns="0" rIns="0" bIns="0" rtlCol="0" anchor="t"/>
          <a:lstStyle/>
          <a:p>
            <a:pPr indent="0" marL="0">
              <a:buNone/>
            </a:pPr>
            <a:r>
              <a:rPr lang="en-US" sz="1300" dirty="0">
                <a:solidFill>
                  <a:srgbClr val="202723"/>
                </a:solidFill>
                <a:latin typeface="Arial" pitchFamily="34" charset="0"/>
                <a:ea typeface="Arial" pitchFamily="34" charset="-122"/>
                <a:cs typeface="Arial" pitchFamily="34" charset="-120"/>
              </a:rPr>
              <a:t>Historical pipeline from Fetch to Analysis. Saved recipes with pinned input versions. Reuse of compatible artifacts; changed inputs miss the cache.</a:t>
            </a:r>
            <a:endParaRPr lang="en-US" sz="1300" dirty="0"/>
          </a:p>
        </p:txBody>
      </p:sp>
      <p:sp>
        <p:nvSpPr>
          <p:cNvPr id="22" name="Text 20"/>
          <p:cNvSpPr txBox="1"/>
          <p:nvPr/>
        </p:nvSpPr>
        <p:spPr>
          <a:xfrm>
            <a:off x="6035040" y="2587752"/>
            <a:ext cx="5608015" cy="274320"/>
          </a:xfrm>
          <a:prstGeom prst="rect">
            <a:avLst/>
          </a:prstGeom>
          <a:noFill/>
          <a:ln/>
        </p:spPr>
        <p:txBody>
          <a:bodyPr wrap="square" lIns="0" tIns="0" rIns="0" bIns="0" rtlCol="0" anchor="t"/>
          <a:lstStyle/>
          <a:p>
            <a:pPr indent="0" marL="0">
              <a:buNone/>
            </a:pPr>
            <a:r>
              <a:rPr lang="en-US" sz="1500" b="1" dirty="0">
                <a:solidFill>
                  <a:srgbClr val="B68638"/>
                </a:solidFill>
                <a:latin typeface="Arial" pitchFamily="34" charset="0"/>
                <a:ea typeface="Arial" pitchFamily="34" charset="-122"/>
                <a:cs typeface="Arial" pitchFamily="34" charset="-120"/>
              </a:rPr>
              <a:t>Not yet established</a:t>
            </a:r>
            <a:endParaRPr lang="en-US" sz="1500" dirty="0"/>
          </a:p>
        </p:txBody>
      </p:sp>
      <p:sp>
        <p:nvSpPr>
          <p:cNvPr id="23" name="Text 21"/>
          <p:cNvSpPr txBox="1"/>
          <p:nvPr/>
        </p:nvSpPr>
        <p:spPr>
          <a:xfrm>
            <a:off x="6035040" y="2889504"/>
            <a:ext cx="5608015" cy="868680"/>
          </a:xfrm>
          <a:prstGeom prst="rect">
            <a:avLst/>
          </a:prstGeom>
          <a:noFill/>
          <a:ln/>
        </p:spPr>
        <p:txBody>
          <a:bodyPr wrap="square" lIns="0" tIns="0" rIns="0" bIns="0" rtlCol="0" anchor="t"/>
          <a:lstStyle/>
          <a:p>
            <a:pPr indent="0" marL="0">
              <a:buNone/>
            </a:pPr>
            <a:r>
              <a:rPr lang="en-US" sz="1300" dirty="0">
                <a:solidFill>
                  <a:srgbClr val="202723"/>
                </a:solidFill>
                <a:latin typeface="Arial" pitchFamily="34" charset="0"/>
                <a:ea typeface="Arial" pitchFamily="34" charset="-122"/>
                <a:cs typeface="Arial" pitchFamily="34" charset="-120"/>
              </a:rPr>
              <a:t>A complete successful run of examples/sublette_mule_deer_ndvi.py. Recorded attempts stopped at Recipe (invalid recipe; database execution error).</a:t>
            </a:r>
            <a:endParaRPr lang="en-US" sz="1300" dirty="0"/>
          </a:p>
        </p:txBody>
      </p:sp>
      <p:sp>
        <p:nvSpPr>
          <p:cNvPr id="24" name="Text 22"/>
          <p:cNvSpPr txBox="1"/>
          <p:nvPr/>
        </p:nvSpPr>
        <p:spPr>
          <a:xfrm>
            <a:off x="6035040" y="3803904"/>
            <a:ext cx="5608015" cy="274320"/>
          </a:xfrm>
          <a:prstGeom prst="rect">
            <a:avLst/>
          </a:prstGeom>
          <a:noFill/>
          <a:ln/>
        </p:spPr>
        <p:txBody>
          <a:bodyPr wrap="square" lIns="0" tIns="0" rIns="0" bIns="0" rtlCol="0" anchor="t"/>
          <a:lstStyle/>
          <a:p>
            <a:pPr indent="0" marL="0">
              <a:buNone/>
            </a:pPr>
            <a:r>
              <a:rPr lang="en-US" sz="1500" b="1" dirty="0">
                <a:solidFill>
                  <a:srgbClr val="202723"/>
                </a:solidFill>
                <a:latin typeface="Arial" pitchFamily="34" charset="0"/>
                <a:ea typeface="Arial" pitchFamily="34" charset="-122"/>
                <a:cs typeface="Arial" pitchFamily="34" charset="-120"/>
              </a:rPr>
              <a:t>Experimental</a:t>
            </a:r>
            <a:endParaRPr lang="en-US" sz="1500" dirty="0"/>
          </a:p>
        </p:txBody>
      </p:sp>
      <p:sp>
        <p:nvSpPr>
          <p:cNvPr id="25" name="Text 23"/>
          <p:cNvSpPr txBox="1"/>
          <p:nvPr/>
        </p:nvSpPr>
        <p:spPr>
          <a:xfrm>
            <a:off x="6035040" y="4105656"/>
            <a:ext cx="5608015" cy="868680"/>
          </a:xfrm>
          <a:prstGeom prst="rect">
            <a:avLst/>
          </a:prstGeom>
          <a:noFill/>
          <a:ln/>
        </p:spPr>
        <p:txBody>
          <a:bodyPr wrap="square" lIns="0" tIns="0" rIns="0" bIns="0" rtlCol="0" anchor="t"/>
          <a:lstStyle/>
          <a:p>
            <a:pPr indent="0" marL="0">
              <a:buNone/>
            </a:pPr>
            <a:r>
              <a:rPr lang="en-US" sz="1300" dirty="0">
                <a:solidFill>
                  <a:srgbClr val="202723"/>
                </a:solidFill>
                <a:latin typeface="Arial" pitchFamily="34" charset="0"/>
                <a:ea typeface="Arial" pitchFamily="34" charset="-122"/>
                <a:cs typeface="Arial" pitchFamily="34" charset="-120"/>
              </a:rPr>
              <a:t>Forecasting methods exist in Analysis. Recipe returns insufficient_data for strict forecast preparation until a point-in-time availability contract exists.</a:t>
            </a:r>
            <a:endParaRPr lang="en-US" sz="1300" dirty="0"/>
          </a:p>
        </p:txBody>
      </p:sp>
      <p:sp>
        <p:nvSpPr>
          <p:cNvPr id="26" name="Text 24"/>
          <p:cNvSpPr txBox="1"/>
          <p:nvPr/>
        </p:nvSpPr>
        <p:spPr>
          <a:xfrm>
            <a:off x="6035040" y="5020056"/>
            <a:ext cx="5608015" cy="274320"/>
          </a:xfrm>
          <a:prstGeom prst="rect">
            <a:avLst/>
          </a:prstGeom>
          <a:noFill/>
          <a:ln/>
        </p:spPr>
        <p:txBody>
          <a:bodyPr wrap="square" lIns="0" tIns="0" rIns="0" bIns="0" rtlCol="0" anchor="t"/>
          <a:lstStyle/>
          <a:p>
            <a:pPr indent="0" marL="0">
              <a:buNone/>
            </a:pPr>
            <a:r>
              <a:rPr lang="en-US" sz="1500" b="1" dirty="0">
                <a:solidFill>
                  <a:srgbClr val="68736D"/>
                </a:solidFill>
                <a:latin typeface="Arial" pitchFamily="34" charset="0"/>
                <a:ea typeface="Arial" pitchFamily="34" charset="-122"/>
                <a:cs typeface="Arial" pitchFamily="34" charset="-120"/>
              </a:rPr>
              <a:t>Prototype and expansion</a:t>
            </a:r>
            <a:endParaRPr lang="en-US" sz="1500" dirty="0"/>
          </a:p>
        </p:txBody>
      </p:sp>
      <p:sp>
        <p:nvSpPr>
          <p:cNvPr id="27" name="Text 25"/>
          <p:cNvSpPr txBox="1"/>
          <p:nvPr/>
        </p:nvSpPr>
        <p:spPr>
          <a:xfrm>
            <a:off x="6035040" y="5321808"/>
            <a:ext cx="5608015" cy="868680"/>
          </a:xfrm>
          <a:prstGeom prst="rect">
            <a:avLst/>
          </a:prstGeom>
          <a:noFill/>
          <a:ln/>
        </p:spPr>
        <p:txBody>
          <a:bodyPr wrap="square" lIns="0" tIns="0" rIns="0" bIns="0" rtlCol="0" anchor="t"/>
          <a:lstStyle/>
          <a:p>
            <a:pPr indent="0" marL="0">
              <a:buNone/>
            </a:pPr>
            <a:r>
              <a:rPr lang="en-US" sz="1300" dirty="0">
                <a:solidFill>
                  <a:srgbClr val="202723"/>
                </a:solidFill>
                <a:latin typeface="Arial" pitchFamily="34" charset="0"/>
                <a:ea typeface="Arial" pitchFamily="34" charset="-122"/>
                <a:cs typeface="Arial" pitchFamily="34" charset="-120"/>
              </a:rPr>
              <a:t>Web demo uses synthetic pronghorn records (2025) and scripted assistant commands. Local imports support map exploration only. Field, camera-trap, sensor, population and water-quality sources are future work.</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8736D"/>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566928"/>
            <a:ext cx="11094415" cy="548640"/>
          </a:xfrm>
          <a:prstGeom prst="rect">
            <a:avLst/>
          </a:prstGeom>
          <a:noFill/>
          <a:ln/>
        </p:spPr>
        <p:txBody>
          <a:bodyPr wrap="square" lIns="0" tIns="0" rIns="0" bIns="0" rtlCol="0" anchor="t"/>
          <a:lstStyle/>
          <a:p>
            <a:pPr algn="l" indent="0" marL="0">
              <a:buNone/>
            </a:pPr>
            <a:r>
              <a:rPr lang="en-US" sz="2800" b="1" dirty="0">
                <a:solidFill>
                  <a:srgbClr val="202723"/>
                </a:solidFill>
                <a:latin typeface="Arial" pitchFamily="34" charset="0"/>
                <a:ea typeface="Arial" pitchFamily="34" charset="-122"/>
                <a:cs typeface="Arial" pitchFamily="34" charset="-120"/>
              </a:rPr>
              <a:t>Presentation design references</a:t>
            </a:r>
            <a:endParaRPr lang="en-US" sz="2800" dirty="0"/>
          </a:p>
        </p:txBody>
      </p:sp>
      <p:sp>
        <p:nvSpPr>
          <p:cNvPr id="3" name="Text 1"/>
          <p:cNvSpPr txBox="1"/>
          <p:nvPr/>
        </p:nvSpPr>
        <p:spPr>
          <a:xfrm>
            <a:off x="548640" y="1371600"/>
            <a:ext cx="7772400" cy="4480560"/>
          </a:xfrm>
          <a:prstGeom prst="rect">
            <a:avLst/>
          </a:prstGeom>
          <a:noFill/>
          <a:ln/>
        </p:spPr>
        <p:txBody>
          <a:bodyPr wrap="square" lIns="0" tIns="0" rIns="0" bIns="0" rtlCol="0" anchor="t"/>
          <a:lstStyle/>
          <a:p>
            <a:pPr indent="0" marL="0">
              <a:spcAft>
                <a:spcPts val="600"/>
              </a:spcAft>
              <a:buNone/>
            </a:pPr>
            <a:r>
              <a:rPr lang="en-US" sz="1500" b="1" dirty="0">
                <a:solidFill>
                  <a:srgbClr val="202723"/>
                </a:solidFill>
                <a:latin typeface="Arial" pitchFamily="34" charset="0"/>
                <a:ea typeface="Arial" pitchFamily="34" charset="-122"/>
                <a:cs typeface="Arial" pitchFamily="34" charset="-120"/>
              </a:rPr>
              <a:t>TED — 10 tips for better slide decks</a:t>
            </a:r>
            <a:endParaRPr lang="en-US" sz="1500" dirty="0"/>
          </a:p>
          <a:p>
            <a:pPr indent="0" marL="0">
              <a:spcAft>
                <a:spcPts val="600"/>
              </a:spcAft>
              <a:buNone/>
            </a:pPr>
            <a:r>
              <a:rPr lang="en-US" sz="1300" dirty="0">
                <a:solidFill>
                  <a:srgbClr val="68736D"/>
                </a:solidFill>
                <a:latin typeface="Arial" pitchFamily="34" charset="0"/>
                <a:ea typeface="Arial" pitchFamily="34" charset="-122"/>
                <a:cs typeface="Arial" pitchFamily="34" charset="-120"/>
              </a:rPr>
              <a:t>https://blog.ted.com/10-tips-for-better-slide-decks/</a:t>
            </a:r>
            <a:endParaRPr lang="en-US" sz="1500" dirty="0"/>
          </a:p>
          <a:p>
            <a:pPr indent="0" marL="0">
              <a:spcAft>
                <a:spcPts val="600"/>
              </a:spcAft>
              <a:buNone/>
            </a:pPr>
            <a:r>
              <a:rPr lang="en-US" sz="1500" b="1" dirty="0">
                <a:solidFill>
                  <a:srgbClr val="202723"/>
                </a:solidFill>
                <a:latin typeface="Arial" pitchFamily="34" charset="0"/>
                <a:ea typeface="Arial" pitchFamily="34" charset="-122"/>
                <a:cs typeface="Arial" pitchFamily="34" charset="-120"/>
              </a:rPr>
              <a:t>Garr Reynolds — Design tips</a:t>
            </a:r>
            <a:endParaRPr lang="en-US" sz="1500" dirty="0"/>
          </a:p>
          <a:p>
            <a:pPr indent="0" marL="0">
              <a:spcAft>
                <a:spcPts val="600"/>
              </a:spcAft>
              <a:buNone/>
            </a:pPr>
            <a:r>
              <a:rPr lang="en-US" sz="1300" dirty="0">
                <a:solidFill>
                  <a:srgbClr val="68736D"/>
                </a:solidFill>
                <a:latin typeface="Arial" pitchFamily="34" charset="0"/>
                <a:ea typeface="Arial" pitchFamily="34" charset="-122"/>
                <a:cs typeface="Arial" pitchFamily="34" charset="-120"/>
              </a:rPr>
              <a:t>https://www.garrreynolds.com/design-tips</a:t>
            </a:r>
            <a:endParaRPr lang="en-US" sz="1500" dirty="0"/>
          </a:p>
          <a:p>
            <a:pPr indent="0" marL="0">
              <a:spcAft>
                <a:spcPts val="600"/>
              </a:spcAft>
              <a:buNone/>
            </a:pPr>
            <a:r>
              <a:rPr lang="en-US" sz="1500" b="1" dirty="0">
                <a:solidFill>
                  <a:srgbClr val="202723"/>
                </a:solidFill>
                <a:latin typeface="Arial" pitchFamily="34" charset="0"/>
                <a:ea typeface="Arial" pitchFamily="34" charset="-122"/>
                <a:cs typeface="Arial" pitchFamily="34" charset="-120"/>
              </a:rPr>
              <a:t>Penn State — Assertion-evidence approach</a:t>
            </a:r>
            <a:endParaRPr lang="en-US" sz="1500" dirty="0"/>
          </a:p>
          <a:p>
            <a:pPr indent="0" marL="0">
              <a:spcAft>
                <a:spcPts val="600"/>
              </a:spcAft>
              <a:buNone/>
            </a:pPr>
            <a:r>
              <a:rPr lang="en-US" sz="1300" dirty="0">
                <a:solidFill>
                  <a:srgbClr val="68736D"/>
                </a:solidFill>
                <a:latin typeface="Arial" pitchFamily="34" charset="0"/>
                <a:ea typeface="Arial" pitchFamily="34" charset="-122"/>
                <a:cs typeface="Arial" pitchFamily="34" charset="-120"/>
              </a:rPr>
              <a:t>https://www.assertion-evidence.com/</a:t>
            </a:r>
            <a:endParaRPr lang="en-US" sz="1500" dirty="0"/>
          </a:p>
          <a:p>
            <a:pPr indent="0" marL="0">
              <a:spcAft>
                <a:spcPts val="600"/>
              </a:spcAft>
              <a:buNone/>
            </a:pPr>
            <a:r>
              <a:rPr lang="en-US" sz="1500" b="1" dirty="0">
                <a:solidFill>
                  <a:srgbClr val="202723"/>
                </a:solidFill>
                <a:latin typeface="Arial" pitchFamily="34" charset="0"/>
                <a:ea typeface="Arial" pitchFamily="34" charset="-122"/>
                <a:cs typeface="Arial" pitchFamily="34" charset="-120"/>
              </a:rPr>
              <a:t>Duarte — Tips for crafting a storytelling presentation</a:t>
            </a:r>
            <a:endParaRPr lang="en-US" sz="1500" dirty="0"/>
          </a:p>
          <a:p>
            <a:pPr indent="0" marL="0">
              <a:spcAft>
                <a:spcPts val="600"/>
              </a:spcAft>
              <a:buNone/>
            </a:pPr>
            <a:r>
              <a:rPr lang="en-US" sz="1300" dirty="0">
                <a:solidFill>
                  <a:srgbClr val="68736D"/>
                </a:solidFill>
                <a:latin typeface="Arial" pitchFamily="34" charset="0"/>
                <a:ea typeface="Arial" pitchFamily="34" charset="-122"/>
                <a:cs typeface="Arial" pitchFamily="34" charset="-120"/>
              </a:rPr>
              <a:t>https://www.duarte.com/blog/tips-for-crafting-a-storytelling-presentation/</a:t>
            </a:r>
            <a:endParaRPr lang="en-US" sz="1500" dirty="0"/>
          </a:p>
          <a:p>
            <a:pPr indent="0" marL="0">
              <a:spcAft>
                <a:spcPts val="600"/>
              </a:spcAft>
              <a:buNone/>
            </a:pPr>
            <a:r>
              <a:rPr lang="en-US" sz="1500" b="1" dirty="0">
                <a:solidFill>
                  <a:srgbClr val="202723"/>
                </a:solidFill>
                <a:latin typeface="Arial" pitchFamily="34" charset="0"/>
                <a:ea typeface="Arial" pitchFamily="34" charset="-122"/>
                <a:cs typeface="Arial" pitchFamily="34" charset="-120"/>
              </a:rPr>
              <a:t>Duarte — How generative AI is changing presentations</a:t>
            </a:r>
            <a:endParaRPr lang="en-US" sz="1500" dirty="0"/>
          </a:p>
          <a:p>
            <a:pPr indent="0" marL="0">
              <a:spcAft>
                <a:spcPts val="600"/>
              </a:spcAft>
              <a:buNone/>
            </a:pPr>
            <a:r>
              <a:rPr lang="en-US" sz="1300" dirty="0">
                <a:solidFill>
                  <a:srgbClr val="68736D"/>
                </a:solidFill>
                <a:latin typeface="Arial" pitchFamily="34" charset="0"/>
                <a:ea typeface="Arial" pitchFamily="34" charset="-122"/>
                <a:cs typeface="Arial" pitchFamily="34" charset="-120"/>
              </a:rPr>
              <a:t>https://www.duarte.com/blog/how-generative-ai-is-changing-presentations/</a:t>
            </a:r>
            <a:endParaRPr lang="en-US" sz="1500" dirty="0"/>
          </a:p>
          <a:p>
            <a:pPr indent="0" marL="0">
              <a:spcAft>
                <a:spcPts val="600"/>
              </a:spcAft>
              <a:buNone/>
            </a:pPr>
            <a:r>
              <a:rPr lang="en-US" sz="1500" b="1" dirty="0">
                <a:solidFill>
                  <a:srgbClr val="202723"/>
                </a:solidFill>
                <a:latin typeface="Arial" pitchFamily="34" charset="0"/>
                <a:ea typeface="Arial" pitchFamily="34" charset="-122"/>
                <a:cs typeface="Arial" pitchFamily="34" charset="-120"/>
              </a:rPr>
              <a:t>Datawrapper — 10 ways to use fewer colors</a:t>
            </a:r>
            <a:endParaRPr lang="en-US" sz="1500" dirty="0"/>
          </a:p>
          <a:p>
            <a:pPr indent="0" marL="0">
              <a:spcAft>
                <a:spcPts val="600"/>
              </a:spcAft>
              <a:buNone/>
            </a:pPr>
            <a:r>
              <a:rPr lang="en-US" sz="1300" dirty="0">
                <a:solidFill>
                  <a:srgbClr val="68736D"/>
                </a:solidFill>
                <a:latin typeface="Arial" pitchFamily="34" charset="0"/>
                <a:ea typeface="Arial" pitchFamily="34" charset="-122"/>
                <a:cs typeface="Arial" pitchFamily="34" charset="-120"/>
              </a:rPr>
              <a:t>https://www.datawrapper.de/blog/10-ways-to-use-fewer-colors-in-your-data-visualizations</a:t>
            </a:r>
            <a:endParaRPr lang="en-US" sz="1500" dirty="0"/>
          </a:p>
        </p:txBody>
      </p:sp>
      <p:sp>
        <p:nvSpPr>
          <p:cNvPr id="4" name="Text 2"/>
          <p:cNvSpPr txBox="1"/>
          <p:nvPr/>
        </p:nvSpPr>
        <p:spPr>
          <a:xfrm>
            <a:off x="548640" y="5989320"/>
            <a:ext cx="8229600" cy="365760"/>
          </a:xfrm>
          <a:prstGeom prst="rect">
            <a:avLst/>
          </a:prstGeom>
          <a:noFill/>
          <a:ln/>
        </p:spPr>
        <p:txBody>
          <a:bodyPr wrap="square" lIns="0" tIns="0" rIns="0" bIns="0" rtlCol="0" anchor="t"/>
          <a:lstStyle/>
          <a:p>
            <a:pPr indent="0" marL="0">
              <a:buNone/>
            </a:pPr>
            <a:r>
              <a:rPr lang="en-US" sz="1200" dirty="0">
                <a:solidFill>
                  <a:srgbClr val="68736D"/>
                </a:solidFill>
                <a:latin typeface="Arial" pitchFamily="34" charset="0"/>
                <a:ea typeface="Arial" pitchFamily="34" charset="-122"/>
                <a:cs typeface="Arial" pitchFamily="34" charset="-120"/>
              </a:rPr>
              <a:t>These sources informed the communication approach. The palette, typography and field-research style are project choices.</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8736D"/>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Habitat Watch Field">
  <a:themeElements>
    <a:clrScheme name="Habitat Watch Field">
      <a:dk1>
        <a:srgbClr val="202723"/>
      </a:dk1>
      <a:lt1>
        <a:srgbClr val="FFFFFF"/>
      </a:lt1>
      <a:dk2>
        <a:srgbClr val="294D3C"/>
      </a:dk2>
      <a:lt2>
        <a:srgbClr val="E8ECE9"/>
      </a:lt2>
      <a:accent1>
        <a:srgbClr val="294D3C"/>
      </a:accent1>
      <a:accent2>
        <a:srgbClr val="B68638"/>
      </a:accent2>
      <a:accent3>
        <a:srgbClr val="68736D"/>
      </a:accent3>
      <a:accent4>
        <a:srgbClr val="7D9A88"/>
      </a:accent4>
      <a:accent5>
        <a:srgbClr val="A9BDB0"/>
      </a:accent5>
      <a:accent6>
        <a:srgbClr val="D9C49A"/>
      </a:accent6>
      <a:hlink>
        <a:srgbClr val="294D3C"/>
      </a:hlink>
      <a:folHlink>
        <a:srgbClr val="68736D"/>
      </a:folHlink>
    </a:clrScheme>
    <a:fontScheme name="Habitat Watch Fiel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Habitat Watch</dc:title>
  <dc:subject>PptxGenJS Presentation</dc:subject>
  <dc:creator>Habitat Watch</dc:creator>
  <cp:lastModifiedBy>Habitat Watch</cp:lastModifiedBy>
  <cp:revision>1</cp:revision>
  <dcterms:created xsi:type="dcterms:W3CDTF">2026-10-04T02:39:32Z</dcterms:created>
  <dcterms:modified xsi:type="dcterms:W3CDTF">2026-10-04T02:39:32Z</dcterms:modified>
</cp:coreProperties>
</file>